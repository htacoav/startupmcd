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72"/>
    <p:restoredTop sz="94610"/>
  </p:normalViewPr>
  <p:slideViewPr>
    <p:cSldViewPr snapToGrid="0" snapToObjects="1">
      <p:cViewPr varScale="1">
        <p:scale>
          <a:sx n="156" d="100"/>
          <a:sy n="156" d="100"/>
        </p:scale>
        <p:origin x="216"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478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no es solo un modelo: es una aplicacion en produccion con dos flujos automatizados que la mantienen.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9692640" y="-1371600"/>
            <a:ext cx="4206240" cy="4206240"/>
          </a:xfrm>
          <a:prstGeom prst="ellipse">
            <a:avLst/>
          </a:prstGeom>
          <a:solidFill>
            <a:srgbClr val="B85042"/>
          </a:solidFill>
          <a:ln w="12700">
            <a:solidFill>
              <a:srgbClr val="B85042"/>
            </a:solidFill>
            <a:prstDash val="solid"/>
          </a:ln>
        </p:spPr>
      </p:sp>
      <p:sp>
        <p:nvSpPr>
          <p:cNvPr id="3" name="Shape 1"/>
          <p:cNvSpPr/>
          <p:nvPr/>
        </p:nvSpPr>
        <p:spPr>
          <a:xfrm>
            <a:off x="10881360" y="4846320"/>
            <a:ext cx="2377440" cy="2377440"/>
          </a:xfrm>
          <a:prstGeom prst="ellipse">
            <a:avLst/>
          </a:prstGeom>
          <a:solidFill>
            <a:srgbClr val="5F7F6E"/>
          </a:solidFill>
          <a:ln w="12700">
            <a:solidFill>
              <a:srgbClr val="5F7F6E"/>
            </a:solidFill>
            <a:prstDash val="solid"/>
          </a:ln>
        </p:spPr>
      </p:sp>
      <p:sp>
        <p:nvSpPr>
          <p:cNvPr id="4" name="Text 2"/>
          <p:cNvSpPr txBox="1"/>
          <p:nvPr/>
        </p:nvSpPr>
        <p:spPr>
          <a:xfrm>
            <a:off x="640080" y="1280160"/>
            <a:ext cx="8686800" cy="365760"/>
          </a:xfrm>
          <a:prstGeom prst="rect">
            <a:avLst/>
          </a:prstGeom>
          <a:noFill/>
          <a:ln/>
        </p:spPr>
        <p:txBody>
          <a:bodyPr wrap="square" lIns="0" tIns="0" rIns="0" bIns="0" rtlCol="0" anchor="ctr"/>
          <a:lstStyle/>
          <a:p>
            <a:pPr marL="0" indent="0">
              <a:buNone/>
            </a:pPr>
            <a:r>
              <a:rPr lang="en-US" sz="1400" kern="0" spc="200" dirty="0">
                <a:solidFill>
                  <a:srgbClr val="E7E8D1"/>
                </a:solidFill>
                <a:latin typeface="Calibri" pitchFamily="34" charset="0"/>
                <a:ea typeface="Calibri" pitchFamily="34" charset="-122"/>
                <a:cs typeface="Calibri" pitchFamily="34" charset="-120"/>
              </a:rPr>
              <a:t>Exposición del producto final  ·  Unidades I y II</a:t>
            </a:r>
            <a:endParaRPr lang="en-US" sz="1400" dirty="0"/>
          </a:p>
        </p:txBody>
      </p:sp>
      <p:sp>
        <p:nvSpPr>
          <p:cNvPr id="5" name="Text 3"/>
          <p:cNvSpPr txBox="1"/>
          <p:nvPr/>
        </p:nvSpPr>
        <p:spPr>
          <a:xfrm>
            <a:off x="640080" y="1737360"/>
            <a:ext cx="8595360" cy="1371600"/>
          </a:xfrm>
          <a:prstGeom prst="rect">
            <a:avLst/>
          </a:prstGeom>
          <a:noFill/>
          <a:ln/>
        </p:spPr>
        <p:txBody>
          <a:bodyPr wrap="square" lIns="0" tIns="0" rIns="0" bIns="0" rtlCol="0" anchor="ctr"/>
          <a:lstStyle/>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Predicción de la Supervivencia de Emprendimientos</a:t>
            </a:r>
            <a:endParaRPr lang="en-US" sz="3800" dirty="0"/>
          </a:p>
        </p:txBody>
      </p:sp>
      <p:sp>
        <p:nvSpPr>
          <p:cNvPr id="6" name="Text 4"/>
          <p:cNvSpPr txBox="1"/>
          <p:nvPr/>
        </p:nvSpPr>
        <p:spPr>
          <a:xfrm>
            <a:off x="640080" y="3291840"/>
            <a:ext cx="8595360" cy="457200"/>
          </a:xfrm>
          <a:prstGeom prst="rect">
            <a:avLst/>
          </a:prstGeom>
          <a:noFill/>
          <a:ln/>
        </p:spPr>
        <p:txBody>
          <a:bodyPr wrap="square" lIns="0" tIns="0" rIns="0" bIns="0" rtlCol="0" anchor="ctr"/>
          <a:lstStyle/>
          <a:p>
            <a:pPr marL="0" indent="0">
              <a:buNone/>
            </a:pPr>
            <a:r>
              <a:rPr lang="en-US" sz="1600" i="1" dirty="0">
                <a:solidFill>
                  <a:srgbClr val="E7E8D1"/>
                </a:solidFill>
                <a:latin typeface="Calibri" pitchFamily="34" charset="0"/>
                <a:ea typeface="Calibri" pitchFamily="34" charset="-122"/>
                <a:cs typeface="Calibri" pitchFamily="34" charset="-120"/>
              </a:rPr>
              <a:t>Una aplicación en producción que se mantiene sola</a:t>
            </a:r>
            <a:endParaRPr lang="en-US" sz="1600" dirty="0"/>
          </a:p>
        </p:txBody>
      </p:sp>
      <p:sp>
        <p:nvSpPr>
          <p:cNvPr id="7" name="Text 5"/>
          <p:cNvSpPr txBox="1"/>
          <p:nvPr/>
        </p:nvSpPr>
        <p:spPr>
          <a:xfrm>
            <a:off x="640080" y="3977640"/>
            <a:ext cx="8595360" cy="411480"/>
          </a:xfrm>
          <a:prstGeom prst="rect">
            <a:avLst/>
          </a:prstGeom>
          <a:noFill/>
          <a:ln/>
        </p:spPr>
        <p:txBody>
          <a:bodyPr wrap="square" lIns="0" tIns="0" rIns="0" bIns="0" rtlCol="0" anchor="ctr"/>
          <a:lstStyle/>
          <a:p>
            <a:pPr marL="0" indent="0">
              <a:buNone/>
            </a:pPr>
            <a:r>
              <a:rPr lang="en-US" sz="1600" b="1" dirty="0">
                <a:solidFill>
                  <a:srgbClr val="5F7F6E"/>
                </a:solidFill>
                <a:latin typeface="Courier New" pitchFamily="34" charset="0"/>
                <a:ea typeface="Courier New" pitchFamily="34" charset="-122"/>
                <a:cs typeface="Courier New" pitchFamily="34" charset="-120"/>
              </a:rPr>
              <a:t>startupml.kamai.life</a:t>
            </a:r>
            <a:endParaRPr lang="en-US" sz="1600" dirty="0"/>
          </a:p>
        </p:txBody>
      </p:sp>
      <p:sp>
        <p:nvSpPr>
          <p:cNvPr id="8" name="Text 6"/>
          <p:cNvSpPr txBox="1"/>
          <p:nvPr/>
        </p:nvSpPr>
        <p:spPr>
          <a:xfrm>
            <a:off x="640080" y="5029200"/>
            <a:ext cx="8229600" cy="1280160"/>
          </a:xfrm>
          <a:prstGeom prst="rect">
            <a:avLst/>
          </a:prstGeom>
          <a:noFill/>
          <a:ln/>
        </p:spPr>
        <p:txBody>
          <a:bodyPr wrap="square" lIns="0" tIns="0" rIns="0" bIns="0" rtlCol="0" anchor="ctr"/>
          <a:lstStyle/>
          <a:p>
            <a:pPr marL="0" indent="0">
              <a:lnSpc>
                <a:spcPts val="1700"/>
              </a:lnSpc>
              <a:buNone/>
            </a:pPr>
            <a:r>
              <a:rPr lang="en-US" sz="1250" dirty="0">
                <a:solidFill>
                  <a:srgbClr val="E7E8D1"/>
                </a:solidFill>
                <a:latin typeface="Calibri" pitchFamily="34" charset="0"/>
                <a:ea typeface="Calibri" pitchFamily="34" charset="-122"/>
                <a:cs typeface="Calibri" pitchFamily="34" charset="-120"/>
              </a:rPr>
              <a:t>Taco Avilés, Milton Hiroshi</a:t>
            </a:r>
            <a:endParaRPr lang="en-US" sz="1250" dirty="0"/>
          </a:p>
          <a:p>
            <a:pPr marL="0" indent="0">
              <a:lnSpc>
                <a:spcPts val="1700"/>
              </a:lnSpc>
              <a:buNone/>
            </a:pPr>
            <a:r>
              <a:rPr lang="en-US" sz="1250" dirty="0">
                <a:solidFill>
                  <a:srgbClr val="E7E8D1"/>
                </a:solidFill>
                <a:latin typeface="Calibri" pitchFamily="34" charset="0"/>
                <a:ea typeface="Calibri" pitchFamily="34" charset="-122"/>
                <a:cs typeface="Calibri" pitchFamily="34" charset="-120"/>
              </a:rPr>
              <a:t>Maestría en Ciencia de Datos  ·  Machine Learning</a:t>
            </a:r>
            <a:endParaRPr lang="en-US" sz="1250" dirty="0"/>
          </a:p>
          <a:p>
            <a:pPr marL="0" indent="0">
              <a:lnSpc>
                <a:spcPts val="1700"/>
              </a:lnSpc>
              <a:buNone/>
            </a:pPr>
            <a:r>
              <a:rPr lang="en-US" sz="1250" dirty="0">
                <a:solidFill>
                  <a:srgbClr val="E7E8D1"/>
                </a:solidFill>
                <a:latin typeface="Calibri" pitchFamily="34" charset="0"/>
                <a:ea typeface="Calibri" pitchFamily="34" charset="-122"/>
                <a:cs typeface="Calibri" pitchFamily="34" charset="-120"/>
              </a:rPr>
              <a:t>Docente: Ing. Mayenka Fernández</a:t>
            </a:r>
            <a:endParaRPr lang="en-US" sz="1250" dirty="0"/>
          </a:p>
          <a:p>
            <a:pPr marL="0" indent="0">
              <a:lnSpc>
                <a:spcPts val="1700"/>
              </a:lnSpc>
              <a:buNone/>
            </a:pPr>
            <a:r>
              <a:rPr lang="en-US" sz="1250" dirty="0">
                <a:solidFill>
                  <a:srgbClr val="E7E8D1"/>
                </a:solidFill>
                <a:latin typeface="Calibri" pitchFamily="34" charset="0"/>
                <a:ea typeface="Calibri" pitchFamily="34" charset="-122"/>
                <a:cs typeface="Calibri" pitchFamily="34" charset="-120"/>
              </a:rPr>
              <a:t>Universidad Nacional del Altiplano  ·  Puno,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Qué se va a demostrar</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Y dónde se ve cada cosa, en vivo</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08792" cy="3703320"/>
        </p:xfrm>
        <a:graphic>
          <a:graphicData uri="http://schemas.openxmlformats.org/drawingml/2006/table">
            <a:tbl>
              <a:tblPr/>
              <a:tblGrid>
                <a:gridCol w="3840480">
                  <a:extLst>
                    <a:ext uri="{9D8B030D-6E8A-4147-A177-3AD203B41FA5}">
                      <a16:colId xmlns:a16="http://schemas.microsoft.com/office/drawing/2014/main" val="20000"/>
                    </a:ext>
                  </a:extLst>
                </a:gridCol>
                <a:gridCol w="4690872">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41148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Criterio de evaluación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Dónde se demuestra</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Lámina</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Funcionamiento de la aplicación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startupml.kamai.life, en vivo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3 a 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Pipeline de integración continua</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GitHub Actions, en vivo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11 y 12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Pipeline de mantenimiento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GitHub Actions y MLflow, en vivo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13 a 17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Tres casos de prueba</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Ejecución real de cada uno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18 a 21</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Herramientas y plataformas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Informe, apartado 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Organización del código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Repositorio, en vivo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23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6"/>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Despliegue inicial</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Informe, apartado 11</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Manual técnico para TI</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Informe, apartado 12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8"/>
                  </a:ext>
                </a:extLst>
              </a:tr>
            </a:tbl>
          </a:graphicData>
        </a:graphic>
      </p:graphicFrame>
      <p:sp>
        <p:nvSpPr>
          <p:cNvPr id="5" name="Text 2"/>
          <p:cNvSpPr txBox="1"/>
          <p:nvPr/>
        </p:nvSpPr>
        <p:spPr>
          <a:xfrm>
            <a:off x="640080" y="6108192"/>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Todo lo que se afirma acá se puede abrir en pantalla durante la exposición.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La aplicación está en producción</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Todo esto se abre en vivo</a:t>
            </a:r>
            <a:endParaRPr lang="en-US" sz="1400" dirty="0"/>
          </a:p>
        </p:txBody>
      </p:sp>
      <p:sp>
        <p:nvSpPr>
          <p:cNvPr id="4" name="Shape 2"/>
          <p:cNvSpPr/>
          <p:nvPr/>
        </p:nvSpPr>
        <p:spPr>
          <a:xfrm>
            <a:off x="640080" y="1691640"/>
            <a:ext cx="5317236" cy="914400"/>
          </a:xfrm>
          <a:prstGeom prst="roundRect">
            <a:avLst>
              <a:gd name="adj" fmla="val 8000"/>
            </a:avLst>
          </a:prstGeom>
          <a:solidFill>
            <a:srgbClr val="E7E8D1"/>
          </a:solidFill>
          <a:ln w="12700">
            <a:solidFill>
              <a:srgbClr val="E7E8D1"/>
            </a:solidFill>
            <a:prstDash val="solid"/>
          </a:ln>
        </p:spPr>
      </p:sp>
      <p:sp>
        <p:nvSpPr>
          <p:cNvPr id="5" name="Text 3"/>
          <p:cNvSpPr txBox="1"/>
          <p:nvPr/>
        </p:nvSpPr>
        <p:spPr>
          <a:xfrm>
            <a:off x="841248" y="1810512"/>
            <a:ext cx="4914900" cy="365760"/>
          </a:xfrm>
          <a:prstGeom prst="rect">
            <a:avLst/>
          </a:prstGeom>
          <a:noFill/>
          <a:ln/>
        </p:spPr>
        <p:txBody>
          <a:bodyPr wrap="square" lIns="0" tIns="0" rIns="0" bIns="0" rtlCol="0" anchor="ctr"/>
          <a:lstStyle/>
          <a:p>
            <a:pPr marL="0" indent="0">
              <a:buNone/>
            </a:pPr>
            <a:r>
              <a:rPr lang="en-US" sz="1400" b="1" dirty="0">
                <a:solidFill>
                  <a:srgbClr val="B85042"/>
                </a:solidFill>
                <a:latin typeface="Courier New" pitchFamily="34" charset="0"/>
                <a:ea typeface="Courier New" pitchFamily="34" charset="-122"/>
                <a:cs typeface="Courier New" pitchFamily="34" charset="-120"/>
              </a:rPr>
              <a:t>startupml.kamai.life</a:t>
            </a:r>
            <a:endParaRPr lang="en-US" sz="1400" dirty="0"/>
          </a:p>
        </p:txBody>
      </p:sp>
      <p:sp>
        <p:nvSpPr>
          <p:cNvPr id="6" name="Text 4"/>
          <p:cNvSpPr txBox="1"/>
          <p:nvPr/>
        </p:nvSpPr>
        <p:spPr>
          <a:xfrm>
            <a:off x="841248" y="2176272"/>
            <a:ext cx="4914900" cy="320040"/>
          </a:xfrm>
          <a:prstGeom prst="rect">
            <a:avLst/>
          </a:prstGeom>
          <a:noFill/>
          <a:ln/>
        </p:spPr>
        <p:txBody>
          <a:bodyPr wrap="square" lIns="0" tIns="0" rIns="0" bIns="0" rtlCol="0" anchor="ctr"/>
          <a:lstStyle/>
          <a:p>
            <a:pPr marL="0" indent="0">
              <a:buNone/>
            </a:pPr>
            <a:r>
              <a:rPr lang="en-US" sz="1200" dirty="0">
                <a:solidFill>
                  <a:srgbClr val="3A3A38"/>
                </a:solidFill>
                <a:latin typeface="Calibri" pitchFamily="34" charset="0"/>
                <a:ea typeface="Calibri" pitchFamily="34" charset="-122"/>
                <a:cs typeface="Calibri" pitchFamily="34" charset="-120"/>
              </a:rPr>
              <a:t>Cuestionario en lenguaje llano, en inglés</a:t>
            </a:r>
            <a:endParaRPr lang="en-US" sz="1200" dirty="0"/>
          </a:p>
        </p:txBody>
      </p:sp>
      <p:sp>
        <p:nvSpPr>
          <p:cNvPr id="7" name="Shape 5"/>
          <p:cNvSpPr/>
          <p:nvPr/>
        </p:nvSpPr>
        <p:spPr>
          <a:xfrm>
            <a:off x="6231636" y="1691640"/>
            <a:ext cx="5317236" cy="914400"/>
          </a:xfrm>
          <a:prstGeom prst="roundRect">
            <a:avLst>
              <a:gd name="adj" fmla="val 8000"/>
            </a:avLst>
          </a:prstGeom>
          <a:solidFill>
            <a:srgbClr val="E7E8D1"/>
          </a:solidFill>
          <a:ln w="12700">
            <a:solidFill>
              <a:srgbClr val="E7E8D1"/>
            </a:solidFill>
            <a:prstDash val="solid"/>
          </a:ln>
        </p:spPr>
      </p:sp>
      <p:sp>
        <p:nvSpPr>
          <p:cNvPr id="8" name="Text 6"/>
          <p:cNvSpPr txBox="1"/>
          <p:nvPr/>
        </p:nvSpPr>
        <p:spPr>
          <a:xfrm>
            <a:off x="6432804" y="1810512"/>
            <a:ext cx="4914900" cy="365760"/>
          </a:xfrm>
          <a:prstGeom prst="rect">
            <a:avLst/>
          </a:prstGeom>
          <a:noFill/>
          <a:ln/>
        </p:spPr>
        <p:txBody>
          <a:bodyPr wrap="square" lIns="0" tIns="0" rIns="0" bIns="0" rtlCol="0" anchor="ctr"/>
          <a:lstStyle/>
          <a:p>
            <a:pPr marL="0" indent="0">
              <a:buNone/>
            </a:pPr>
            <a:r>
              <a:rPr lang="en-US" sz="1400" b="1" dirty="0">
                <a:solidFill>
                  <a:srgbClr val="B85042"/>
                </a:solidFill>
                <a:latin typeface="Courier New" pitchFamily="34" charset="0"/>
                <a:ea typeface="Courier New" pitchFamily="34" charset="-122"/>
                <a:cs typeface="Courier New" pitchFamily="34" charset="-120"/>
              </a:rPr>
              <a:t>startupml.kamai.life/es</a:t>
            </a:r>
            <a:endParaRPr lang="en-US" sz="1400" dirty="0"/>
          </a:p>
        </p:txBody>
      </p:sp>
      <p:sp>
        <p:nvSpPr>
          <p:cNvPr id="9" name="Text 7"/>
          <p:cNvSpPr txBox="1"/>
          <p:nvPr/>
        </p:nvSpPr>
        <p:spPr>
          <a:xfrm>
            <a:off x="6432804" y="2176272"/>
            <a:ext cx="4914900" cy="320040"/>
          </a:xfrm>
          <a:prstGeom prst="rect">
            <a:avLst/>
          </a:prstGeom>
          <a:noFill/>
          <a:ln/>
        </p:spPr>
        <p:txBody>
          <a:bodyPr wrap="square" lIns="0" tIns="0" rIns="0" bIns="0" rtlCol="0" anchor="ctr"/>
          <a:lstStyle/>
          <a:p>
            <a:pPr marL="0" indent="0">
              <a:buNone/>
            </a:pPr>
            <a:r>
              <a:rPr lang="en-US" sz="1200" dirty="0">
                <a:solidFill>
                  <a:srgbClr val="3A3A38"/>
                </a:solidFill>
                <a:latin typeface="Calibri" pitchFamily="34" charset="0"/>
                <a:ea typeface="Calibri" pitchFamily="34" charset="-122"/>
                <a:cs typeface="Calibri" pitchFamily="34" charset="-120"/>
              </a:rPr>
              <a:t>El mismo cuestionario en español</a:t>
            </a:r>
            <a:endParaRPr lang="en-US" sz="1200" dirty="0"/>
          </a:p>
        </p:txBody>
      </p:sp>
      <p:sp>
        <p:nvSpPr>
          <p:cNvPr id="10" name="Shape 8"/>
          <p:cNvSpPr/>
          <p:nvPr/>
        </p:nvSpPr>
        <p:spPr>
          <a:xfrm>
            <a:off x="640080" y="2788920"/>
            <a:ext cx="5317236" cy="914400"/>
          </a:xfrm>
          <a:prstGeom prst="roundRect">
            <a:avLst>
              <a:gd name="adj" fmla="val 8000"/>
            </a:avLst>
          </a:prstGeom>
          <a:solidFill>
            <a:srgbClr val="E7E8D1"/>
          </a:solidFill>
          <a:ln w="12700">
            <a:solidFill>
              <a:srgbClr val="E7E8D1"/>
            </a:solidFill>
            <a:prstDash val="solid"/>
          </a:ln>
        </p:spPr>
      </p:sp>
      <p:sp>
        <p:nvSpPr>
          <p:cNvPr id="11" name="Text 9"/>
          <p:cNvSpPr txBox="1"/>
          <p:nvPr/>
        </p:nvSpPr>
        <p:spPr>
          <a:xfrm>
            <a:off x="841248" y="2907792"/>
            <a:ext cx="4914900" cy="365760"/>
          </a:xfrm>
          <a:prstGeom prst="rect">
            <a:avLst/>
          </a:prstGeom>
          <a:noFill/>
          <a:ln/>
        </p:spPr>
        <p:txBody>
          <a:bodyPr wrap="square" lIns="0" tIns="0" rIns="0" bIns="0" rtlCol="0" anchor="ctr"/>
          <a:lstStyle/>
          <a:p>
            <a:pPr marL="0" indent="0">
              <a:buNone/>
            </a:pPr>
            <a:r>
              <a:rPr lang="en-US" sz="1400" b="1" dirty="0">
                <a:solidFill>
                  <a:srgbClr val="B85042"/>
                </a:solidFill>
                <a:latin typeface="Courier New" pitchFamily="34" charset="0"/>
                <a:ea typeface="Courier New" pitchFamily="34" charset="-122"/>
                <a:cs typeface="Courier New" pitchFamily="34" charset="-120"/>
              </a:rPr>
              <a:t>startupml.kamai.life/expert</a:t>
            </a:r>
            <a:endParaRPr lang="en-US" sz="1400" dirty="0"/>
          </a:p>
        </p:txBody>
      </p:sp>
      <p:sp>
        <p:nvSpPr>
          <p:cNvPr id="12" name="Text 10"/>
          <p:cNvSpPr txBox="1"/>
          <p:nvPr/>
        </p:nvSpPr>
        <p:spPr>
          <a:xfrm>
            <a:off x="841248" y="3273552"/>
            <a:ext cx="4914900" cy="320040"/>
          </a:xfrm>
          <a:prstGeom prst="rect">
            <a:avLst/>
          </a:prstGeom>
          <a:noFill/>
          <a:ln/>
        </p:spPr>
        <p:txBody>
          <a:bodyPr wrap="square" lIns="0" tIns="0" rIns="0" bIns="0" rtlCol="0" anchor="ctr"/>
          <a:lstStyle/>
          <a:p>
            <a:pPr marL="0" indent="0">
              <a:buNone/>
            </a:pPr>
            <a:r>
              <a:rPr lang="en-US" sz="1200" dirty="0">
                <a:solidFill>
                  <a:srgbClr val="3A3A38"/>
                </a:solidFill>
                <a:latin typeface="Calibri" pitchFamily="34" charset="0"/>
                <a:ea typeface="Calibri" pitchFamily="34" charset="-122"/>
                <a:cs typeface="Calibri" pitchFamily="34" charset="-120"/>
              </a:rPr>
              <a:t>Vista técnica con las 18 variables</a:t>
            </a:r>
            <a:endParaRPr lang="en-US" sz="1200" dirty="0"/>
          </a:p>
        </p:txBody>
      </p:sp>
      <p:sp>
        <p:nvSpPr>
          <p:cNvPr id="13" name="Shape 11"/>
          <p:cNvSpPr/>
          <p:nvPr/>
        </p:nvSpPr>
        <p:spPr>
          <a:xfrm>
            <a:off x="6231636" y="2788920"/>
            <a:ext cx="5317236" cy="914400"/>
          </a:xfrm>
          <a:prstGeom prst="roundRect">
            <a:avLst>
              <a:gd name="adj" fmla="val 8000"/>
            </a:avLst>
          </a:prstGeom>
          <a:solidFill>
            <a:srgbClr val="E7E8D1"/>
          </a:solidFill>
          <a:ln w="12700">
            <a:solidFill>
              <a:srgbClr val="E7E8D1"/>
            </a:solidFill>
            <a:prstDash val="solid"/>
          </a:ln>
        </p:spPr>
      </p:sp>
      <p:sp>
        <p:nvSpPr>
          <p:cNvPr id="14" name="Text 12"/>
          <p:cNvSpPr txBox="1"/>
          <p:nvPr/>
        </p:nvSpPr>
        <p:spPr>
          <a:xfrm>
            <a:off x="6432804" y="2907792"/>
            <a:ext cx="4914900" cy="365760"/>
          </a:xfrm>
          <a:prstGeom prst="rect">
            <a:avLst/>
          </a:prstGeom>
          <a:noFill/>
          <a:ln/>
        </p:spPr>
        <p:txBody>
          <a:bodyPr wrap="square" lIns="0" tIns="0" rIns="0" bIns="0" rtlCol="0" anchor="ctr"/>
          <a:lstStyle/>
          <a:p>
            <a:pPr marL="0" indent="0">
              <a:buNone/>
            </a:pPr>
            <a:r>
              <a:rPr lang="en-US" sz="1400" b="1" dirty="0">
                <a:solidFill>
                  <a:srgbClr val="B85042"/>
                </a:solidFill>
                <a:latin typeface="Courier New" pitchFamily="34" charset="0"/>
                <a:ea typeface="Courier New" pitchFamily="34" charset="-122"/>
                <a:cs typeface="Courier New" pitchFamily="34" charset="-120"/>
              </a:rPr>
              <a:t>startupml.kamai.life/admin</a:t>
            </a:r>
            <a:endParaRPr lang="en-US" sz="1400" dirty="0"/>
          </a:p>
        </p:txBody>
      </p:sp>
      <p:sp>
        <p:nvSpPr>
          <p:cNvPr id="15" name="Text 13"/>
          <p:cNvSpPr txBox="1"/>
          <p:nvPr/>
        </p:nvSpPr>
        <p:spPr>
          <a:xfrm>
            <a:off x="6432804" y="3273552"/>
            <a:ext cx="4914900" cy="320040"/>
          </a:xfrm>
          <a:prstGeom prst="rect">
            <a:avLst/>
          </a:prstGeom>
          <a:noFill/>
          <a:ln/>
        </p:spPr>
        <p:txBody>
          <a:bodyPr wrap="square" lIns="0" tIns="0" rIns="0" bIns="0" rtlCol="0" anchor="ctr"/>
          <a:lstStyle/>
          <a:p>
            <a:pPr marL="0" indent="0">
              <a:buNone/>
            </a:pPr>
            <a:r>
              <a:rPr lang="en-US" sz="1200" dirty="0">
                <a:solidFill>
                  <a:srgbClr val="3A3A38"/>
                </a:solidFill>
                <a:latin typeface="Calibri" pitchFamily="34" charset="0"/>
                <a:ea typeface="Calibri" pitchFamily="34" charset="-122"/>
                <a:cs typeface="Calibri" pitchFamily="34" charset="-120"/>
              </a:rPr>
              <a:t>Seguimiento: se registra el desenlace</a:t>
            </a:r>
            <a:endParaRPr lang="en-US" sz="1200" dirty="0"/>
          </a:p>
        </p:txBody>
      </p:sp>
      <p:sp>
        <p:nvSpPr>
          <p:cNvPr id="16" name="Shape 14"/>
          <p:cNvSpPr/>
          <p:nvPr/>
        </p:nvSpPr>
        <p:spPr>
          <a:xfrm>
            <a:off x="640080" y="3886200"/>
            <a:ext cx="5317236" cy="914400"/>
          </a:xfrm>
          <a:prstGeom prst="roundRect">
            <a:avLst>
              <a:gd name="adj" fmla="val 8000"/>
            </a:avLst>
          </a:prstGeom>
          <a:solidFill>
            <a:srgbClr val="E7E8D1"/>
          </a:solidFill>
          <a:ln w="12700">
            <a:solidFill>
              <a:srgbClr val="E7E8D1"/>
            </a:solidFill>
            <a:prstDash val="solid"/>
          </a:ln>
        </p:spPr>
      </p:sp>
      <p:sp>
        <p:nvSpPr>
          <p:cNvPr id="17" name="Text 15"/>
          <p:cNvSpPr txBox="1"/>
          <p:nvPr/>
        </p:nvSpPr>
        <p:spPr>
          <a:xfrm>
            <a:off x="841248" y="4005072"/>
            <a:ext cx="4914900" cy="365760"/>
          </a:xfrm>
          <a:prstGeom prst="rect">
            <a:avLst/>
          </a:prstGeom>
          <a:noFill/>
          <a:ln/>
        </p:spPr>
        <p:txBody>
          <a:bodyPr wrap="square" lIns="0" tIns="0" rIns="0" bIns="0" rtlCol="0" anchor="ctr"/>
          <a:lstStyle/>
          <a:p>
            <a:pPr marL="0" indent="0">
              <a:buNone/>
            </a:pPr>
            <a:r>
              <a:rPr lang="en-US" sz="1400" b="1" dirty="0">
                <a:solidFill>
                  <a:srgbClr val="B85042"/>
                </a:solidFill>
                <a:latin typeface="Courier New" pitchFamily="34" charset="0"/>
                <a:ea typeface="Courier New" pitchFamily="34" charset="-122"/>
                <a:cs typeface="Courier New" pitchFamily="34" charset="-120"/>
              </a:rPr>
              <a:t>startupml.kamai.life/docs</a:t>
            </a:r>
            <a:endParaRPr lang="en-US" sz="1400" dirty="0"/>
          </a:p>
        </p:txBody>
      </p:sp>
      <p:sp>
        <p:nvSpPr>
          <p:cNvPr id="18" name="Text 16"/>
          <p:cNvSpPr txBox="1"/>
          <p:nvPr/>
        </p:nvSpPr>
        <p:spPr>
          <a:xfrm>
            <a:off x="841248" y="4370832"/>
            <a:ext cx="4914900" cy="320040"/>
          </a:xfrm>
          <a:prstGeom prst="rect">
            <a:avLst/>
          </a:prstGeom>
          <a:noFill/>
          <a:ln/>
        </p:spPr>
        <p:txBody>
          <a:bodyPr wrap="square" lIns="0" tIns="0" rIns="0" bIns="0" rtlCol="0" anchor="ctr"/>
          <a:lstStyle/>
          <a:p>
            <a:pPr marL="0" indent="0">
              <a:buNone/>
            </a:pPr>
            <a:r>
              <a:rPr lang="en-US" sz="1200" dirty="0">
                <a:solidFill>
                  <a:srgbClr val="3A3A38"/>
                </a:solidFill>
                <a:latin typeface="Calibri" pitchFamily="34" charset="0"/>
                <a:ea typeface="Calibri" pitchFamily="34" charset="-122"/>
                <a:cs typeface="Calibri" pitchFamily="34" charset="-120"/>
              </a:rPr>
              <a:t>Documentación interactiva de la API</a:t>
            </a:r>
            <a:endParaRPr lang="en-US" sz="1200" dirty="0"/>
          </a:p>
        </p:txBody>
      </p:sp>
      <p:sp>
        <p:nvSpPr>
          <p:cNvPr id="19" name="Shape 17"/>
          <p:cNvSpPr/>
          <p:nvPr/>
        </p:nvSpPr>
        <p:spPr>
          <a:xfrm>
            <a:off x="6231636" y="3886200"/>
            <a:ext cx="5317236" cy="914400"/>
          </a:xfrm>
          <a:prstGeom prst="roundRect">
            <a:avLst>
              <a:gd name="adj" fmla="val 8000"/>
            </a:avLst>
          </a:prstGeom>
          <a:solidFill>
            <a:srgbClr val="E7E8D1"/>
          </a:solidFill>
          <a:ln w="12700">
            <a:solidFill>
              <a:srgbClr val="E7E8D1"/>
            </a:solidFill>
            <a:prstDash val="solid"/>
          </a:ln>
        </p:spPr>
      </p:sp>
      <p:sp>
        <p:nvSpPr>
          <p:cNvPr id="20" name="Text 18"/>
          <p:cNvSpPr txBox="1"/>
          <p:nvPr/>
        </p:nvSpPr>
        <p:spPr>
          <a:xfrm>
            <a:off x="6432804" y="4005072"/>
            <a:ext cx="4914900" cy="365760"/>
          </a:xfrm>
          <a:prstGeom prst="rect">
            <a:avLst/>
          </a:prstGeom>
          <a:noFill/>
          <a:ln/>
        </p:spPr>
        <p:txBody>
          <a:bodyPr wrap="square" lIns="0" tIns="0" rIns="0" bIns="0" rtlCol="0" anchor="ctr"/>
          <a:lstStyle/>
          <a:p>
            <a:pPr marL="0" indent="0">
              <a:buNone/>
            </a:pPr>
            <a:r>
              <a:rPr lang="en-US" sz="1400" b="1" dirty="0">
                <a:solidFill>
                  <a:srgbClr val="B85042"/>
                </a:solidFill>
                <a:latin typeface="Courier New" pitchFamily="34" charset="0"/>
                <a:ea typeface="Courier New" pitchFamily="34" charset="-122"/>
                <a:cs typeface="Courier New" pitchFamily="34" charset="-120"/>
              </a:rPr>
              <a:t>startupml.kamai.life/health</a:t>
            </a:r>
            <a:endParaRPr lang="en-US" sz="1400" dirty="0"/>
          </a:p>
        </p:txBody>
      </p:sp>
      <p:sp>
        <p:nvSpPr>
          <p:cNvPr id="21" name="Text 19"/>
          <p:cNvSpPr txBox="1"/>
          <p:nvPr/>
        </p:nvSpPr>
        <p:spPr>
          <a:xfrm>
            <a:off x="6432804" y="4370832"/>
            <a:ext cx="4914900" cy="320040"/>
          </a:xfrm>
          <a:prstGeom prst="rect">
            <a:avLst/>
          </a:prstGeom>
          <a:noFill/>
          <a:ln/>
        </p:spPr>
        <p:txBody>
          <a:bodyPr wrap="square" lIns="0" tIns="0" rIns="0" bIns="0" rtlCol="0" anchor="ctr"/>
          <a:lstStyle/>
          <a:p>
            <a:pPr marL="0" indent="0">
              <a:buNone/>
            </a:pPr>
            <a:r>
              <a:rPr lang="en-US" sz="1200" dirty="0">
                <a:solidFill>
                  <a:srgbClr val="3A3A38"/>
                </a:solidFill>
                <a:latin typeface="Calibri" pitchFamily="34" charset="0"/>
                <a:ea typeface="Calibri" pitchFamily="34" charset="-122"/>
                <a:cs typeface="Calibri" pitchFamily="34" charset="-120"/>
              </a:rPr>
              <a:t>Estado del servicio y del modelo</a:t>
            </a:r>
            <a:endParaRPr lang="en-US" sz="1200" dirty="0"/>
          </a:p>
        </p:txBody>
      </p:sp>
      <p:sp>
        <p:nvSpPr>
          <p:cNvPr id="22" name="Text 20"/>
          <p:cNvSpPr txBox="1"/>
          <p:nvPr/>
        </p:nvSpPr>
        <p:spPr>
          <a:xfrm>
            <a:off x="640080" y="5074920"/>
            <a:ext cx="2727198" cy="822960"/>
          </a:xfrm>
          <a:prstGeom prst="rect">
            <a:avLst/>
          </a:prstGeom>
          <a:noFill/>
          <a:ln/>
        </p:spPr>
        <p:txBody>
          <a:bodyPr wrap="square" lIns="0" tIns="0" rIns="0" bIns="0" rtlCol="0" anchor="ctr"/>
          <a:lstStyle/>
          <a:p>
            <a:pPr marL="0" indent="0" algn="ctr">
              <a:buNone/>
            </a:pPr>
            <a:r>
              <a:rPr lang="en-US" sz="4400" b="1" dirty="0">
                <a:solidFill>
                  <a:srgbClr val="5F7F6E"/>
                </a:solidFill>
                <a:latin typeface="Cambria" pitchFamily="34" charset="0"/>
                <a:ea typeface="Cambria" pitchFamily="34" charset="-122"/>
                <a:cs typeface="Cambria" pitchFamily="34" charset="-120"/>
              </a:rPr>
              <a:t>HTTPS</a:t>
            </a:r>
            <a:endParaRPr lang="en-US" sz="4400" dirty="0"/>
          </a:p>
        </p:txBody>
      </p:sp>
      <p:sp>
        <p:nvSpPr>
          <p:cNvPr id="23" name="Text 21"/>
          <p:cNvSpPr txBox="1"/>
          <p:nvPr/>
        </p:nvSpPr>
        <p:spPr>
          <a:xfrm>
            <a:off x="640080" y="5916168"/>
            <a:ext cx="2727198"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certificado Let's Encrypt</a:t>
            </a:r>
            <a:endParaRPr lang="en-US" sz="1250" dirty="0"/>
          </a:p>
        </p:txBody>
      </p:sp>
      <p:sp>
        <p:nvSpPr>
          <p:cNvPr id="24" name="Text 22"/>
          <p:cNvSpPr txBox="1"/>
          <p:nvPr/>
        </p:nvSpPr>
        <p:spPr>
          <a:xfrm>
            <a:off x="3367278" y="5074920"/>
            <a:ext cx="2727198"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13</a:t>
            </a:r>
            <a:endParaRPr lang="en-US" sz="4400" dirty="0"/>
          </a:p>
        </p:txBody>
      </p:sp>
      <p:sp>
        <p:nvSpPr>
          <p:cNvPr id="25" name="Text 23"/>
          <p:cNvSpPr txBox="1"/>
          <p:nvPr/>
        </p:nvSpPr>
        <p:spPr>
          <a:xfrm>
            <a:off x="3367278" y="5916168"/>
            <a:ext cx="2727198"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rutas documentadas</a:t>
            </a:r>
            <a:endParaRPr lang="en-US" sz="1250" dirty="0"/>
          </a:p>
        </p:txBody>
      </p:sp>
      <p:sp>
        <p:nvSpPr>
          <p:cNvPr id="26" name="Text 24"/>
          <p:cNvSpPr txBox="1"/>
          <p:nvPr/>
        </p:nvSpPr>
        <p:spPr>
          <a:xfrm>
            <a:off x="6094476" y="5074920"/>
            <a:ext cx="2727198" cy="822960"/>
          </a:xfrm>
          <a:prstGeom prst="rect">
            <a:avLst/>
          </a:prstGeom>
          <a:noFill/>
          <a:ln/>
        </p:spPr>
        <p:txBody>
          <a:bodyPr wrap="square" lIns="0" tIns="0" rIns="0" bIns="0" rtlCol="0" anchor="ctr"/>
          <a:lstStyle/>
          <a:p>
            <a:pPr marL="0" indent="0" algn="ctr">
              <a:buNone/>
            </a:pPr>
            <a:r>
              <a:rPr lang="en-US" sz="4400" b="1" dirty="0">
                <a:solidFill>
                  <a:srgbClr val="5F7F6E"/>
                </a:solidFill>
                <a:latin typeface="Cambria" pitchFamily="34" charset="0"/>
                <a:ea typeface="Cambria" pitchFamily="34" charset="-122"/>
                <a:cs typeface="Cambria" pitchFamily="34" charset="-120"/>
              </a:rPr>
              <a:t>122 MB</a:t>
            </a:r>
            <a:endParaRPr lang="en-US" sz="4400" dirty="0"/>
          </a:p>
        </p:txBody>
      </p:sp>
      <p:sp>
        <p:nvSpPr>
          <p:cNvPr id="27" name="Text 25"/>
          <p:cNvSpPr txBox="1"/>
          <p:nvPr/>
        </p:nvSpPr>
        <p:spPr>
          <a:xfrm>
            <a:off x="6094476" y="5916168"/>
            <a:ext cx="2727198"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memoria en operación</a:t>
            </a:r>
            <a:endParaRPr lang="en-US" sz="1250" dirty="0"/>
          </a:p>
        </p:txBody>
      </p:sp>
      <p:sp>
        <p:nvSpPr>
          <p:cNvPr id="28" name="Text 26"/>
          <p:cNvSpPr txBox="1"/>
          <p:nvPr/>
        </p:nvSpPr>
        <p:spPr>
          <a:xfrm>
            <a:off x="8821674" y="5074920"/>
            <a:ext cx="2727198" cy="822960"/>
          </a:xfrm>
          <a:prstGeom prst="rect">
            <a:avLst/>
          </a:prstGeom>
          <a:noFill/>
          <a:ln/>
        </p:spPr>
        <p:txBody>
          <a:bodyPr wrap="square" lIns="0" tIns="0" rIns="0" bIns="0" rtlCol="0" anchor="ctr"/>
          <a:lstStyle/>
          <a:p>
            <a:pPr marL="0" indent="0" algn="ctr">
              <a:buNone/>
            </a:pPr>
            <a:r>
              <a:rPr lang="en-US" sz="4400" b="1" dirty="0">
                <a:solidFill>
                  <a:srgbClr val="5F7F6E"/>
                </a:solidFill>
                <a:latin typeface="Cambria" pitchFamily="34" charset="0"/>
                <a:ea typeface="Cambria" pitchFamily="34" charset="-122"/>
                <a:cs typeface="Cambria" pitchFamily="34" charset="-120"/>
              </a:rPr>
              <a:t>~10 s</a:t>
            </a:r>
            <a:endParaRPr lang="en-US" sz="4400" dirty="0"/>
          </a:p>
        </p:txBody>
      </p:sp>
      <p:sp>
        <p:nvSpPr>
          <p:cNvPr id="29" name="Text 27"/>
          <p:cNvSpPr txBox="1"/>
          <p:nvPr/>
        </p:nvSpPr>
        <p:spPr>
          <a:xfrm>
            <a:off x="8821674" y="5916168"/>
            <a:ext cx="2727198"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hasta estado saludable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El cuestionario</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Un emprendedor no conoce su puntaje de encaje producto-mercado</a:t>
            </a:r>
            <a:endParaRPr lang="en-US" sz="1400" dirty="0"/>
          </a:p>
        </p:txBody>
      </p:sp>
      <p:pic>
        <p:nvPicPr>
          <p:cNvPr id="4" name="Image 0" descr="docs/capturas/es.png"/>
          <p:cNvPicPr>
            <a:picLocks noChangeAspect="1"/>
          </p:cNvPicPr>
          <p:nvPr/>
        </p:nvPicPr>
        <p:blipFill>
          <a:blip r:embed="rId3"/>
          <a:stretch>
            <a:fillRect/>
          </a:stretch>
        </p:blipFill>
        <p:spPr>
          <a:xfrm>
            <a:off x="640080" y="1600200"/>
            <a:ext cx="4572000" cy="3265714"/>
          </a:xfrm>
          <a:prstGeom prst="rect">
            <a:avLst/>
          </a:prstGeom>
        </p:spPr>
      </p:pic>
      <p:sp>
        <p:nvSpPr>
          <p:cNvPr id="5" name="Text 2"/>
          <p:cNvSpPr txBox="1"/>
          <p:nvPr/>
        </p:nvSpPr>
        <p:spPr>
          <a:xfrm>
            <a:off x="5669280" y="1737360"/>
            <a:ext cx="5852160" cy="402336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400" dirty="0">
                <a:solidFill>
                  <a:srgbClr val="3A3A38"/>
                </a:solidFill>
                <a:latin typeface="Calibri" pitchFamily="34" charset="0"/>
                <a:ea typeface="Calibri" pitchFamily="34" charset="-122"/>
                <a:cs typeface="Calibri" pitchFamily="34" charset="-120"/>
              </a:rPr>
              <a:t>Catorce preguntas en lenguaje llano, en dos idiomas.</a:t>
            </a:r>
            <a:endParaRPr lang="en-US" sz="1400" dirty="0"/>
          </a:p>
          <a:p>
            <a:pPr marL="342900" indent="-342900">
              <a:lnSpc>
                <a:spcPts val="2200"/>
              </a:lnSpc>
              <a:spcAft>
                <a:spcPts val="1000"/>
              </a:spcAft>
              <a:buSzPct val="100000"/>
              <a:buChar char="•"/>
            </a:pPr>
            <a:r>
              <a:rPr lang="en-US" sz="1400" dirty="0">
                <a:solidFill>
                  <a:srgbClr val="3A3A38"/>
                </a:solidFill>
                <a:latin typeface="Calibri" pitchFamily="34" charset="0"/>
                <a:ea typeface="Calibri" pitchFamily="34" charset="-122"/>
                <a:cs typeface="Calibri" pitchFamily="34" charset="-120"/>
              </a:rPr>
              <a:t>Cada opción de cuatro alternativas ubica al emprendimiento en un cuartil de la distribución real, y se le asigna el punto medio de ese cuartil.</a:t>
            </a:r>
            <a:endParaRPr lang="en-US" sz="1400" dirty="0"/>
          </a:p>
          <a:p>
            <a:pPr marL="342900" indent="-342900">
              <a:lnSpc>
                <a:spcPts val="2200"/>
              </a:lnSpc>
              <a:spcAft>
                <a:spcPts val="1000"/>
              </a:spcAft>
              <a:buSzPct val="100000"/>
              <a:buChar char="•"/>
            </a:pPr>
            <a:r>
              <a:rPr lang="en-US" sz="1400" dirty="0">
                <a:solidFill>
                  <a:srgbClr val="3A3A38"/>
                </a:solidFill>
                <a:latin typeface="Calibri" pitchFamily="34" charset="0"/>
                <a:ea typeface="Calibri" pitchFamily="34" charset="-122"/>
                <a:cs typeface="Calibri" pitchFamily="34" charset="-120"/>
              </a:rPr>
              <a:t>Los meses de caja no se preguntan: se calculan dividiendo el efectivo entre el gasto mensual.</a:t>
            </a:r>
            <a:endParaRPr lang="en-US" sz="1400" dirty="0"/>
          </a:p>
          <a:p>
            <a:pPr marL="342900" indent="-342900">
              <a:lnSpc>
                <a:spcPts val="2200"/>
              </a:lnSpc>
              <a:spcAft>
                <a:spcPts val="1000"/>
              </a:spcAft>
              <a:buSzPct val="100000"/>
              <a:buChar char="•"/>
            </a:pPr>
            <a:r>
              <a:rPr lang="en-US" sz="1400" dirty="0">
                <a:solidFill>
                  <a:srgbClr val="3A3A38"/>
                </a:solidFill>
                <a:latin typeface="Calibri" pitchFamily="34" charset="0"/>
                <a:ea typeface="Calibri" pitchFamily="34" charset="-122"/>
                <a:cs typeface="Calibri" pitchFamily="34" charset="-120"/>
              </a:rPr>
              <a:t>La traducción es una regla de negocio documentada, no algo que el modelo aprendió.</a:t>
            </a:r>
            <a:endParaRPr lang="en-US" sz="1400" dirty="0"/>
          </a:p>
          <a:p>
            <a:pPr marL="342900" indent="-342900">
              <a:lnSpc>
                <a:spcPts val="2200"/>
              </a:lnSpc>
              <a:spcAft>
                <a:spcPts val="1000"/>
              </a:spcAft>
              <a:buSzPct val="100000"/>
              <a:buChar char="•"/>
            </a:pPr>
            <a:r>
              <a:rPr lang="en-US" sz="1400" dirty="0">
                <a:solidFill>
                  <a:srgbClr val="3A3A38"/>
                </a:solidFill>
                <a:latin typeface="Calibri" pitchFamily="34" charset="0"/>
                <a:ea typeface="Calibri" pitchFamily="34" charset="-122"/>
                <a:cs typeface="Calibri" pitchFamily="34" charset="-120"/>
              </a:rPr>
              <a:t>La respuesta devuelve las 18 variables derivadas, para que el resultado se pueda auditar.</a:t>
            </a:r>
            <a:endParaRPr lang="en-US" sz="1400" dirty="0"/>
          </a:p>
        </p:txBody>
      </p:sp>
      <p:sp>
        <p:nvSpPr>
          <p:cNvPr id="6" name="Text 3"/>
          <p:cNvSpPr txBox="1"/>
          <p:nvPr/>
        </p:nvSpPr>
        <p:spPr>
          <a:xfrm>
            <a:off x="640080" y="6108192"/>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Una prueba automatizada verifica que el cuestionario y la vía numérica den exactamente el mismo resultado.</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El resultado viene explicado</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Valores SHAP, calculados de forma exacta</a:t>
            </a:r>
            <a:endParaRPr lang="en-US" sz="1400" dirty="0"/>
          </a:p>
        </p:txBody>
      </p:sp>
      <p:sp>
        <p:nvSpPr>
          <p:cNvPr id="4" name="Text 2"/>
          <p:cNvSpPr txBox="1"/>
          <p:nvPr/>
        </p:nvSpPr>
        <p:spPr>
          <a:xfrm>
            <a:off x="640080" y="1691640"/>
            <a:ext cx="3636264"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4.7 %</a:t>
            </a:r>
            <a:endParaRPr lang="en-US" sz="4400" dirty="0"/>
          </a:p>
        </p:txBody>
      </p:sp>
      <p:sp>
        <p:nvSpPr>
          <p:cNvPr id="5" name="Text 3"/>
          <p:cNvSpPr txBox="1"/>
          <p:nvPr/>
        </p:nvSpPr>
        <p:spPr>
          <a:xfrm>
            <a:off x="640080" y="253288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probabilidad de sobrevivir</a:t>
            </a:r>
            <a:endParaRPr lang="en-US" sz="1250" dirty="0"/>
          </a:p>
        </p:txBody>
      </p:sp>
      <p:sp>
        <p:nvSpPr>
          <p:cNvPr id="6" name="Text 4"/>
          <p:cNvSpPr txBox="1"/>
          <p:nvPr/>
        </p:nvSpPr>
        <p:spPr>
          <a:xfrm>
            <a:off x="4276344" y="1691640"/>
            <a:ext cx="3636264"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ALTO</a:t>
            </a:r>
            <a:endParaRPr lang="en-US" sz="4400" dirty="0"/>
          </a:p>
        </p:txBody>
      </p:sp>
      <p:sp>
        <p:nvSpPr>
          <p:cNvPr id="7" name="Text 5"/>
          <p:cNvSpPr txBox="1"/>
          <p:nvPr/>
        </p:nvSpPr>
        <p:spPr>
          <a:xfrm>
            <a:off x="4276344" y="253288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nivel de riesgo</a:t>
            </a:r>
            <a:endParaRPr lang="en-US" sz="1250" dirty="0"/>
          </a:p>
        </p:txBody>
      </p:sp>
      <p:sp>
        <p:nvSpPr>
          <p:cNvPr id="8" name="Text 6"/>
          <p:cNvSpPr txBox="1"/>
          <p:nvPr/>
        </p:nvSpPr>
        <p:spPr>
          <a:xfrm>
            <a:off x="7912608" y="1691640"/>
            <a:ext cx="3636264"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3 meses</a:t>
            </a:r>
            <a:endParaRPr lang="en-US" sz="4400" dirty="0"/>
          </a:p>
        </p:txBody>
      </p:sp>
      <p:sp>
        <p:nvSpPr>
          <p:cNvPr id="9" name="Text 7"/>
          <p:cNvSpPr txBox="1"/>
          <p:nvPr/>
        </p:nvSpPr>
        <p:spPr>
          <a:xfrm>
            <a:off x="7912608" y="253288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de caja, calculados</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3429000"/>
          <a:ext cx="10908792" cy="1975104"/>
        </p:xfrm>
        <a:graphic>
          <a:graphicData uri="http://schemas.openxmlformats.org/drawingml/2006/table">
            <a:tbl>
              <a:tblPr/>
              <a:tblGrid>
                <a:gridCol w="6400800">
                  <a:extLst>
                    <a:ext uri="{9D8B030D-6E8A-4147-A177-3AD203B41FA5}">
                      <a16:colId xmlns:a16="http://schemas.microsoft.com/office/drawing/2014/main" val="20000"/>
                    </a:ext>
                  </a:extLst>
                </a:gridCol>
                <a:gridCol w="4507992">
                  <a:extLst>
                    <a:ext uri="{9D8B030D-6E8A-4147-A177-3AD203B41FA5}">
                      <a16:colId xmlns:a16="http://schemas.microsoft.com/office/drawing/2014/main" val="20001"/>
                    </a:ext>
                  </a:extLst>
                </a:gridCol>
              </a:tblGrid>
              <a:tr h="329184">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Factor</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Empuje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329184">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Meses de caja</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-0.7557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Clima para conseguir inversión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-0.3183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329184">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Desacuerdos entre socios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-0.3033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Áreas cubiertas por el equipo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-0.2712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r h="329184">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Sector</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-0.2600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bl>
          </a:graphicData>
        </a:graphic>
      </p:graphicFrame>
      <p:sp>
        <p:nvSpPr>
          <p:cNvPr id="11" name="Text 8"/>
          <p:cNvSpPr txBox="1"/>
          <p:nvPr/>
        </p:nvSpPr>
        <p:spPr>
          <a:xfrm>
            <a:off x="640080" y="6108192"/>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Los valores están en log-odds, no en puntos porcentuales: sirven para comparar qué factor pesa más. La suma de todos más el punto de partida reproduce exactamente la predicción, y una prueba lo verifica contra la biblioteca oficial de SHAP.</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El seguimiento hace posible reentrenar</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Sin desenlace, una evaluación no sirve para entrenar</a:t>
            </a:r>
            <a:endParaRPr lang="en-US" sz="1400" dirty="0"/>
          </a:p>
        </p:txBody>
      </p:sp>
      <p:pic>
        <p:nvPicPr>
          <p:cNvPr id="4" name="Image 0" descr="docs/capturas/admin.png"/>
          <p:cNvPicPr>
            <a:picLocks noChangeAspect="1"/>
          </p:cNvPicPr>
          <p:nvPr/>
        </p:nvPicPr>
        <p:blipFill>
          <a:blip r:embed="rId3"/>
          <a:stretch>
            <a:fillRect/>
          </a:stretch>
        </p:blipFill>
        <p:spPr>
          <a:xfrm>
            <a:off x="640080" y="1645920"/>
            <a:ext cx="6035040" cy="4310743"/>
          </a:xfrm>
          <a:prstGeom prst="rect">
            <a:avLst/>
          </a:prstGeom>
        </p:spPr>
      </p:pic>
      <p:sp>
        <p:nvSpPr>
          <p:cNvPr id="5" name="Text 2"/>
          <p:cNvSpPr txBox="1"/>
          <p:nvPr/>
        </p:nvSpPr>
        <p:spPr>
          <a:xfrm>
            <a:off x="7040880" y="1828800"/>
            <a:ext cx="4480560" cy="347472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350" dirty="0">
                <a:solidFill>
                  <a:srgbClr val="3A3A38"/>
                </a:solidFill>
                <a:latin typeface="Calibri" pitchFamily="34" charset="0"/>
                <a:ea typeface="Calibri" pitchFamily="34" charset="-122"/>
                <a:cs typeface="Calibri" pitchFamily="34" charset="-120"/>
              </a:rPr>
              <a:t>Una evaluación aporta las 18 variables, pero no dice cómo terminó la historia.</a:t>
            </a:r>
            <a:endParaRPr lang="en-US" sz="1350" dirty="0"/>
          </a:p>
          <a:p>
            <a:pPr marL="342900" indent="-342900">
              <a:lnSpc>
                <a:spcPts val="2200"/>
              </a:lnSpc>
              <a:spcAft>
                <a:spcPts val="1000"/>
              </a:spcAft>
              <a:buSzPct val="100000"/>
              <a:buChar char="•"/>
            </a:pPr>
            <a:r>
              <a:rPr lang="en-US" sz="1350" dirty="0">
                <a:solidFill>
                  <a:srgbClr val="3A3A38"/>
                </a:solidFill>
                <a:latin typeface="Calibri" pitchFamily="34" charset="0"/>
                <a:ea typeface="Calibri" pitchFamily="34" charset="-122"/>
                <a:cs typeface="Calibri" pitchFamily="34" charset="-120"/>
              </a:rPr>
              <a:t>El desenlace se conoce uno o dos años después, y lo registra la incubadora desde esta vista.</a:t>
            </a:r>
            <a:endParaRPr lang="en-US" sz="1350" dirty="0"/>
          </a:p>
          <a:p>
            <a:pPr marL="342900" indent="-342900">
              <a:lnSpc>
                <a:spcPts val="2200"/>
              </a:lnSpc>
              <a:spcAft>
                <a:spcPts val="1000"/>
              </a:spcAft>
              <a:buSzPct val="100000"/>
              <a:buChar char="•"/>
            </a:pPr>
            <a:r>
              <a:rPr lang="en-US" sz="1350" dirty="0">
                <a:solidFill>
                  <a:srgbClr val="3A3A38"/>
                </a:solidFill>
                <a:latin typeface="Calibri" pitchFamily="34" charset="0"/>
                <a:ea typeface="Calibri" pitchFamily="34" charset="-122"/>
                <a:cs typeface="Calibri" pitchFamily="34" charset="-120"/>
              </a:rPr>
              <a:t>Mientras tanto la evaluación igual sirve: con ella se mide la deriva de datos, que no necesita el desenlace.</a:t>
            </a:r>
            <a:endParaRPr lang="en-US" sz="1350" dirty="0"/>
          </a:p>
          <a:p>
            <a:pPr marL="342900" indent="-342900">
              <a:lnSpc>
                <a:spcPts val="2200"/>
              </a:lnSpc>
              <a:spcAft>
                <a:spcPts val="1000"/>
              </a:spcAft>
              <a:buSzPct val="100000"/>
              <a:buChar char="•"/>
            </a:pPr>
            <a:r>
              <a:rPr lang="en-US" sz="1350" dirty="0">
                <a:solidFill>
                  <a:srgbClr val="3A3A38"/>
                </a:solidFill>
                <a:latin typeface="Calibri" pitchFamily="34" charset="0"/>
                <a:ea typeface="Calibri" pitchFamily="34" charset="-122"/>
                <a:cs typeface="Calibri" pitchFamily="34" charset="-120"/>
              </a:rPr>
              <a:t>Las tres rutas de seguimiento se protegen con un token.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La interfaz de programación</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Documentada sola, con OpenAPI</a:t>
            </a:r>
            <a:endParaRPr lang="en-US" sz="1400" dirty="0"/>
          </a:p>
        </p:txBody>
      </p:sp>
      <p:pic>
        <p:nvPicPr>
          <p:cNvPr id="4" name="Image 0" descr="docs/capturas/docs_api.png"/>
          <p:cNvPicPr>
            <a:picLocks noChangeAspect="1"/>
          </p:cNvPicPr>
          <p:nvPr/>
        </p:nvPicPr>
        <p:blipFill>
          <a:blip r:embed="rId3"/>
          <a:stretch>
            <a:fillRect/>
          </a:stretch>
        </p:blipFill>
        <p:spPr>
          <a:xfrm>
            <a:off x="640080" y="1600200"/>
            <a:ext cx="6583680" cy="4466540"/>
          </a:xfrm>
          <a:prstGeom prst="rect">
            <a:avLst/>
          </a:prstGeom>
        </p:spPr>
      </p:pic>
      <p:sp>
        <p:nvSpPr>
          <p:cNvPr id="5" name="Text 2"/>
          <p:cNvSpPr txBox="1"/>
          <p:nvPr/>
        </p:nvSpPr>
        <p:spPr>
          <a:xfrm>
            <a:off x="7589520" y="1828800"/>
            <a:ext cx="3931920" cy="347472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Trece puntos de acceso.</a:t>
            </a:r>
            <a:endParaRPr lang="en-US" sz="1300" dirty="0"/>
          </a:p>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Pydantic valida tipo y rango antes de que el dato llegue al modelo.</a:t>
            </a:r>
            <a:endParaRPr lang="en-US" sz="1300" dirty="0"/>
          </a:p>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Un valor fuera de escala recibe un 422 con el detalle del campo.</a:t>
            </a:r>
            <a:endParaRPr lang="en-US" sz="1300" dirty="0"/>
          </a:p>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Un sector que no existía al entrenar no rompe nada: se ignora y se responde igual.</a:t>
            </a:r>
            <a:endParaRPr lang="en-US" sz="1300" dirty="0"/>
          </a:p>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Toda la interfaz visible está en inglés, como pide la rúbrica.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Herramientas y plataformas</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Y por qué se descartaron otras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5212080" cy="3840480"/>
        </p:xfrm>
        <a:graphic>
          <a:graphicData uri="http://schemas.openxmlformats.org/drawingml/2006/table">
            <a:tbl>
              <a:tblPr/>
              <a:tblGrid>
                <a:gridCol w="31089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384048">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Para qué</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Herramienta</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38404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Modelo y datos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scikit-learn 1.7.2, pandas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Aplicación</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FastAPI, Pydantic, Jinja2</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38404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Almacenamiento</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SQLite en volumen de Docker</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Empaquetado</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Docker y Docker Compose</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r h="38404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Automatización</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GitHub Actions y Dependabot</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Registro de modelos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MLflow 2.22.2</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6"/>
                  </a:ext>
                </a:extLst>
              </a:tr>
              <a:tr h="38404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Deriva de datos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Evidently 0.7.23</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Pruebas y estilo</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pytest y ruff</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8"/>
                  </a:ext>
                </a:extLst>
              </a:tr>
              <a:tr h="38404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Servidor</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Ubuntu, proxy inverso, certbot</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9"/>
                  </a:ext>
                </a:extLst>
              </a:tr>
            </a:tbl>
          </a:graphicData>
        </a:graphic>
      </p:graphicFrame>
      <p:sp>
        <p:nvSpPr>
          <p:cNvPr id="5" name="Shape 2"/>
          <p:cNvSpPr/>
          <p:nvPr/>
        </p:nvSpPr>
        <p:spPr>
          <a:xfrm>
            <a:off x="6035040" y="1737360"/>
            <a:ext cx="5486400" cy="1920240"/>
          </a:xfrm>
          <a:prstGeom prst="roundRect">
            <a:avLst>
              <a:gd name="adj" fmla="val 3810"/>
            </a:avLst>
          </a:prstGeom>
          <a:solidFill>
            <a:srgbClr val="E7E8D1"/>
          </a:solidFill>
          <a:ln w="12700">
            <a:solidFill>
              <a:srgbClr val="E7E8D1"/>
            </a:solidFill>
            <a:prstDash val="solid"/>
          </a:ln>
        </p:spPr>
      </p:sp>
      <p:sp>
        <p:nvSpPr>
          <p:cNvPr id="6" name="Text 3"/>
          <p:cNvSpPr txBox="1"/>
          <p:nvPr/>
        </p:nvSpPr>
        <p:spPr>
          <a:xfrm>
            <a:off x="6236208" y="1883664"/>
            <a:ext cx="5084064"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Lo que se descartó a propósito</a:t>
            </a:r>
            <a:endParaRPr lang="en-US" sz="1400" dirty="0"/>
          </a:p>
        </p:txBody>
      </p:sp>
      <p:sp>
        <p:nvSpPr>
          <p:cNvPr id="7" name="Text 4"/>
          <p:cNvSpPr txBox="1"/>
          <p:nvPr/>
        </p:nvSpPr>
        <p:spPr>
          <a:xfrm>
            <a:off x="6236208" y="2212848"/>
            <a:ext cx="5084064" cy="128016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Kubernetes orquesta replicas que este sistema no tiene. Jenkins haria lo mismo que GitHub Actions pero habria que mantenerlo. Terraform administra infraestructura que aca se configura una vez.</a:t>
            </a:r>
            <a:endParaRPr lang="en-US" sz="1250" dirty="0"/>
          </a:p>
        </p:txBody>
      </p:sp>
      <p:sp>
        <p:nvSpPr>
          <p:cNvPr id="8" name="Shape 5"/>
          <p:cNvSpPr/>
          <p:nvPr/>
        </p:nvSpPr>
        <p:spPr>
          <a:xfrm>
            <a:off x="6035040" y="3794760"/>
            <a:ext cx="5486400" cy="2103120"/>
          </a:xfrm>
          <a:prstGeom prst="roundRect">
            <a:avLst>
              <a:gd name="adj" fmla="val 3478"/>
            </a:avLst>
          </a:prstGeom>
          <a:solidFill>
            <a:srgbClr val="E7E8D1"/>
          </a:solidFill>
          <a:ln w="12700">
            <a:solidFill>
              <a:srgbClr val="E7E8D1"/>
            </a:solidFill>
            <a:prstDash val="solid"/>
          </a:ln>
        </p:spPr>
      </p:sp>
      <p:sp>
        <p:nvSpPr>
          <p:cNvPr id="4" name="Text 6"/>
          <p:cNvSpPr txBox="1"/>
          <p:nvPr/>
        </p:nvSpPr>
        <p:spPr>
          <a:xfrm>
            <a:off x="6236208" y="3941064"/>
            <a:ext cx="5084064" cy="310896"/>
          </a:xfrm>
          <a:prstGeom prst="rect">
            <a:avLst/>
          </a:prstGeom>
          <a:noFill/>
          <a:ln/>
        </p:spPr>
        <p:txBody>
          <a:bodyPr wrap="square" lIns="0" tIns="0" rIns="0" bIns="0" rtlCol="0" anchor="ctr"/>
          <a:lstStyle/>
          <a:p>
            <a:pPr marL="0" indent="0">
              <a:buNone/>
            </a:pPr>
            <a:r>
              <a:rPr lang="en-US" sz="1400" b="1" dirty="0">
                <a:solidFill>
                  <a:srgbClr val="5F7F6E"/>
                </a:solidFill>
                <a:latin typeface="Calibri" pitchFamily="34" charset="0"/>
                <a:ea typeface="Calibri" pitchFamily="34" charset="-122"/>
                <a:cs typeface="Calibri" pitchFamily="34" charset="-120"/>
              </a:rPr>
              <a:t>Airflow y la versión de MLflow, por medición</a:t>
            </a:r>
            <a:endParaRPr lang="en-US" sz="1400" dirty="0"/>
          </a:p>
        </p:txBody>
      </p:sp>
      <p:sp>
        <p:nvSpPr>
          <p:cNvPr id="10" name="Text 7"/>
          <p:cNvSpPr txBox="1"/>
          <p:nvPr/>
        </p:nvSpPr>
        <p:spPr>
          <a:xfrm>
            <a:off x="6236208" y="4270248"/>
            <a:ext cx="5084064" cy="146304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Airflow pide entre 1 y 2 GB de RAM para hacer lo que hace una tarea programada. Y MLflow 3.16 arranca ocupando 1572 MB y muere por debajo de 1 GB; la 2.22 hace lo mismo con 260 MB.</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El modelo</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Tres algoritmos comparados sobre la partición de prueba</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08792" cy="2194560"/>
        </p:xfrm>
        <a:graphic>
          <a:graphicData uri="http://schemas.openxmlformats.org/drawingml/2006/table">
            <a:tbl>
              <a:tblPr/>
              <a:tblGrid>
                <a:gridCol w="36576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53312">
                  <a:extLst>
                    <a:ext uri="{9D8B030D-6E8A-4147-A177-3AD203B41FA5}">
                      <a16:colId xmlns:a16="http://schemas.microsoft.com/office/drawing/2014/main" val="20005"/>
                    </a:ext>
                  </a:extLst>
                </a:gridCol>
              </a:tblGrid>
              <a:tr h="438912">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Algoritmo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ROC-AUC</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Exact. bal.</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Precisión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Sensib.</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Señalados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438912">
                <a:tc>
                  <a:txBody>
                    <a:bodyPr/>
                    <a:lstStyle/>
                    <a:p>
                      <a:pPr marL="0" indent="0" algn="l">
                        <a:buNone/>
                      </a:pPr>
                      <a:r>
                        <a:rPr lang="en-US" sz="1300" b="1" dirty="0">
                          <a:solidFill>
                            <a:srgbClr val="B85042"/>
                          </a:solidFill>
                          <a:latin typeface="Calibri" pitchFamily="34" charset="0"/>
                          <a:ea typeface="Calibri" pitchFamily="34" charset="-122"/>
                          <a:cs typeface="Calibri" pitchFamily="34" charset="-120"/>
                        </a:rPr>
                        <a:t>Regresión logística (C = 0.1)</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0.7469</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0.6783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0.7977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0.6965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57.5 %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Potenciación de gradiente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0.7363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0.6674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0.7907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0.6823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56.8 %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438912">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Bosque aleatorio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0.7305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0.6693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0.7942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0.6755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56.0 %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Sin modelo (todos fracasan)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0.5000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0.5000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0.6580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100 %</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640080" y="4206240"/>
            <a:ext cx="10908792" cy="822960"/>
          </a:xfrm>
          <a:prstGeom prst="rect">
            <a:avLst/>
          </a:prstGeom>
          <a:noFill/>
          <a:ln/>
        </p:spPr>
        <p:txBody>
          <a:bodyPr wrap="square" lIns="0" tIns="0" rIns="0" bIns="0" rtlCol="0" anchor="ctr"/>
          <a:lstStyle/>
          <a:p>
            <a:pPr marL="0" indent="0">
              <a:buNone/>
            </a:pPr>
            <a:r>
              <a:rPr lang="en-US" sz="1400" dirty="0">
                <a:solidFill>
                  <a:srgbClr val="3A3A38"/>
                </a:solidFill>
                <a:latin typeface="Calibri" pitchFamily="34" charset="0"/>
                <a:ea typeface="Calibri" pitchFamily="34" charset="-122"/>
                <a:cs typeface="Calibri" pitchFamily="34" charset="-120"/>
              </a:rPr>
              <a:t>Ganó el modelo más simple. En datos tabulares los ensambles suelen ganar, así que esto indica que las relaciones son aditivas, sin interacciones que los árboles puedan aprovechar. Y admite una explicación exacta de cada predicción, cosa que un bosque no.</a:t>
            </a:r>
            <a:endParaRPr lang="en-US" sz="1400" dirty="0"/>
          </a:p>
        </p:txBody>
      </p:sp>
      <p:sp>
        <p:nvSpPr>
          <p:cNvPr id="6" name="Text 3"/>
          <p:cNvSpPr txBox="1"/>
          <p:nvPr/>
        </p:nvSpPr>
        <p:spPr>
          <a:xfrm>
            <a:off x="640080" y="6108192"/>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N = 9 600. La última fila es un clasificador trivial: es el piso contra el que hay que comparar.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El hallazgo metodológico</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Por qué no se usa F1 para elegir el punto de corte</a:t>
            </a:r>
            <a:endParaRPr lang="en-US" sz="1400" dirty="0"/>
          </a:p>
        </p:txBody>
      </p:sp>
      <p:sp>
        <p:nvSpPr>
          <p:cNvPr id="4" name="Shape 2"/>
          <p:cNvSpPr/>
          <p:nvPr/>
        </p:nvSpPr>
        <p:spPr>
          <a:xfrm>
            <a:off x="640080" y="1691640"/>
            <a:ext cx="5317236" cy="1737360"/>
          </a:xfrm>
          <a:prstGeom prst="roundRect">
            <a:avLst>
              <a:gd name="adj" fmla="val 4211"/>
            </a:avLst>
          </a:prstGeom>
          <a:solidFill>
            <a:srgbClr val="E7E8D1"/>
          </a:solidFill>
          <a:ln w="12700">
            <a:solidFill>
              <a:srgbClr val="E7E8D1"/>
            </a:solidFill>
            <a:prstDash val="solid"/>
          </a:ln>
        </p:spPr>
      </p:sp>
      <p:sp>
        <p:nvSpPr>
          <p:cNvPr id="5" name="Text 3"/>
          <p:cNvSpPr txBox="1"/>
          <p:nvPr/>
        </p:nvSpPr>
        <p:spPr>
          <a:xfrm>
            <a:off x="841248" y="1837944"/>
            <a:ext cx="4914900" cy="310896"/>
          </a:xfrm>
          <a:prstGeom prst="rect">
            <a:avLst/>
          </a:prstGeom>
          <a:noFill/>
          <a:ln/>
        </p:spPr>
        <p:txBody>
          <a:bodyPr wrap="square" lIns="0" tIns="0" rIns="0" bIns="0" rtlCol="0" anchor="ctr"/>
          <a:lstStyle/>
          <a:p>
            <a:pPr marL="0" indent="0">
              <a:buNone/>
            </a:pPr>
            <a:r>
              <a:rPr lang="en-US" sz="1400" b="1" dirty="0">
                <a:solidFill>
                  <a:srgbClr val="7A756E"/>
                </a:solidFill>
                <a:latin typeface="Calibri" pitchFamily="34" charset="0"/>
                <a:ea typeface="Calibri" pitchFamily="34" charset="-122"/>
                <a:cs typeface="Calibri" pitchFamily="34" charset="-120"/>
              </a:rPr>
              <a:t>Lo que parecía funcionar</a:t>
            </a:r>
            <a:endParaRPr lang="en-US" sz="1400" dirty="0"/>
          </a:p>
        </p:txBody>
      </p:sp>
      <p:sp>
        <p:nvSpPr>
          <p:cNvPr id="6" name="Text 4"/>
          <p:cNvSpPr txBox="1"/>
          <p:nvPr/>
        </p:nvSpPr>
        <p:spPr>
          <a:xfrm>
            <a:off x="841248" y="2167128"/>
            <a:ext cx="4914900" cy="109728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Maximizando F1 el umbral quedaba en 0.37. El modelo marcaba el 90.7 % de los casos y daba F1 de 0.8084.</a:t>
            </a:r>
            <a:endParaRPr lang="en-US" sz="1250" dirty="0"/>
          </a:p>
        </p:txBody>
      </p:sp>
      <p:sp>
        <p:nvSpPr>
          <p:cNvPr id="7" name="Shape 5"/>
          <p:cNvSpPr/>
          <p:nvPr/>
        </p:nvSpPr>
        <p:spPr>
          <a:xfrm>
            <a:off x="6231636" y="1691640"/>
            <a:ext cx="5317236" cy="1737360"/>
          </a:xfrm>
          <a:prstGeom prst="roundRect">
            <a:avLst>
              <a:gd name="adj" fmla="val 4211"/>
            </a:avLst>
          </a:prstGeom>
          <a:solidFill>
            <a:srgbClr val="E7E8D1"/>
          </a:solidFill>
          <a:ln w="12700">
            <a:solidFill>
              <a:srgbClr val="E7E8D1"/>
            </a:solidFill>
            <a:prstDash val="solid"/>
          </a:ln>
        </p:spPr>
      </p:sp>
      <p:sp>
        <p:nvSpPr>
          <p:cNvPr id="8" name="Text 6"/>
          <p:cNvSpPr txBox="1"/>
          <p:nvPr/>
        </p:nvSpPr>
        <p:spPr>
          <a:xfrm>
            <a:off x="6432804" y="1837944"/>
            <a:ext cx="4914900"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Lo que descubrimos</a:t>
            </a:r>
            <a:endParaRPr lang="en-US" sz="1400" dirty="0"/>
          </a:p>
        </p:txBody>
      </p:sp>
      <p:sp>
        <p:nvSpPr>
          <p:cNvPr id="9" name="Text 7"/>
          <p:cNvSpPr txBox="1"/>
          <p:nvPr/>
        </p:nvSpPr>
        <p:spPr>
          <a:xfrm>
            <a:off x="6432804" y="2167128"/>
            <a:ext cx="4914900" cy="109728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Decir "todas fracasan", sin ningun modelo, ya da F1 de 0.7937. La mejora real era de 0.0146, o sea casi nada.</a:t>
            </a:r>
            <a:endParaRPr lang="en-US" sz="1250" dirty="0"/>
          </a:p>
        </p:txBody>
      </p:sp>
      <p:sp>
        <p:nvSpPr>
          <p:cNvPr id="10" name="Text 8"/>
          <p:cNvSpPr txBox="1"/>
          <p:nvPr/>
        </p:nvSpPr>
        <p:spPr>
          <a:xfrm>
            <a:off x="640080" y="3657600"/>
            <a:ext cx="10908792" cy="640080"/>
          </a:xfrm>
          <a:prstGeom prst="rect">
            <a:avLst/>
          </a:prstGeom>
          <a:noFill/>
          <a:ln/>
        </p:spPr>
        <p:txBody>
          <a:bodyPr wrap="square" lIns="0" tIns="0" rIns="0" bIns="0" rtlCol="0" anchor="ctr"/>
          <a:lstStyle/>
          <a:p>
            <a:pPr marL="0" indent="0">
              <a:buNone/>
            </a:pPr>
            <a:r>
              <a:rPr lang="en-US" sz="1450" dirty="0">
                <a:solidFill>
                  <a:srgbClr val="3A3A38"/>
                </a:solidFill>
                <a:latin typeface="Calibri" pitchFamily="34" charset="0"/>
                <a:ea typeface="Calibri" pitchFamily="34" charset="-122"/>
                <a:cs typeface="Calibri" pitchFamily="34" charset="-120"/>
              </a:rPr>
              <a:t>Con clases desbalanceadas, F1 premia predecir siempre la clase mayoritaria. Se adoptó el estadístico J de Youden, que obliga a acertar en las dos clases a la vez.</a:t>
            </a:r>
            <a:endParaRPr lang="en-US" sz="1450" dirty="0"/>
          </a:p>
        </p:txBody>
      </p:sp>
      <p:sp>
        <p:nvSpPr>
          <p:cNvPr id="11" name="Text 9"/>
          <p:cNvSpPr txBox="1"/>
          <p:nvPr/>
        </p:nvSpPr>
        <p:spPr>
          <a:xfrm>
            <a:off x="640080" y="4434840"/>
            <a:ext cx="3636264" cy="822960"/>
          </a:xfrm>
          <a:prstGeom prst="rect">
            <a:avLst/>
          </a:prstGeom>
          <a:noFill/>
          <a:ln/>
        </p:spPr>
        <p:txBody>
          <a:bodyPr wrap="square" lIns="0" tIns="0" rIns="0" bIns="0" rtlCol="0" anchor="ctr"/>
          <a:lstStyle/>
          <a:p>
            <a:pPr marL="0" indent="0" algn="ctr">
              <a:buNone/>
            </a:pPr>
            <a:r>
              <a:rPr lang="en-US" sz="3200" b="1" dirty="0">
                <a:solidFill>
                  <a:srgbClr val="B85042"/>
                </a:solidFill>
                <a:latin typeface="Cambria" pitchFamily="34" charset="0"/>
                <a:ea typeface="Cambria" pitchFamily="34" charset="-122"/>
                <a:cs typeface="Cambria" pitchFamily="34" charset="-120"/>
              </a:rPr>
              <a:t>0.37 → 0.64</a:t>
            </a:r>
            <a:endParaRPr lang="en-US" sz="3200" dirty="0"/>
          </a:p>
        </p:txBody>
      </p:sp>
      <p:sp>
        <p:nvSpPr>
          <p:cNvPr id="12" name="Text 10"/>
          <p:cNvSpPr txBox="1"/>
          <p:nvPr/>
        </p:nvSpPr>
        <p:spPr>
          <a:xfrm>
            <a:off x="640080" y="527608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umbral de decisión</a:t>
            </a:r>
            <a:endParaRPr lang="en-US" sz="1250" dirty="0"/>
          </a:p>
        </p:txBody>
      </p:sp>
      <p:sp>
        <p:nvSpPr>
          <p:cNvPr id="13" name="Text 11"/>
          <p:cNvSpPr txBox="1"/>
          <p:nvPr/>
        </p:nvSpPr>
        <p:spPr>
          <a:xfrm>
            <a:off x="4276344" y="4434840"/>
            <a:ext cx="3636264" cy="822960"/>
          </a:xfrm>
          <a:prstGeom prst="rect">
            <a:avLst/>
          </a:prstGeom>
          <a:noFill/>
          <a:ln/>
        </p:spPr>
        <p:txBody>
          <a:bodyPr wrap="square" lIns="0" tIns="0" rIns="0" bIns="0" rtlCol="0" anchor="ctr"/>
          <a:lstStyle/>
          <a:p>
            <a:pPr marL="0" indent="0" algn="ctr">
              <a:buNone/>
            </a:pPr>
            <a:r>
              <a:rPr lang="en-US" sz="2500" b="1" dirty="0">
                <a:solidFill>
                  <a:srgbClr val="5F7F6E"/>
                </a:solidFill>
                <a:latin typeface="Cambria" pitchFamily="34" charset="0"/>
                <a:ea typeface="Cambria" pitchFamily="34" charset="-122"/>
                <a:cs typeface="Cambria" pitchFamily="34" charset="-120"/>
              </a:rPr>
              <a:t>90.7 % → 57.5 %</a:t>
            </a:r>
            <a:endParaRPr lang="en-US" sz="2500" dirty="0"/>
          </a:p>
        </p:txBody>
      </p:sp>
      <p:sp>
        <p:nvSpPr>
          <p:cNvPr id="14" name="Text 12"/>
          <p:cNvSpPr txBox="1"/>
          <p:nvPr/>
        </p:nvSpPr>
        <p:spPr>
          <a:xfrm>
            <a:off x="4276344" y="527608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casos señalados</a:t>
            </a:r>
            <a:endParaRPr lang="en-US" sz="1250" dirty="0"/>
          </a:p>
        </p:txBody>
      </p:sp>
      <p:sp>
        <p:nvSpPr>
          <p:cNvPr id="15" name="Text 13"/>
          <p:cNvSpPr txBox="1"/>
          <p:nvPr/>
        </p:nvSpPr>
        <p:spPr>
          <a:xfrm>
            <a:off x="7912608" y="4434840"/>
            <a:ext cx="3636264" cy="822960"/>
          </a:xfrm>
          <a:prstGeom prst="rect">
            <a:avLst/>
          </a:prstGeom>
          <a:noFill/>
          <a:ln/>
        </p:spPr>
        <p:txBody>
          <a:bodyPr wrap="square" lIns="0" tIns="0" rIns="0" bIns="0" rtlCol="0" anchor="ctr"/>
          <a:lstStyle/>
          <a:p>
            <a:pPr marL="0" indent="0" algn="ctr">
              <a:buNone/>
            </a:pPr>
            <a:r>
              <a:rPr lang="en-US" sz="2500" b="1" dirty="0">
                <a:solidFill>
                  <a:srgbClr val="5F7F6E"/>
                </a:solidFill>
                <a:latin typeface="Cambria" pitchFamily="34" charset="0"/>
                <a:ea typeface="Cambria" pitchFamily="34" charset="-122"/>
                <a:cs typeface="Cambria" pitchFamily="34" charset="-120"/>
              </a:rPr>
              <a:t>0.5795 → 0.6783</a:t>
            </a:r>
            <a:endParaRPr lang="en-US" sz="2500" dirty="0"/>
          </a:p>
        </p:txBody>
      </p:sp>
      <p:sp>
        <p:nvSpPr>
          <p:cNvPr id="16" name="Text 14"/>
          <p:cNvSpPr txBox="1"/>
          <p:nvPr/>
        </p:nvSpPr>
        <p:spPr>
          <a:xfrm>
            <a:off x="7912608" y="5276088"/>
            <a:ext cx="3636264"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exactitud balanceada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Qué anticipa la supervivencia</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La pregunta del proyecto, respondida con un estudio de ablación</a:t>
            </a:r>
            <a:endParaRPr lang="en-US" sz="1400" dirty="0"/>
          </a:p>
        </p:txBody>
      </p:sp>
      <p:pic>
        <p:nvPicPr>
          <p:cNvPr id="4" name="Image 0" descr="docs/figuras/07_aporte_por_grupo.png"/>
          <p:cNvPicPr>
            <a:picLocks noChangeAspect="1"/>
          </p:cNvPicPr>
          <p:nvPr/>
        </p:nvPicPr>
        <p:blipFill>
          <a:blip r:embed="rId3"/>
          <a:stretch>
            <a:fillRect/>
          </a:stretch>
        </p:blipFill>
        <p:spPr>
          <a:xfrm>
            <a:off x="640080" y="1645920"/>
            <a:ext cx="6766560" cy="3818600"/>
          </a:xfrm>
          <a:prstGeom prst="rect">
            <a:avLst/>
          </a:prstGeom>
        </p:spPr>
      </p:pic>
      <p:sp>
        <p:nvSpPr>
          <p:cNvPr id="5" name="Text 2"/>
          <p:cNvSpPr txBox="1"/>
          <p:nvPr/>
        </p:nvSpPr>
        <p:spPr>
          <a:xfrm>
            <a:off x="7772400" y="2011680"/>
            <a:ext cx="3749040" cy="310896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Lo que el emprendimiento hace pesa más que quién lo dirige.</a:t>
            </a:r>
            <a:endParaRPr lang="en-US" sz="1300" dirty="0"/>
          </a:p>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Ejecución y financiamiento concentran la capacidad predictiva.</a:t>
            </a:r>
            <a:endParaRPr lang="en-US" sz="1300" dirty="0"/>
          </a:p>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El perfil del fundador es casi prescindible: sacarlo baja el AUC en 0.0039.</a:t>
            </a:r>
            <a:endParaRPr lang="en-US" sz="1300" dirty="0"/>
          </a:p>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El azar del clima macroeconómico predice mejor por sí solo que la trayectoria del fundador.</a:t>
            </a:r>
            <a:endParaRPr lang="en-US" sz="1300" dirty="0"/>
          </a:p>
        </p:txBody>
      </p:sp>
      <p:sp>
        <p:nvSpPr>
          <p:cNvPr id="6" name="Text 3"/>
          <p:cNvSpPr txBox="1"/>
          <p:nvPr/>
        </p:nvSpPr>
        <p:spPr>
          <a:xfrm>
            <a:off x="640080" y="6108192"/>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La línea roja en 0.50 marca el punto donde un grupo no aporta nada.</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Los dos flujos automatizados</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Y cómo se conectan con la aplicación en producción</a:t>
            </a:r>
            <a:endParaRPr lang="en-US" sz="1400" dirty="0"/>
          </a:p>
        </p:txBody>
      </p:sp>
      <p:pic>
        <p:nvPicPr>
          <p:cNvPr id="4" name="Image 0" descr="docs/figuras/08_pipelines.png"/>
          <p:cNvPicPr>
            <a:picLocks noChangeAspect="1"/>
          </p:cNvPicPr>
          <p:nvPr/>
        </p:nvPicPr>
        <p:blipFill>
          <a:blip r:embed="rId3"/>
          <a:stretch>
            <a:fillRect/>
          </a:stretch>
        </p:blipFill>
        <p:spPr>
          <a:xfrm>
            <a:off x="2185416" y="1572768"/>
            <a:ext cx="7818120" cy="4459852"/>
          </a:xfrm>
          <a:prstGeom prst="rect">
            <a:avLst/>
          </a:prstGeom>
        </p:spPr>
      </p:pic>
      <p:sp>
        <p:nvSpPr>
          <p:cNvPr id="5" name="Text 2"/>
          <p:cNvSpPr txBox="1"/>
          <p:nvPr/>
        </p:nvSpPr>
        <p:spPr>
          <a:xfrm>
            <a:off x="640080" y="6108192"/>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El mantenimiento no despliega por su cuenta: hace un commit y deja que la integración continua lo lleve a producción, con sus pruebas y su vuelta atrás.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Integración continua</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Se dispara con cada push a main</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2011680"/>
        </p:xfrm>
        <a:graphic>
          <a:graphicData uri="http://schemas.openxmlformats.org/drawingml/2006/table">
            <a:tbl>
              <a:tblPr/>
              <a:tblGrid>
                <a:gridCol w="2011680">
                  <a:extLst>
                    <a:ext uri="{9D8B030D-6E8A-4147-A177-3AD203B41FA5}">
                      <a16:colId xmlns:a16="http://schemas.microsoft.com/office/drawing/2014/main" val="20000"/>
                    </a:ext>
                  </a:extLst>
                </a:gridCol>
                <a:gridCol w="5971032">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50292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Trabajo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Qué hace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Condición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50292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pruebas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Revisa el estilo con ruff y corre las 61 pruebas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Siempre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imagen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Construye la imagen y la sube a ghcr.io con dos etiquetas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Si pruebas pasó</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50292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desplegar</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La instala en el VPS y comprueba desde el dominio público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Si imagen pasó y la rama es main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bl>
          </a:graphicData>
        </a:graphic>
      </p:graphicFrame>
      <p:sp>
        <p:nvSpPr>
          <p:cNvPr id="5" name="Text 2"/>
          <p:cNvSpPr txBox="1"/>
          <p:nvPr/>
        </p:nvSpPr>
        <p:spPr>
          <a:xfrm>
            <a:off x="640080" y="3794760"/>
            <a:ext cx="10908792" cy="822960"/>
          </a:xfrm>
          <a:prstGeom prst="rect">
            <a:avLst/>
          </a:prstGeom>
          <a:noFill/>
          <a:ln/>
        </p:spPr>
        <p:txBody>
          <a:bodyPr wrap="square" lIns="0" tIns="0" rIns="0" bIns="0" rtlCol="0" anchor="ctr"/>
          <a:lstStyle/>
          <a:p>
            <a:pPr marL="0" indent="0">
              <a:buNone/>
            </a:pPr>
            <a:r>
              <a:rPr lang="en-US" sz="1450" dirty="0">
                <a:solidFill>
                  <a:srgbClr val="3A3A38"/>
                </a:solidFill>
                <a:latin typeface="Calibri" pitchFamily="34" charset="0"/>
                <a:ea typeface="Calibri" pitchFamily="34" charset="-122"/>
                <a:cs typeface="Calibri" pitchFamily="34" charset="-120"/>
              </a:rPr>
              <a:t>No existe ninguna ruta por la cual código que no pasó las 61 pruebas llegue al servidor. Y hay una prueba automatizada que lee el propio archivo del flujo y verifica ese encadenamiento, por si alguien lo rompe sin darse cuenta.</a:t>
            </a:r>
            <a:endParaRPr lang="en-US" sz="1450" dirty="0"/>
          </a:p>
        </p:txBody>
      </p:sp>
      <p:sp>
        <p:nvSpPr>
          <p:cNvPr id="6" name="Shape 3"/>
          <p:cNvSpPr/>
          <p:nvPr/>
        </p:nvSpPr>
        <p:spPr>
          <a:xfrm>
            <a:off x="640080" y="4754880"/>
            <a:ext cx="10908792" cy="914400"/>
          </a:xfrm>
          <a:prstGeom prst="roundRect">
            <a:avLst>
              <a:gd name="adj" fmla="val 8000"/>
            </a:avLst>
          </a:prstGeom>
          <a:solidFill>
            <a:srgbClr val="E7E8D1"/>
          </a:solidFill>
          <a:ln w="12700">
            <a:solidFill>
              <a:srgbClr val="E7E8D1"/>
            </a:solidFill>
            <a:prstDash val="solid"/>
          </a:ln>
        </p:spPr>
      </p:sp>
      <p:sp>
        <p:nvSpPr>
          <p:cNvPr id="7" name="Text 4"/>
          <p:cNvSpPr txBox="1"/>
          <p:nvPr/>
        </p:nvSpPr>
        <p:spPr>
          <a:xfrm>
            <a:off x="841248" y="4873752"/>
            <a:ext cx="10506456" cy="365760"/>
          </a:xfrm>
          <a:prstGeom prst="rect">
            <a:avLst/>
          </a:prstGeom>
          <a:noFill/>
          <a:ln/>
        </p:spPr>
        <p:txBody>
          <a:bodyPr wrap="square" lIns="0" tIns="0" rIns="0" bIns="0" rtlCol="0" anchor="ctr"/>
          <a:lstStyle/>
          <a:p>
            <a:pPr marL="0" indent="0">
              <a:buNone/>
            </a:pPr>
            <a:r>
              <a:rPr lang="en-US" sz="1400" b="1" dirty="0">
                <a:solidFill>
                  <a:srgbClr val="B85042"/>
                </a:solidFill>
                <a:latin typeface="Courier New" pitchFamily="34" charset="0"/>
                <a:ea typeface="Courier New" pitchFamily="34" charset="-122"/>
                <a:cs typeface="Courier New" pitchFamily="34" charset="-120"/>
              </a:rPr>
              <a:t>github.com/htacoav/StartUpMCD/actions</a:t>
            </a:r>
            <a:endParaRPr lang="en-US" sz="1400" dirty="0"/>
          </a:p>
        </p:txBody>
      </p:sp>
      <p:sp>
        <p:nvSpPr>
          <p:cNvPr id="8" name="Text 5"/>
          <p:cNvSpPr txBox="1"/>
          <p:nvPr/>
        </p:nvSpPr>
        <p:spPr>
          <a:xfrm>
            <a:off x="841248" y="5239512"/>
            <a:ext cx="10506456" cy="320040"/>
          </a:xfrm>
          <a:prstGeom prst="rect">
            <a:avLst/>
          </a:prstGeom>
          <a:noFill/>
          <a:ln/>
        </p:spPr>
        <p:txBody>
          <a:bodyPr wrap="square" lIns="0" tIns="0" rIns="0" bIns="0" rtlCol="0" anchor="ctr"/>
          <a:lstStyle/>
          <a:p>
            <a:pPr marL="0" indent="0">
              <a:buNone/>
            </a:pPr>
            <a:r>
              <a:rPr lang="en-US" sz="1200" dirty="0">
                <a:solidFill>
                  <a:srgbClr val="3A3A38"/>
                </a:solidFill>
                <a:latin typeface="Calibri" pitchFamily="34" charset="0"/>
                <a:ea typeface="Calibri" pitchFamily="34" charset="-122"/>
                <a:cs typeface="Calibri" pitchFamily="34" charset="-120"/>
              </a:rPr>
              <a:t>Acá se abre el registro de cada ejecución, con la duración de cada trabajo y la salida de las pruebas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Dos decisiones del despliegue</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Que son las que lo hacen seguro</a:t>
            </a:r>
            <a:endParaRPr lang="en-US" sz="1400" dirty="0"/>
          </a:p>
        </p:txBody>
      </p:sp>
      <p:sp>
        <p:nvSpPr>
          <p:cNvPr id="4" name="Shape 2"/>
          <p:cNvSpPr/>
          <p:nvPr/>
        </p:nvSpPr>
        <p:spPr>
          <a:xfrm>
            <a:off x="640080" y="1737360"/>
            <a:ext cx="5317236" cy="2103120"/>
          </a:xfrm>
          <a:prstGeom prst="roundRect">
            <a:avLst>
              <a:gd name="adj" fmla="val 3478"/>
            </a:avLst>
          </a:prstGeom>
          <a:solidFill>
            <a:srgbClr val="E7E8D1"/>
          </a:solidFill>
          <a:ln w="12700">
            <a:solidFill>
              <a:srgbClr val="E7E8D1"/>
            </a:solidFill>
            <a:prstDash val="solid"/>
          </a:ln>
        </p:spPr>
      </p:sp>
      <p:sp>
        <p:nvSpPr>
          <p:cNvPr id="5" name="Text 3"/>
          <p:cNvSpPr txBox="1"/>
          <p:nvPr/>
        </p:nvSpPr>
        <p:spPr>
          <a:xfrm>
            <a:off x="841248" y="1883664"/>
            <a:ext cx="4914900"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Dos etiquetas por imagen</a:t>
            </a:r>
            <a:endParaRPr lang="en-US" sz="1400" dirty="0"/>
          </a:p>
        </p:txBody>
      </p:sp>
      <p:sp>
        <p:nvSpPr>
          <p:cNvPr id="6" name="Text 4"/>
          <p:cNvSpPr txBox="1"/>
          <p:nvPr/>
        </p:nvSpPr>
        <p:spPr>
          <a:xfrm>
            <a:off x="841248" y="2212848"/>
            <a:ext cx="4914900" cy="146304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Una etiqueta movil, latest, comoda para operar a mano. Y otra con el hash exacto del commit, que permite volver a una version puntual. El despliegue usa siempre la segunda, nunca la movil, para que no haya ambiguedad.</a:t>
            </a:r>
            <a:endParaRPr lang="en-US" sz="1250" dirty="0"/>
          </a:p>
        </p:txBody>
      </p:sp>
      <p:sp>
        <p:nvSpPr>
          <p:cNvPr id="7" name="Shape 5"/>
          <p:cNvSpPr/>
          <p:nvPr/>
        </p:nvSpPr>
        <p:spPr>
          <a:xfrm>
            <a:off x="6231636" y="1737360"/>
            <a:ext cx="5317236" cy="2103120"/>
          </a:xfrm>
          <a:prstGeom prst="roundRect">
            <a:avLst>
              <a:gd name="adj" fmla="val 3478"/>
            </a:avLst>
          </a:prstGeom>
          <a:solidFill>
            <a:srgbClr val="E7E8D1"/>
          </a:solidFill>
          <a:ln w="12700">
            <a:solidFill>
              <a:srgbClr val="E7E8D1"/>
            </a:solidFill>
            <a:prstDash val="solid"/>
          </a:ln>
        </p:spPr>
      </p:sp>
      <p:sp>
        <p:nvSpPr>
          <p:cNvPr id="8" name="Text 6"/>
          <p:cNvSpPr txBox="1"/>
          <p:nvPr/>
        </p:nvSpPr>
        <p:spPr>
          <a:xfrm>
            <a:off x="6432804" y="1883664"/>
            <a:ext cx="4914900" cy="310896"/>
          </a:xfrm>
          <a:prstGeom prst="rect">
            <a:avLst/>
          </a:prstGeom>
          <a:noFill/>
          <a:ln/>
        </p:spPr>
        <p:txBody>
          <a:bodyPr wrap="square" lIns="0" tIns="0" rIns="0" bIns="0" rtlCol="0" anchor="ctr"/>
          <a:lstStyle/>
          <a:p>
            <a:pPr marL="0" indent="0">
              <a:buNone/>
            </a:pPr>
            <a:r>
              <a:rPr lang="en-US" sz="1400" b="1" dirty="0">
                <a:solidFill>
                  <a:srgbClr val="5F7F6E"/>
                </a:solidFill>
                <a:latin typeface="Calibri" pitchFamily="34" charset="0"/>
                <a:ea typeface="Calibri" pitchFamily="34" charset="-122"/>
                <a:cs typeface="Calibri" pitchFamily="34" charset="-120"/>
              </a:rPr>
              <a:t>Vuelta atrás automática</a:t>
            </a:r>
            <a:endParaRPr lang="en-US" sz="1400" dirty="0"/>
          </a:p>
        </p:txBody>
      </p:sp>
      <p:sp>
        <p:nvSpPr>
          <p:cNvPr id="9" name="Text 7"/>
          <p:cNvSpPr txBox="1"/>
          <p:nvPr/>
        </p:nvSpPr>
        <p:spPr>
          <a:xfrm>
            <a:off x="6432804" y="2212848"/>
            <a:ext cx="4914900" cy="146304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Antes de tocar nada se anota que imagen esta corriendo. Si la nueva no responde en 60 segundos, se guarda el log, se restablece la anterior y el despliegue se marca como fallido. Primero se rescata el servicio, despues se avisa.</a:t>
            </a:r>
            <a:endParaRPr lang="en-US" sz="1250" dirty="0"/>
          </a:p>
        </p:txBody>
      </p:sp>
      <p:sp>
        <p:nvSpPr>
          <p:cNvPr id="10" name="Text 8"/>
          <p:cNvSpPr txBox="1"/>
          <p:nvPr/>
        </p:nvSpPr>
        <p:spPr>
          <a:xfrm>
            <a:off x="640080" y="4069080"/>
            <a:ext cx="10908792" cy="822960"/>
          </a:xfrm>
          <a:prstGeom prst="rect">
            <a:avLst/>
          </a:prstGeom>
          <a:noFill/>
          <a:ln/>
        </p:spPr>
        <p:txBody>
          <a:bodyPr wrap="square" lIns="0" tIns="0" rIns="0" bIns="0" rtlCol="0" anchor="ctr"/>
          <a:lstStyle/>
          <a:p>
            <a:pPr marL="0" indent="0">
              <a:buNone/>
            </a:pPr>
            <a:r>
              <a:rPr lang="en-US" sz="1450" dirty="0">
                <a:solidFill>
                  <a:srgbClr val="3A3A38"/>
                </a:solidFill>
                <a:latin typeface="Calibri" pitchFamily="34" charset="0"/>
                <a:ea typeface="Calibri" pitchFamily="34" charset="-122"/>
                <a:cs typeface="Calibri" pitchFamily="34" charset="-120"/>
              </a:rPr>
              <a:t>La imagen nunca se construye en el servidor. Compilar pandas y scikit-learn ahí consume varios gigabytes y el sistema operativo terminaría matando otros procesos para liberar memoria. Se construye en GitHub y el servidor solo la descarga.</a:t>
            </a:r>
            <a:endParaRPr lang="en-US" sz="1450" dirty="0"/>
          </a:p>
        </p:txBody>
      </p:sp>
      <p:sp>
        <p:nvSpPr>
          <p:cNvPr id="11" name="Text 9"/>
          <p:cNvSpPr txBox="1"/>
          <p:nvPr/>
        </p:nvSpPr>
        <p:spPr>
          <a:xfrm>
            <a:off x="640080" y="6108192"/>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La reversión manual usa el mismo script, indicando el hash del commit al que se quiere volver.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Mantenimiento del modelo</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Todos los lunes, o a mano cuando se quiera</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2523744"/>
        </p:xfrm>
        <a:graphic>
          <a:graphicData uri="http://schemas.openxmlformats.org/drawingml/2006/table">
            <a:tbl>
              <a:tblPr/>
              <a:tblGrid>
                <a:gridCol w="91440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gridCol w="4142232">
                  <a:extLst>
                    <a:ext uri="{9D8B030D-6E8A-4147-A177-3AD203B41FA5}">
                      <a16:colId xmlns:a16="http://schemas.microsoft.com/office/drawing/2014/main" val="20002"/>
                    </a:ext>
                  </a:extLst>
                </a:gridCol>
              </a:tblGrid>
              <a:tr h="420624">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Paso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Qué hace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Qué produce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420624">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Busca los datos nuevos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Las evaluaciones reales de producción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Compara distribuciones con Evidently</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Reporte de deriva y veredicto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420624">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Entrena un candidato sin permiso de escritura</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Un modelo en memoria</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Aplica las cuatro puertas de calidad</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La decisión, con su motivo escrito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r h="420624">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Registra todo en MLflow</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Corrida con métricas, modelo y reporte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640080" y="4206240"/>
            <a:ext cx="10908792" cy="731520"/>
          </a:xfrm>
          <a:prstGeom prst="rect">
            <a:avLst/>
          </a:prstGeom>
          <a:noFill/>
          <a:ln/>
        </p:spPr>
        <p:txBody>
          <a:bodyPr wrap="square" lIns="0" tIns="0" rIns="0" bIns="0" rtlCol="0" anchor="ctr"/>
          <a:lstStyle/>
          <a:p>
            <a:pPr marL="0" indent="0">
              <a:buNone/>
            </a:pPr>
            <a:r>
              <a:rPr lang="en-US" sz="1450" dirty="0">
                <a:solidFill>
                  <a:srgbClr val="3A3A38"/>
                </a:solidFill>
                <a:latin typeface="Calibri" pitchFamily="34" charset="0"/>
                <a:ea typeface="Calibri" pitchFamily="34" charset="-122"/>
                <a:cs typeface="Calibri" pitchFamily="34" charset="-120"/>
              </a:rPr>
              <a:t>El tercer paso es el importante: el candidato se entrena sin poder escribir en models/. Si se guardara siempre, un reentrenamiento malo pisaría el modelo bueno antes de que nadie pudiera revisarlo.</a:t>
            </a:r>
            <a:endParaRPr lang="en-US" sz="1450" dirty="0"/>
          </a:p>
        </p:txBody>
      </p:sp>
      <p:sp>
        <p:nvSpPr>
          <p:cNvPr id="6" name="Shape 3"/>
          <p:cNvSpPr/>
          <p:nvPr/>
        </p:nvSpPr>
        <p:spPr>
          <a:xfrm>
            <a:off x="640080" y="5029200"/>
            <a:ext cx="10908792" cy="914400"/>
          </a:xfrm>
          <a:prstGeom prst="roundRect">
            <a:avLst>
              <a:gd name="adj" fmla="val 8000"/>
            </a:avLst>
          </a:prstGeom>
          <a:solidFill>
            <a:srgbClr val="E7E8D1"/>
          </a:solidFill>
          <a:ln w="12700">
            <a:solidFill>
              <a:srgbClr val="E7E8D1"/>
            </a:solidFill>
            <a:prstDash val="solid"/>
          </a:ln>
        </p:spPr>
      </p:sp>
      <p:sp>
        <p:nvSpPr>
          <p:cNvPr id="7" name="Text 4"/>
          <p:cNvSpPr txBox="1"/>
          <p:nvPr/>
        </p:nvSpPr>
        <p:spPr>
          <a:xfrm>
            <a:off x="841248" y="5148072"/>
            <a:ext cx="10506456" cy="365760"/>
          </a:xfrm>
          <a:prstGeom prst="rect">
            <a:avLst/>
          </a:prstGeom>
          <a:noFill/>
          <a:ln/>
        </p:spPr>
        <p:txBody>
          <a:bodyPr wrap="square" lIns="0" tIns="0" rIns="0" bIns="0" rtlCol="0" anchor="ctr"/>
          <a:lstStyle/>
          <a:p>
            <a:pPr marL="0" indent="0">
              <a:buNone/>
            </a:pPr>
            <a:r>
              <a:rPr lang="en-US" sz="1400" b="1" dirty="0">
                <a:solidFill>
                  <a:srgbClr val="B85042"/>
                </a:solidFill>
                <a:latin typeface="Courier New" pitchFamily="34" charset="0"/>
                <a:ea typeface="Courier New" pitchFamily="34" charset="-122"/>
                <a:cs typeface="Courier New" pitchFamily="34" charset="-120"/>
              </a:rPr>
              <a:t>github.com/htacoav/StartUpMCD/actions  ·  Mantenimiento del modelo</a:t>
            </a:r>
            <a:endParaRPr lang="en-US" sz="1400" dirty="0"/>
          </a:p>
        </p:txBody>
      </p:sp>
      <p:sp>
        <p:nvSpPr>
          <p:cNvPr id="8" name="Text 5"/>
          <p:cNvSpPr txBox="1"/>
          <p:nvPr/>
        </p:nvSpPr>
        <p:spPr>
          <a:xfrm>
            <a:off x="841248" y="5513832"/>
            <a:ext cx="10506456" cy="320040"/>
          </a:xfrm>
          <a:prstGeom prst="rect">
            <a:avLst/>
          </a:prstGeom>
          <a:noFill/>
          <a:ln/>
        </p:spPr>
        <p:txBody>
          <a:bodyPr wrap="square" lIns="0" tIns="0" rIns="0" bIns="0" rtlCol="0" anchor="ctr"/>
          <a:lstStyle/>
          <a:p>
            <a:pPr marL="0" indent="0">
              <a:buNone/>
            </a:pPr>
            <a:r>
              <a:rPr lang="en-US" sz="1200" dirty="0">
                <a:solidFill>
                  <a:srgbClr val="3A3A38"/>
                </a:solidFill>
                <a:latin typeface="Calibri" pitchFamily="34" charset="0"/>
                <a:ea typeface="Calibri" pitchFamily="34" charset="-122"/>
                <a:cs typeface="Calibri" pitchFamily="34" charset="-120"/>
              </a:rPr>
              <a:t>Se dispara con el botón Run workflow y deja su resumen, el reporte de deriva y un issue si algo amerita revisión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Deriva de datos</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La razón por la que un modelo se echa a perder solo</a:t>
            </a:r>
            <a:endParaRPr lang="en-US" sz="1400" dirty="0"/>
          </a:p>
        </p:txBody>
      </p:sp>
      <p:sp>
        <p:nvSpPr>
          <p:cNvPr id="4" name="Text 2"/>
          <p:cNvSpPr txBox="1"/>
          <p:nvPr/>
        </p:nvSpPr>
        <p:spPr>
          <a:xfrm>
            <a:off x="640080" y="1691640"/>
            <a:ext cx="10908792" cy="731520"/>
          </a:xfrm>
          <a:prstGeom prst="rect">
            <a:avLst/>
          </a:prstGeom>
          <a:noFill/>
          <a:ln/>
        </p:spPr>
        <p:txBody>
          <a:bodyPr wrap="square" lIns="0" tIns="0" rIns="0" bIns="0" rtlCol="0" anchor="ctr"/>
          <a:lstStyle/>
          <a:p>
            <a:pPr marL="0" indent="0">
              <a:buNone/>
            </a:pPr>
            <a:r>
              <a:rPr lang="en-US" sz="1500" dirty="0">
                <a:solidFill>
                  <a:srgbClr val="3A3A38"/>
                </a:solidFill>
                <a:latin typeface="Calibri" pitchFamily="34" charset="0"/>
                <a:ea typeface="Calibri" pitchFamily="34" charset="-122"/>
                <a:cs typeface="Calibri" pitchFamily="34" charset="-120"/>
              </a:rPr>
              <a:t>El modelo aprendió de una distribución. Si los emprendimientos que consultan la aplicación empiezan a ser distintos, las predicciones pierden validez mientras el servicio sigue respondiendo con total normalidad.</a:t>
            </a:r>
            <a:endParaRPr lang="en-US" sz="1500" dirty="0"/>
          </a:p>
        </p:txBody>
      </p:sp>
      <p:sp>
        <p:nvSpPr>
          <p:cNvPr id="5" name="Shape 3"/>
          <p:cNvSpPr/>
          <p:nvPr/>
        </p:nvSpPr>
        <p:spPr>
          <a:xfrm>
            <a:off x="640080" y="2560320"/>
            <a:ext cx="5317236" cy="1737360"/>
          </a:xfrm>
          <a:prstGeom prst="roundRect">
            <a:avLst>
              <a:gd name="adj" fmla="val 4211"/>
            </a:avLst>
          </a:prstGeom>
          <a:solidFill>
            <a:srgbClr val="E7E8D1"/>
          </a:solidFill>
          <a:ln w="12700">
            <a:solidFill>
              <a:srgbClr val="E7E8D1"/>
            </a:solidFill>
            <a:prstDash val="solid"/>
          </a:ln>
        </p:spPr>
      </p:sp>
      <p:sp>
        <p:nvSpPr>
          <p:cNvPr id="6" name="Text 4"/>
          <p:cNvSpPr txBox="1"/>
          <p:nvPr/>
        </p:nvSpPr>
        <p:spPr>
          <a:xfrm>
            <a:off x="841248" y="2706624"/>
            <a:ext cx="4914900"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Primera vía de alerta</a:t>
            </a:r>
            <a:endParaRPr lang="en-US" sz="1400" dirty="0"/>
          </a:p>
        </p:txBody>
      </p:sp>
      <p:sp>
        <p:nvSpPr>
          <p:cNvPr id="7" name="Text 5"/>
          <p:cNvSpPr txBox="1"/>
          <p:nvPr/>
        </p:nvSpPr>
        <p:spPr>
          <a:xfrm>
            <a:off x="841248" y="3035808"/>
            <a:ext cx="4914900" cy="109728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Si al menos el 30 % de las variables se movio. Es mas estricto que el 50 % que Evidently usa por omision.</a:t>
            </a:r>
            <a:endParaRPr lang="en-US" sz="1250" dirty="0"/>
          </a:p>
        </p:txBody>
      </p:sp>
      <p:sp>
        <p:nvSpPr>
          <p:cNvPr id="8" name="Shape 6"/>
          <p:cNvSpPr/>
          <p:nvPr/>
        </p:nvSpPr>
        <p:spPr>
          <a:xfrm>
            <a:off x="6231636" y="2560320"/>
            <a:ext cx="5317236" cy="1737360"/>
          </a:xfrm>
          <a:prstGeom prst="roundRect">
            <a:avLst>
              <a:gd name="adj" fmla="val 4211"/>
            </a:avLst>
          </a:prstGeom>
          <a:solidFill>
            <a:srgbClr val="E7E8D1"/>
          </a:solidFill>
          <a:ln w="12700">
            <a:solidFill>
              <a:srgbClr val="E7E8D1"/>
            </a:solidFill>
            <a:prstDash val="solid"/>
          </a:ln>
        </p:spPr>
      </p:sp>
      <p:sp>
        <p:nvSpPr>
          <p:cNvPr id="9" name="Text 7"/>
          <p:cNvSpPr txBox="1"/>
          <p:nvPr/>
        </p:nvSpPr>
        <p:spPr>
          <a:xfrm>
            <a:off x="6432804" y="2706624"/>
            <a:ext cx="4914900" cy="310896"/>
          </a:xfrm>
          <a:prstGeom prst="rect">
            <a:avLst/>
          </a:prstGeom>
          <a:noFill/>
          <a:ln/>
        </p:spPr>
        <p:txBody>
          <a:bodyPr wrap="square" lIns="0" tIns="0" rIns="0" bIns="0" rtlCol="0" anchor="ctr"/>
          <a:lstStyle/>
          <a:p>
            <a:pPr marL="0" indent="0">
              <a:buNone/>
            </a:pPr>
            <a:r>
              <a:rPr lang="en-US" sz="1400" b="1" dirty="0">
                <a:solidFill>
                  <a:srgbClr val="5F7F6E"/>
                </a:solidFill>
                <a:latin typeface="Calibri" pitchFamily="34" charset="0"/>
                <a:ea typeface="Calibri" pitchFamily="34" charset="-122"/>
                <a:cs typeface="Calibri" pitchFamily="34" charset="-120"/>
              </a:rPr>
              <a:t>Segunda vía de alerta</a:t>
            </a:r>
            <a:endParaRPr lang="en-US" sz="1400" dirty="0"/>
          </a:p>
        </p:txBody>
      </p:sp>
      <p:sp>
        <p:nvSpPr>
          <p:cNvPr id="10" name="Text 8"/>
          <p:cNvSpPr txBox="1"/>
          <p:nvPr/>
        </p:nvSpPr>
        <p:spPr>
          <a:xfrm>
            <a:off x="6432804" y="3035808"/>
            <a:ext cx="4914900" cy="109728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Si se movio cualquiera de las cinco variables mas importantes, sin importar cuantas sean. Esta se agrego despues, y por una buena razon.</a:t>
            </a:r>
            <a:endParaRPr lang="en-US" sz="1250" dirty="0"/>
          </a:p>
        </p:txBody>
      </p:sp>
      <p:sp>
        <p:nvSpPr>
          <p:cNvPr id="11" name="Text 9"/>
          <p:cNvSpPr txBox="1"/>
          <p:nvPr/>
        </p:nvSpPr>
        <p:spPr>
          <a:xfrm>
            <a:off x="640080" y="4526280"/>
            <a:ext cx="10908792" cy="822960"/>
          </a:xfrm>
          <a:prstGeom prst="rect">
            <a:avLst/>
          </a:prstGeom>
          <a:noFill/>
          <a:ln/>
        </p:spPr>
        <p:txBody>
          <a:bodyPr wrap="square" lIns="0" tIns="0" rIns="0" bIns="0" rtlCol="0" anchor="ctr"/>
          <a:lstStyle/>
          <a:p>
            <a:pPr marL="0" indent="0">
              <a:buNone/>
            </a:pPr>
            <a:r>
              <a:rPr lang="en-US" sz="1400" i="1" dirty="0">
                <a:solidFill>
                  <a:srgbClr val="B85042"/>
                </a:solidFill>
                <a:latin typeface="Calibri" pitchFamily="34" charset="0"/>
                <a:ea typeface="Calibri" pitchFamily="34" charset="-122"/>
                <a:cs typeface="Calibri" pitchFamily="34" charset="-120"/>
              </a:rPr>
              <a:t>La segunda vía salió de verificar el flujo en el tiempo: una deriva fuerte pero concentrada en dos columnas daba 11 % y nunca avisaba, aunque esas dos eran el clima macroeconómico y el gasto mensual, dos de las cinco que más pesan.</a:t>
            </a:r>
            <a:endParaRPr lang="en-US" sz="1400" dirty="0"/>
          </a:p>
        </p:txBody>
      </p:sp>
      <p:sp>
        <p:nvSpPr>
          <p:cNvPr id="12" name="Text 10"/>
          <p:cNvSpPr txBox="1"/>
          <p:nvPr/>
        </p:nvSpPr>
        <p:spPr>
          <a:xfrm>
            <a:off x="640080" y="6108192"/>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Hay una prueba automatizada que fija ese comportamiento: pocas columnas alcanzan si son de las críticas.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Las cuatro puertas de calidad</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Un pipeline que promueve cualquier cosa es peor que no tener pipeline</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2834640"/>
        </p:xfrm>
        <a:graphic>
          <a:graphicData uri="http://schemas.openxmlformats.org/drawingml/2006/table">
            <a:tbl>
              <a:tblPr/>
              <a:tblGrid>
                <a:gridCol w="23774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507992">
                  <a:extLst>
                    <a:ext uri="{9D8B030D-6E8A-4147-A177-3AD203B41FA5}">
                      <a16:colId xmlns:a16="http://schemas.microsoft.com/office/drawing/2014/main" val="20002"/>
                    </a:ext>
                  </a:extLst>
                </a:gridCol>
              </a:tblGrid>
              <a:tr h="566928">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Condición</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Qué se exige</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Por qué</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56692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ROC-AUC</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No menos de 0.70</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Piso absoluto de capacidad predictiva</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Exactitud balanceada</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No menos de 0.65</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Obliga a acertar en las dos clases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56692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Proporción señalada</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Menos del 80 %</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Descarta el clasificador degenerado</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250" b="1" dirty="0">
                          <a:solidFill>
                            <a:srgbClr val="B85042"/>
                          </a:solidFill>
                          <a:latin typeface="Calibri" pitchFamily="34" charset="0"/>
                          <a:ea typeface="Calibri" pitchFamily="34" charset="-122"/>
                          <a:cs typeface="Calibri" pitchFamily="34" charset="-120"/>
                        </a:rPr>
                        <a:t>Mejora sobre el vigente</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b="1" dirty="0">
                          <a:solidFill>
                            <a:srgbClr val="B85042"/>
                          </a:solidFill>
                          <a:latin typeface="Calibri" pitchFamily="34" charset="0"/>
                          <a:ea typeface="Calibri" pitchFamily="34" charset="-122"/>
                          <a:cs typeface="Calibri" pitchFamily="34" charset="-120"/>
                        </a:rPr>
                        <a:t>Al menos 0.002 de AUC, medido sobre consultas reales apartadas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b="1" dirty="0">
                          <a:solidFill>
                            <a:srgbClr val="B85042"/>
                          </a:solidFill>
                          <a:latin typeface="Calibri" pitchFamily="34" charset="0"/>
                          <a:ea typeface="Calibri" pitchFamily="34" charset="-122"/>
                          <a:cs typeface="Calibri" pitchFamily="34" charset="-120"/>
                        </a:rPr>
                        <a:t>Evita redesplegar por ruido y mide sobre la población que la aplicación atiende</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640080" y="4572000"/>
            <a:ext cx="10908792" cy="914400"/>
          </a:xfrm>
          <a:prstGeom prst="rect">
            <a:avLst/>
          </a:prstGeom>
          <a:noFill/>
          <a:ln/>
        </p:spPr>
        <p:txBody>
          <a:bodyPr wrap="square" lIns="0" tIns="0" rIns="0" bIns="0" rtlCol="0" anchor="ctr"/>
          <a:lstStyle/>
          <a:p>
            <a:pPr marL="0" indent="0">
              <a:buNone/>
            </a:pPr>
            <a:r>
              <a:rPr lang="en-US" sz="1350" i="1" dirty="0">
                <a:solidFill>
                  <a:srgbClr val="B85042"/>
                </a:solidFill>
                <a:latin typeface="Calibri" pitchFamily="34" charset="0"/>
                <a:ea typeface="Calibri" pitchFamily="34" charset="-122"/>
                <a:cs typeface="Calibri" pitchFamily="34" charset="-120"/>
              </a:rPr>
              <a:t>La cuarta se corrigió después de verificar el flujo en el tiempo. Comparando sobre el dataset completo, el candidato daba 0.7431 contra 0.7469 y se rechazaba siempre; sobre las consultas reales daba 0.6650 contra 0.6484. Las 48 000 filas históricas tapaban la señal de unos pocos miles de casos reales.</a:t>
            </a:r>
            <a:endParaRPr lang="en-US" sz="1350" dirty="0"/>
          </a:p>
        </p:txBody>
      </p:sp>
      <p:sp>
        <p:nvSpPr>
          <p:cNvPr id="6" name="Text 3"/>
          <p:cNvSpPr txBox="1"/>
          <p:nvPr/>
        </p:nvSpPr>
        <p:spPr>
          <a:xfrm>
            <a:off x="640080" y="6108192"/>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Las cuatro condiciones tienen que cumplirse a la vez.</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MLflow: el historial del modelo</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Cada reentrenamiento queda registrado, se promueva o no</a:t>
            </a:r>
            <a:endParaRPr lang="en-US" sz="1400" dirty="0"/>
          </a:p>
        </p:txBody>
      </p:sp>
      <p:pic>
        <p:nvPicPr>
          <p:cNvPr id="4" name="Image 0" descr="docs/capturas/mlflow.png"/>
          <p:cNvPicPr>
            <a:picLocks noChangeAspect="1"/>
          </p:cNvPicPr>
          <p:nvPr/>
        </p:nvPicPr>
        <p:blipFill>
          <a:blip r:embed="rId3"/>
          <a:stretch>
            <a:fillRect/>
          </a:stretch>
        </p:blipFill>
        <p:spPr>
          <a:xfrm>
            <a:off x="640080" y="1399033"/>
            <a:ext cx="6949440" cy="4618046"/>
          </a:xfrm>
          <a:prstGeom prst="rect">
            <a:avLst/>
          </a:prstGeom>
        </p:spPr>
      </p:pic>
      <p:sp>
        <p:nvSpPr>
          <p:cNvPr id="5" name="Text 2"/>
          <p:cNvSpPr txBox="1"/>
          <p:nvPr/>
        </p:nvSpPr>
        <p:spPr>
          <a:xfrm>
            <a:off x="7955280" y="1828800"/>
            <a:ext cx="3566160" cy="329184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250" dirty="0">
                <a:solidFill>
                  <a:srgbClr val="3A3A38"/>
                </a:solidFill>
                <a:latin typeface="Calibri" pitchFamily="34" charset="0"/>
                <a:ea typeface="Calibri" pitchFamily="34" charset="-122"/>
                <a:cs typeface="Calibri" pitchFamily="34" charset="-120"/>
              </a:rPr>
              <a:t>Hiperparámetros, métricas y proporción de deriva de cada corrida.</a:t>
            </a:r>
            <a:endParaRPr lang="en-US" sz="1250" dirty="0"/>
          </a:p>
          <a:p>
            <a:pPr marL="342900" indent="-342900">
              <a:lnSpc>
                <a:spcPts val="2200"/>
              </a:lnSpc>
              <a:spcAft>
                <a:spcPts val="1000"/>
              </a:spcAft>
              <a:buSzPct val="100000"/>
              <a:buChar char="•"/>
            </a:pPr>
            <a:r>
              <a:rPr lang="en-US" sz="1250" dirty="0">
                <a:solidFill>
                  <a:srgbClr val="3A3A38"/>
                </a:solidFill>
                <a:latin typeface="Calibri" pitchFamily="34" charset="0"/>
                <a:ea typeface="Calibri" pitchFamily="34" charset="-122"/>
                <a:cs typeface="Calibri" pitchFamily="34" charset="-120"/>
              </a:rPr>
              <a:t>El AUC sobre las consultas reales, que es el número con el que se decide.</a:t>
            </a:r>
            <a:endParaRPr lang="en-US" sz="1250" dirty="0"/>
          </a:p>
          <a:p>
            <a:pPr marL="342900" indent="-342900">
              <a:lnSpc>
                <a:spcPts val="2200"/>
              </a:lnSpc>
              <a:spcAft>
                <a:spcPts val="1000"/>
              </a:spcAft>
              <a:buSzPct val="100000"/>
              <a:buChar char="•"/>
            </a:pPr>
            <a:r>
              <a:rPr lang="en-US" sz="1250" dirty="0">
                <a:solidFill>
                  <a:srgbClr val="3A3A38"/>
                </a:solidFill>
                <a:latin typeface="Calibri" pitchFamily="34" charset="0"/>
                <a:ea typeface="Calibri" pitchFamily="34" charset="-122"/>
                <a:cs typeface="Calibri" pitchFamily="34" charset="-120"/>
              </a:rPr>
              <a:t>La etiqueta de si se promovió y el motivo escrito.</a:t>
            </a:r>
            <a:endParaRPr lang="en-US" sz="1250" dirty="0"/>
          </a:p>
          <a:p>
            <a:pPr marL="342900" indent="-342900">
              <a:lnSpc>
                <a:spcPts val="2200"/>
              </a:lnSpc>
              <a:spcAft>
                <a:spcPts val="1000"/>
              </a:spcAft>
              <a:buSzPct val="100000"/>
              <a:buChar char="•"/>
            </a:pPr>
            <a:r>
              <a:rPr lang="en-US" sz="1250" dirty="0">
                <a:solidFill>
                  <a:srgbClr val="3A3A38"/>
                </a:solidFill>
                <a:latin typeface="Calibri" pitchFamily="34" charset="0"/>
                <a:ea typeface="Calibri" pitchFamily="34" charset="-122"/>
                <a:cs typeface="Calibri" pitchFamily="34" charset="-120"/>
              </a:rPr>
              <a:t>El modelo serializado y el reporte de deriva como artefactos.</a:t>
            </a:r>
            <a:endParaRPr lang="en-US" sz="1250" dirty="0"/>
          </a:p>
          <a:p>
            <a:pPr marL="342900" indent="-342900">
              <a:lnSpc>
                <a:spcPts val="2200"/>
              </a:lnSpc>
              <a:spcAft>
                <a:spcPts val="1000"/>
              </a:spcAft>
              <a:buSzPct val="100000"/>
              <a:buChar char="•"/>
            </a:pPr>
            <a:r>
              <a:rPr lang="en-US" sz="1250" dirty="0">
                <a:solidFill>
                  <a:srgbClr val="3A3A38"/>
                </a:solidFill>
                <a:latin typeface="Calibri" pitchFamily="34" charset="0"/>
                <a:ea typeface="Calibri" pitchFamily="34" charset="-122"/>
                <a:cs typeface="Calibri" pitchFamily="34" charset="-120"/>
              </a:rPr>
              <a:t>Un alias señala qué versión está atendiendo en producción.</a:t>
            </a:r>
            <a:endParaRPr lang="en-US" sz="1250" dirty="0"/>
          </a:p>
        </p:txBody>
      </p:sp>
      <p:sp>
        <p:nvSpPr>
          <p:cNvPr id="6" name="Text 3"/>
          <p:cNvSpPr txBox="1"/>
          <p:nvPr/>
        </p:nvSpPr>
        <p:spPr>
          <a:xfrm>
            <a:off x="640080" y="6108192"/>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Se registra también el modelo que NO se promovió: guardar los rechazados permite reconstruir la historia completa.</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1097280" y="4937760"/>
            <a:ext cx="3108960" cy="3108960"/>
          </a:xfrm>
          <a:prstGeom prst="ellipse">
            <a:avLst/>
          </a:prstGeom>
          <a:solidFill>
            <a:srgbClr val="B85042"/>
          </a:solidFill>
          <a:ln w="12700">
            <a:solidFill>
              <a:srgbClr val="B85042"/>
            </a:solidFill>
            <a:prstDash val="solid"/>
          </a:ln>
        </p:spPr>
      </p:sp>
      <p:sp>
        <p:nvSpPr>
          <p:cNvPr id="3" name="Text 1"/>
          <p:cNvSpPr txBox="1"/>
          <p:nvPr/>
        </p:nvSpPr>
        <p:spPr>
          <a:xfrm>
            <a:off x="640080" y="822960"/>
            <a:ext cx="10908792" cy="457200"/>
          </a:xfrm>
          <a:prstGeom prst="rect">
            <a:avLst/>
          </a:prstGeom>
          <a:noFill/>
          <a:ln/>
        </p:spPr>
        <p:txBody>
          <a:bodyPr wrap="square" lIns="0" tIns="0" rIns="0" bIns="0" rtlCol="0" anchor="ctr"/>
          <a:lstStyle/>
          <a:p>
            <a:pPr marL="0" indent="0">
              <a:buNone/>
            </a:pPr>
            <a:r>
              <a:rPr lang="en-US" sz="1500" kern="0" spc="100" dirty="0">
                <a:solidFill>
                  <a:srgbClr val="E7E8D1"/>
                </a:solidFill>
                <a:latin typeface="Calibri" pitchFamily="34" charset="0"/>
                <a:ea typeface="Calibri" pitchFamily="34" charset="-122"/>
                <a:cs typeface="Calibri" pitchFamily="34" charset="-120"/>
              </a:rPr>
              <a:t>La decisión de diseño más importante</a:t>
            </a:r>
            <a:endParaRPr lang="en-US" sz="1500" dirty="0"/>
          </a:p>
        </p:txBody>
      </p:sp>
      <p:sp>
        <p:nvSpPr>
          <p:cNvPr id="4" name="Text 2"/>
          <p:cNvSpPr txBox="1"/>
          <p:nvPr/>
        </p:nvSpPr>
        <p:spPr>
          <a:xfrm>
            <a:off x="640080" y="1463040"/>
            <a:ext cx="10058400" cy="1097280"/>
          </a:xfrm>
          <a:prstGeom prst="rect">
            <a:avLst/>
          </a:prstGeom>
          <a:noFill/>
          <a:ln/>
        </p:spPr>
        <p:txBody>
          <a:bodyPr wrap="square" lIns="0" tIns="0" rIns="0" bIns="0" rtlCol="0" anchor="ctr"/>
          <a:lstStyle/>
          <a:p>
            <a:pPr marL="0" indent="0">
              <a:lnSpc>
                <a:spcPts val="4200"/>
              </a:lnSpc>
              <a:buNone/>
            </a:pPr>
            <a:r>
              <a:rPr lang="en-US" sz="3400" b="1" dirty="0">
                <a:solidFill>
                  <a:srgbClr val="FFFFFF"/>
                </a:solidFill>
                <a:latin typeface="Cambria" pitchFamily="34" charset="0"/>
                <a:ea typeface="Cambria" pitchFamily="34" charset="-122"/>
                <a:cs typeface="Cambria" pitchFamily="34" charset="-120"/>
              </a:rPr>
              <a:t>El mantenimiento no despliega por su cuenta</a:t>
            </a:r>
            <a:endParaRPr lang="en-US" sz="3400" dirty="0"/>
          </a:p>
        </p:txBody>
      </p:sp>
      <p:sp>
        <p:nvSpPr>
          <p:cNvPr id="5" name="Text 3"/>
          <p:cNvSpPr txBox="1"/>
          <p:nvPr/>
        </p:nvSpPr>
        <p:spPr>
          <a:xfrm>
            <a:off x="640080" y="2743200"/>
            <a:ext cx="9601200" cy="1097280"/>
          </a:xfrm>
          <a:prstGeom prst="rect">
            <a:avLst/>
          </a:prstGeom>
          <a:noFill/>
          <a:ln/>
        </p:spPr>
        <p:txBody>
          <a:bodyPr wrap="square" lIns="0" tIns="0" rIns="0" bIns="0" rtlCol="0" anchor="ctr"/>
          <a:lstStyle/>
          <a:p>
            <a:pPr marL="0" indent="0">
              <a:lnSpc>
                <a:spcPts val="2400"/>
              </a:lnSpc>
              <a:buNone/>
            </a:pPr>
            <a:r>
              <a:rPr lang="en-US" sz="1600" dirty="0">
                <a:solidFill>
                  <a:srgbClr val="E7E8D1"/>
                </a:solidFill>
                <a:latin typeface="Calibri" pitchFamily="34" charset="0"/>
                <a:ea typeface="Calibri" pitchFamily="34" charset="-122"/>
                <a:cs typeface="Calibri" pitchFamily="34" charset="-120"/>
              </a:rPr>
              <a:t>Cuando el modelo mejora, el flujo hace un commit. Ese commit dispara la integración continua, así que el modelo reentrenado pasa por exactamente las mismas 61 pruebas, la misma construcción de imagen y la misma vuelta atrás que cualquier cambio hecho por una persona.</a:t>
            </a:r>
            <a:endParaRPr lang="en-US" sz="1600" dirty="0"/>
          </a:p>
        </p:txBody>
      </p:sp>
      <p:sp>
        <p:nvSpPr>
          <p:cNvPr id="6" name="Text 4"/>
          <p:cNvSpPr txBox="1"/>
          <p:nvPr/>
        </p:nvSpPr>
        <p:spPr>
          <a:xfrm>
            <a:off x="640080" y="4114800"/>
            <a:ext cx="9601200" cy="822960"/>
          </a:xfrm>
          <a:prstGeom prst="rect">
            <a:avLst/>
          </a:prstGeom>
          <a:noFill/>
          <a:ln/>
        </p:spPr>
        <p:txBody>
          <a:bodyPr wrap="square" lIns="0" tIns="0" rIns="0" bIns="0" rtlCol="0" anchor="ctr"/>
          <a:lstStyle/>
          <a:p>
            <a:pPr marL="0" indent="0">
              <a:lnSpc>
                <a:spcPts val="2200"/>
              </a:lnSpc>
              <a:buNone/>
            </a:pPr>
            <a:r>
              <a:rPr lang="en-US" sz="1500" i="1" dirty="0">
                <a:solidFill>
                  <a:srgbClr val="5F7F6E"/>
                </a:solidFill>
                <a:latin typeface="Calibri" pitchFamily="34" charset="0"/>
                <a:ea typeface="Calibri" pitchFamily="34" charset="-122"/>
                <a:cs typeface="Calibri" pitchFamily="34" charset="-120"/>
              </a:rPr>
              <a:t>Un flujo que desplegara solo sería una segunda puerta de entrada a producción, con sus propias validaciones y sus propios errores. Así hay una sola.</a:t>
            </a:r>
            <a:endParaRPr lang="en-US" sz="1500" dirty="0"/>
          </a:p>
        </p:txBody>
      </p:sp>
      <p:sp>
        <p:nvSpPr>
          <p:cNvPr id="7" name="Text 5"/>
          <p:cNvSpPr txBox="1"/>
          <p:nvPr/>
        </p:nvSpPr>
        <p:spPr>
          <a:xfrm>
            <a:off x="640080" y="5120640"/>
            <a:ext cx="9601200" cy="822960"/>
          </a:xfrm>
          <a:prstGeom prst="rect">
            <a:avLst/>
          </a:prstGeom>
          <a:noFill/>
          <a:ln/>
        </p:spPr>
        <p:txBody>
          <a:bodyPr wrap="square" lIns="0" tIns="0" rIns="0" bIns="0" rtlCol="0" anchor="ctr"/>
          <a:lstStyle/>
          <a:p>
            <a:pPr marL="0" indent="0">
              <a:lnSpc>
                <a:spcPts val="2000"/>
              </a:lnSpc>
              <a:buNone/>
            </a:pPr>
            <a:r>
              <a:rPr lang="en-US" sz="1400" dirty="0">
                <a:solidFill>
                  <a:srgbClr val="E7E8D1"/>
                </a:solidFill>
                <a:latin typeface="Calibri" pitchFamily="34" charset="0"/>
                <a:ea typeface="Calibri" pitchFamily="34" charset="-122"/>
                <a:cs typeface="Calibri" pitchFamily="34" charset="-120"/>
              </a:rPr>
              <a:t>Y cuando el candidato no pasa las puertas, o cuando hay deriva, abre un issue en vez de desplegar. El sistema no intenta resolver solo algo que necesita criterio humano.</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Caso 1: un cambio en el código</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Que la automatización no se pueda esquivar</a:t>
            </a:r>
            <a:endParaRPr lang="en-US" sz="1400" dirty="0"/>
          </a:p>
        </p:txBody>
      </p:sp>
      <p:sp>
        <p:nvSpPr>
          <p:cNvPr id="4" name="Shape 2"/>
          <p:cNvSpPr/>
          <p:nvPr/>
        </p:nvSpPr>
        <p:spPr>
          <a:xfrm>
            <a:off x="640080" y="1691640"/>
            <a:ext cx="10908792" cy="1188720"/>
          </a:xfrm>
          <a:prstGeom prst="roundRect">
            <a:avLst>
              <a:gd name="adj" fmla="val 6154"/>
            </a:avLst>
          </a:prstGeom>
          <a:solidFill>
            <a:srgbClr val="E7E8D1"/>
          </a:solidFill>
          <a:ln w="12700">
            <a:solidFill>
              <a:srgbClr val="E7E8D1"/>
            </a:solidFill>
            <a:prstDash val="solid"/>
          </a:ln>
        </p:spPr>
      </p:sp>
      <p:sp>
        <p:nvSpPr>
          <p:cNvPr id="5" name="Text 3"/>
          <p:cNvSpPr txBox="1"/>
          <p:nvPr/>
        </p:nvSpPr>
        <p:spPr>
          <a:xfrm>
            <a:off x="841248" y="1837944"/>
            <a:ext cx="10506456"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El cambio</a:t>
            </a:r>
            <a:endParaRPr lang="en-US" sz="1400" dirty="0"/>
          </a:p>
        </p:txBody>
      </p:sp>
      <p:sp>
        <p:nvSpPr>
          <p:cNvPr id="6" name="Text 4"/>
          <p:cNvSpPr txBox="1"/>
          <p:nvPr/>
        </p:nvSpPr>
        <p:spPr>
          <a:xfrm>
            <a:off x="841248" y="2167128"/>
            <a:ext cx="10506456" cy="54864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Se llevo la mejora minima exigida para reemplazar el modelo de 0.002 a un valor negativo. Con eso el sistema pasaria a promover modelos peores que el vigente, degradando el servicio solo y en silencio.</a:t>
            </a:r>
            <a:endParaRPr lang="en-US" sz="1250" dirty="0"/>
          </a:p>
        </p:txBody>
      </p:sp>
      <p:sp>
        <p:nvSpPr>
          <p:cNvPr id="7" name="Shape 5"/>
          <p:cNvSpPr/>
          <p:nvPr/>
        </p:nvSpPr>
        <p:spPr>
          <a:xfrm>
            <a:off x="640080" y="3017520"/>
            <a:ext cx="5317236" cy="1463040"/>
          </a:xfrm>
          <a:prstGeom prst="roundRect">
            <a:avLst>
              <a:gd name="adj" fmla="val 5000"/>
            </a:avLst>
          </a:prstGeom>
          <a:solidFill>
            <a:srgbClr val="E7E8D1"/>
          </a:solidFill>
          <a:ln w="12700">
            <a:solidFill>
              <a:srgbClr val="E7E8D1"/>
            </a:solidFill>
            <a:prstDash val="solid"/>
          </a:ln>
        </p:spPr>
      </p:sp>
      <p:sp>
        <p:nvSpPr>
          <p:cNvPr id="8" name="Text 6"/>
          <p:cNvSpPr txBox="1"/>
          <p:nvPr/>
        </p:nvSpPr>
        <p:spPr>
          <a:xfrm>
            <a:off x="841248" y="3163824"/>
            <a:ext cx="4914900" cy="310896"/>
          </a:xfrm>
          <a:prstGeom prst="rect">
            <a:avLst/>
          </a:prstGeom>
          <a:noFill/>
          <a:ln/>
        </p:spPr>
        <p:txBody>
          <a:bodyPr wrap="square" lIns="0" tIns="0" rIns="0" bIns="0" rtlCol="0" anchor="ctr"/>
          <a:lstStyle/>
          <a:p>
            <a:pPr marL="0" indent="0">
              <a:buNone/>
            </a:pPr>
            <a:r>
              <a:rPr lang="en-US" sz="1400" b="1" dirty="0">
                <a:solidFill>
                  <a:srgbClr val="7A756E"/>
                </a:solidFill>
                <a:latin typeface="Calibri" pitchFamily="34" charset="0"/>
                <a:ea typeface="Calibri" pitchFamily="34" charset="-122"/>
                <a:cs typeface="Calibri" pitchFamily="34" charset="-120"/>
              </a:rPr>
              <a:t>Lo esperado</a:t>
            </a:r>
            <a:endParaRPr lang="en-US" sz="1400" dirty="0"/>
          </a:p>
        </p:txBody>
      </p:sp>
      <p:sp>
        <p:nvSpPr>
          <p:cNvPr id="9" name="Text 7"/>
          <p:cNvSpPr txBox="1"/>
          <p:nvPr/>
        </p:nvSpPr>
        <p:spPr>
          <a:xfrm>
            <a:off x="841248" y="3493008"/>
            <a:ext cx="4914900" cy="82296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El estilo pasa, porque el cambio es valido. Las pruebas fallan. La imagen no se construye y el despliegue no ocurre.</a:t>
            </a:r>
            <a:endParaRPr lang="en-US" sz="1250" dirty="0"/>
          </a:p>
        </p:txBody>
      </p:sp>
      <p:sp>
        <p:nvSpPr>
          <p:cNvPr id="10" name="Shape 8"/>
          <p:cNvSpPr/>
          <p:nvPr/>
        </p:nvSpPr>
        <p:spPr>
          <a:xfrm>
            <a:off x="6231636" y="3017520"/>
            <a:ext cx="5317236" cy="1463040"/>
          </a:xfrm>
          <a:prstGeom prst="roundRect">
            <a:avLst>
              <a:gd name="adj" fmla="val 5000"/>
            </a:avLst>
          </a:prstGeom>
          <a:solidFill>
            <a:srgbClr val="E7E8D1"/>
          </a:solidFill>
          <a:ln w="12700">
            <a:solidFill>
              <a:srgbClr val="E7E8D1"/>
            </a:solidFill>
            <a:prstDash val="solid"/>
          </a:ln>
        </p:spPr>
      </p:sp>
      <p:sp>
        <p:nvSpPr>
          <p:cNvPr id="11" name="Text 9"/>
          <p:cNvSpPr txBox="1"/>
          <p:nvPr/>
        </p:nvSpPr>
        <p:spPr>
          <a:xfrm>
            <a:off x="6432804" y="3163824"/>
            <a:ext cx="4914900" cy="310896"/>
          </a:xfrm>
          <a:prstGeom prst="rect">
            <a:avLst/>
          </a:prstGeom>
          <a:noFill/>
          <a:ln/>
        </p:spPr>
        <p:txBody>
          <a:bodyPr wrap="square" lIns="0" tIns="0" rIns="0" bIns="0" rtlCol="0" anchor="ctr"/>
          <a:lstStyle/>
          <a:p>
            <a:pPr marL="0" indent="0">
              <a:buNone/>
            </a:pPr>
            <a:r>
              <a:rPr lang="en-US" sz="1400" b="1" dirty="0">
                <a:solidFill>
                  <a:srgbClr val="5F7F6E"/>
                </a:solidFill>
                <a:latin typeface="Calibri" pitchFamily="34" charset="0"/>
                <a:ea typeface="Calibri" pitchFamily="34" charset="-122"/>
                <a:cs typeface="Calibri" pitchFamily="34" charset="-120"/>
              </a:rPr>
              <a:t>Lo obtenido</a:t>
            </a:r>
            <a:endParaRPr lang="en-US" sz="1400" dirty="0"/>
          </a:p>
        </p:txBody>
      </p:sp>
      <p:sp>
        <p:nvSpPr>
          <p:cNvPr id="12" name="Text 10"/>
          <p:cNvSpPr txBox="1"/>
          <p:nvPr/>
        </p:nvSpPr>
        <p:spPr>
          <a:xfrm>
            <a:off x="6432804" y="3493008"/>
            <a:ext cx="4914900" cy="82296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Tres pruebas fallaron: la que exige no promover un modelo peor, la de la mejora insignificante y la de la comparacion sobre consultas reales. El flujo se detuvo ahi.</a:t>
            </a:r>
            <a:endParaRPr lang="en-US" sz="1250" dirty="0"/>
          </a:p>
        </p:txBody>
      </p:sp>
      <p:sp>
        <p:nvSpPr>
          <p:cNvPr id="13" name="Text 11"/>
          <p:cNvSpPr txBox="1"/>
          <p:nvPr/>
        </p:nvSpPr>
        <p:spPr>
          <a:xfrm>
            <a:off x="640080" y="4709160"/>
            <a:ext cx="10908792" cy="640080"/>
          </a:xfrm>
          <a:prstGeom prst="rect">
            <a:avLst/>
          </a:prstGeom>
          <a:noFill/>
          <a:ln/>
        </p:spPr>
        <p:txBody>
          <a:bodyPr wrap="square" lIns="0" tIns="0" rIns="0" bIns="0" rtlCol="0" anchor="ctr"/>
          <a:lstStyle/>
          <a:p>
            <a:pPr marL="0" indent="0">
              <a:buNone/>
            </a:pPr>
            <a:r>
              <a:rPr lang="en-US" sz="1500" i="1" dirty="0">
                <a:solidFill>
                  <a:srgbClr val="3A3A38"/>
                </a:solidFill>
                <a:latin typeface="Calibri" pitchFamily="34" charset="0"/>
                <a:ea typeface="Calibri" pitchFamily="34" charset="-122"/>
                <a:cs typeface="Calibri" pitchFamily="34" charset="-120"/>
              </a:rPr>
              <a:t>Un cambio que degrada el sistema no puede llegar al servidor, con independencia de la intención de quien lo hizo.</a:t>
            </a:r>
            <a:endParaRPr lang="en-US" sz="1500" dirty="0"/>
          </a:p>
        </p:txBody>
      </p:sp>
      <p:sp>
        <p:nvSpPr>
          <p:cNvPr id="14" name="Text 12"/>
          <p:cNvSpPr txBox="1"/>
          <p:nvPr/>
        </p:nvSpPr>
        <p:spPr>
          <a:xfrm>
            <a:off x="640080" y="6108192"/>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Es reproducible: se aplica el mismo cambio y se corre pytest.</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Caso 2: una actualización de dependencia</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Que mantenerse al día no rompa el servicio</a:t>
            </a:r>
            <a:endParaRPr lang="en-US" sz="1400" dirty="0"/>
          </a:p>
        </p:txBody>
      </p:sp>
      <p:sp>
        <p:nvSpPr>
          <p:cNvPr id="4" name="Shape 2"/>
          <p:cNvSpPr/>
          <p:nvPr/>
        </p:nvSpPr>
        <p:spPr>
          <a:xfrm>
            <a:off x="640080" y="1691640"/>
            <a:ext cx="10908792" cy="1188720"/>
          </a:xfrm>
          <a:prstGeom prst="roundRect">
            <a:avLst>
              <a:gd name="adj" fmla="val 6154"/>
            </a:avLst>
          </a:prstGeom>
          <a:solidFill>
            <a:srgbClr val="E7E8D1"/>
          </a:solidFill>
          <a:ln w="12700">
            <a:solidFill>
              <a:srgbClr val="E7E8D1"/>
            </a:solidFill>
            <a:prstDash val="solid"/>
          </a:ln>
        </p:spPr>
      </p:sp>
      <p:sp>
        <p:nvSpPr>
          <p:cNvPr id="5" name="Text 3"/>
          <p:cNvSpPr txBox="1"/>
          <p:nvPr/>
        </p:nvSpPr>
        <p:spPr>
          <a:xfrm>
            <a:off x="841248" y="1837944"/>
            <a:ext cx="10506456"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El cambio</a:t>
            </a:r>
            <a:endParaRPr lang="en-US" sz="1400" dirty="0"/>
          </a:p>
        </p:txBody>
      </p:sp>
      <p:sp>
        <p:nvSpPr>
          <p:cNvPr id="6" name="Text 4"/>
          <p:cNvSpPr txBox="1"/>
          <p:nvPr/>
        </p:nvSpPr>
        <p:spPr>
          <a:xfrm>
            <a:off x="841248" y="2167128"/>
            <a:ext cx="10506456" cy="54864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Dependabot abre cada semana una solicitud por cada version nueva disponible: paquetes de Python, acciones de GitHub e imagen base del contenedor. Cada solicitud es un cambio que modifica una version fijada.</a:t>
            </a:r>
            <a:endParaRPr lang="en-US" sz="1250" dirty="0"/>
          </a:p>
        </p:txBody>
      </p:sp>
      <p:sp>
        <p:nvSpPr>
          <p:cNvPr id="7" name="Shape 5"/>
          <p:cNvSpPr/>
          <p:nvPr/>
        </p:nvSpPr>
        <p:spPr>
          <a:xfrm>
            <a:off x="640080" y="3017520"/>
            <a:ext cx="5317236" cy="1463040"/>
          </a:xfrm>
          <a:prstGeom prst="roundRect">
            <a:avLst>
              <a:gd name="adj" fmla="val 5000"/>
            </a:avLst>
          </a:prstGeom>
          <a:solidFill>
            <a:srgbClr val="E7E8D1"/>
          </a:solidFill>
          <a:ln w="12700">
            <a:solidFill>
              <a:srgbClr val="E7E8D1"/>
            </a:solidFill>
            <a:prstDash val="solid"/>
          </a:ln>
        </p:spPr>
      </p:sp>
      <p:sp>
        <p:nvSpPr>
          <p:cNvPr id="8" name="Text 6"/>
          <p:cNvSpPr txBox="1"/>
          <p:nvPr/>
        </p:nvSpPr>
        <p:spPr>
          <a:xfrm>
            <a:off x="841248" y="3163824"/>
            <a:ext cx="4914900" cy="310896"/>
          </a:xfrm>
          <a:prstGeom prst="rect">
            <a:avLst/>
          </a:prstGeom>
          <a:noFill/>
          <a:ln/>
        </p:spPr>
        <p:txBody>
          <a:bodyPr wrap="square" lIns="0" tIns="0" rIns="0" bIns="0" rtlCol="0" anchor="ctr"/>
          <a:lstStyle/>
          <a:p>
            <a:pPr marL="0" indent="0">
              <a:buNone/>
            </a:pPr>
            <a:r>
              <a:rPr lang="en-US" sz="1400" b="1" dirty="0">
                <a:solidFill>
                  <a:srgbClr val="7A756E"/>
                </a:solidFill>
                <a:latin typeface="Calibri" pitchFamily="34" charset="0"/>
                <a:ea typeface="Calibri" pitchFamily="34" charset="-122"/>
                <a:cs typeface="Calibri" pitchFamily="34" charset="-120"/>
              </a:rPr>
              <a:t>Lo esperado</a:t>
            </a:r>
            <a:endParaRPr lang="en-US" sz="1400" dirty="0"/>
          </a:p>
        </p:txBody>
      </p:sp>
      <p:sp>
        <p:nvSpPr>
          <p:cNvPr id="9" name="Text 7"/>
          <p:cNvSpPr txBox="1"/>
          <p:nvPr/>
        </p:nvSpPr>
        <p:spPr>
          <a:xfrm>
            <a:off x="841248" y="3493008"/>
            <a:ext cx="4914900" cy="82296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La solicitud dispara el flujo, instala lo actualizado y corre las 61 pruebas. Una version incompatible tiene que fallar ahi, antes de poder incorporarse.</a:t>
            </a:r>
            <a:endParaRPr lang="en-US" sz="1250" dirty="0"/>
          </a:p>
        </p:txBody>
      </p:sp>
      <p:sp>
        <p:nvSpPr>
          <p:cNvPr id="10" name="Shape 8"/>
          <p:cNvSpPr/>
          <p:nvPr/>
        </p:nvSpPr>
        <p:spPr>
          <a:xfrm>
            <a:off x="6231636" y="3017520"/>
            <a:ext cx="5317236" cy="1463040"/>
          </a:xfrm>
          <a:prstGeom prst="roundRect">
            <a:avLst>
              <a:gd name="adj" fmla="val 5000"/>
            </a:avLst>
          </a:prstGeom>
          <a:solidFill>
            <a:srgbClr val="E7E8D1"/>
          </a:solidFill>
          <a:ln w="12700">
            <a:solidFill>
              <a:srgbClr val="E7E8D1"/>
            </a:solidFill>
            <a:prstDash val="solid"/>
          </a:ln>
        </p:spPr>
      </p:sp>
      <p:sp>
        <p:nvSpPr>
          <p:cNvPr id="11" name="Text 9"/>
          <p:cNvSpPr txBox="1"/>
          <p:nvPr/>
        </p:nvSpPr>
        <p:spPr>
          <a:xfrm>
            <a:off x="6432804" y="3163824"/>
            <a:ext cx="4914900" cy="310896"/>
          </a:xfrm>
          <a:prstGeom prst="rect">
            <a:avLst/>
          </a:prstGeom>
          <a:noFill/>
          <a:ln/>
        </p:spPr>
        <p:txBody>
          <a:bodyPr wrap="square" lIns="0" tIns="0" rIns="0" bIns="0" rtlCol="0" anchor="ctr"/>
          <a:lstStyle/>
          <a:p>
            <a:pPr marL="0" indent="0">
              <a:buNone/>
            </a:pPr>
            <a:r>
              <a:rPr lang="en-US" sz="1400" b="1" dirty="0">
                <a:solidFill>
                  <a:srgbClr val="5F7F6E"/>
                </a:solidFill>
                <a:latin typeface="Calibri" pitchFamily="34" charset="0"/>
                <a:ea typeface="Calibri" pitchFamily="34" charset="-122"/>
                <a:cs typeface="Calibri" pitchFamily="34" charset="-120"/>
              </a:rPr>
              <a:t>Lo obtenido</a:t>
            </a:r>
            <a:endParaRPr lang="en-US" sz="1400" dirty="0"/>
          </a:p>
        </p:txBody>
      </p:sp>
      <p:sp>
        <p:nvSpPr>
          <p:cNvPr id="12" name="Text 10"/>
          <p:cNvSpPr txBox="1"/>
          <p:nvPr/>
        </p:nvSpPr>
        <p:spPr>
          <a:xfrm>
            <a:off x="6432804" y="3493008"/>
            <a:ext cx="4914900" cy="82296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La suite carga el modelo con la version instalada. Es exactamente la falla que ya ocurrio: un modelo serializado con una version y cargado con otra tumbaba toda la aplicacion.</a:t>
            </a:r>
            <a:endParaRPr lang="en-US" sz="1250" dirty="0"/>
          </a:p>
        </p:txBody>
      </p:sp>
      <p:sp>
        <p:nvSpPr>
          <p:cNvPr id="13" name="Text 11"/>
          <p:cNvSpPr txBox="1"/>
          <p:nvPr/>
        </p:nvSpPr>
        <p:spPr>
          <a:xfrm>
            <a:off x="640080" y="4709160"/>
            <a:ext cx="10908792" cy="731520"/>
          </a:xfrm>
          <a:prstGeom prst="rect">
            <a:avLst/>
          </a:prstGeom>
          <a:noFill/>
          <a:ln/>
        </p:spPr>
        <p:txBody>
          <a:bodyPr wrap="square" lIns="0" tIns="0" rIns="0" bIns="0" rtlCol="0" anchor="ctr"/>
          <a:lstStyle/>
          <a:p>
            <a:pPr marL="0" indent="0">
              <a:buNone/>
            </a:pPr>
            <a:r>
              <a:rPr lang="en-US" sz="1500" i="1" dirty="0">
                <a:solidFill>
                  <a:srgbClr val="B85042"/>
                </a:solidFill>
                <a:latin typeface="Calibri" pitchFamily="34" charset="0"/>
                <a:ea typeface="Calibri" pitchFamily="34" charset="-122"/>
                <a:cs typeface="Calibri" pitchFamily="34" charset="-120"/>
              </a:rPr>
              <a:t>Ese fallo pasó de verdad en producción. Ahora el artefacto guarda con qué versión se generó y una prueba lo compara con la instalada, así el desajuste se detecta en la integración continua y no en el servidor.</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Caso 3: el reentrenamiento del modelo</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Que el modelo se mantenga vigente sin intervención</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0553231"/>
              </p:ext>
            </p:extLst>
          </p:nvPr>
        </p:nvGraphicFramePr>
        <p:xfrm>
          <a:off x="640080" y="1371600"/>
          <a:ext cx="10908792" cy="2057400"/>
        </p:xfrm>
        <a:graphic>
          <a:graphicData uri="http://schemas.openxmlformats.org/drawingml/2006/table">
            <a:tbl>
              <a:tblPr/>
              <a:tblGrid>
                <a:gridCol w="21945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947672">
                  <a:extLst>
                    <a:ext uri="{9D8B030D-6E8A-4147-A177-3AD203B41FA5}">
                      <a16:colId xmlns:a16="http://schemas.microsoft.com/office/drawing/2014/main" val="20004"/>
                    </a:ext>
                  </a:extLst>
                </a:gridCol>
              </a:tblGrid>
              <a:tr h="41148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Ejecución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Con desenlace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AUC vigente</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AUC candidato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Promovido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Primera</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3 500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0.6518</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0.6746</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300" b="1" dirty="0">
                          <a:solidFill>
                            <a:srgbClr val="B85042"/>
                          </a:solidFill>
                          <a:latin typeface="Calibri" pitchFamily="34" charset="0"/>
                          <a:ea typeface="Calibri" pitchFamily="34" charset="-122"/>
                          <a:cs typeface="Calibri" pitchFamily="34" charset="-120"/>
                        </a:rPr>
                        <a:t>Segunda</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3 900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0.6644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0.6622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b="1" dirty="0">
                          <a:solidFill>
                            <a:srgbClr val="B85042"/>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Tercera</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5 100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0.6608</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0.6634</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Cuarta</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6 300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0.6630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0.6650</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ctr">
                        <a:buNone/>
                      </a:pPr>
                      <a:r>
                        <a:rPr lang="en-US" sz="1300" dirty="0">
                          <a:solidFill>
                            <a:srgbClr val="3A3A38"/>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640080" y="3429000"/>
            <a:ext cx="10908792" cy="457200"/>
          </a:xfrm>
          <a:prstGeom prst="rect">
            <a:avLst/>
          </a:prstGeom>
          <a:noFill/>
          <a:ln/>
        </p:spPr>
        <p:txBody>
          <a:bodyPr wrap="square" lIns="0" tIns="0" rIns="0" bIns="0" rtlCol="0" anchor="ctr"/>
          <a:lstStyle/>
          <a:p>
            <a:pPr marL="0" indent="0">
              <a:buNone/>
            </a:pPr>
            <a:r>
              <a:rPr lang="en-US" sz="1400" dirty="0">
                <a:solidFill>
                  <a:srgbClr val="3A3A38"/>
                </a:solidFill>
                <a:latin typeface="Calibri" pitchFamily="34" charset="0"/>
                <a:ea typeface="Calibri" pitchFamily="34" charset="-122"/>
                <a:cs typeface="Calibri" pitchFamily="34" charset="-120"/>
              </a:rPr>
              <a:t>Promovió en tres de las cuatro. En la segunda el candidato salió peor que el vigente y la puerta lo rechazó, que es exactamente lo que tiene que pasar.</a:t>
            </a:r>
            <a:endParaRPr lang="en-US" sz="1400" dirty="0"/>
          </a:p>
        </p:txBody>
      </p:sp>
      <p:pic>
        <p:nvPicPr>
          <p:cNvPr id="6" name="Image 0" descr="simulacion/resultados/02_auc_datos_reales.png"/>
          <p:cNvPicPr>
            <a:picLocks noChangeAspect="1"/>
          </p:cNvPicPr>
          <p:nvPr/>
        </p:nvPicPr>
        <p:blipFill>
          <a:blip r:embed="rId3"/>
          <a:stretch>
            <a:fillRect/>
          </a:stretch>
        </p:blipFill>
        <p:spPr>
          <a:xfrm>
            <a:off x="3717036" y="3769855"/>
            <a:ext cx="4754880" cy="2544077"/>
          </a:xfrm>
          <a:prstGeom prst="rect">
            <a:avLst/>
          </a:prstGeom>
        </p:spPr>
      </p:pic>
      <p:sp>
        <p:nvSpPr>
          <p:cNvPr id="7" name="Text 3"/>
          <p:cNvSpPr txBox="1"/>
          <p:nvPr/>
        </p:nvSpPr>
        <p:spPr>
          <a:xfrm>
            <a:off x="640080" y="6286500"/>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Las dos columnas de AUC se miden sobre el subconjunto apartado de consultas reales, que no se usa para entrenar al candidato.</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Las pruebas</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61 en total, corren en poco más de un minuto</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2880360"/>
        </p:xfrm>
        <a:graphic>
          <a:graphicData uri="http://schemas.openxmlformats.org/drawingml/2006/table">
            <a:tbl>
              <a:tblPr/>
              <a:tblGrid>
                <a:gridCol w="2926080">
                  <a:extLst>
                    <a:ext uri="{9D8B030D-6E8A-4147-A177-3AD203B41FA5}">
                      <a16:colId xmlns:a16="http://schemas.microsoft.com/office/drawing/2014/main" val="20000"/>
                    </a:ext>
                  </a:extLst>
                </a:gridCol>
                <a:gridCol w="6153912">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1148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Archivo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Qué verifica</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Cantidad</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test_api.py</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El contrato del servicio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test_cuestionario.py</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La capa de traducción del cuestionario</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test_explicacion.py</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Los valores SHAP y la vista en español</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test_mantenimiento.py</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Los flujos automatizados y los tres casos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test_modelo.py</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El artefacto, sus métricas y su versión</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41148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test_seguimiento.py</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El almacenamiento y los desenlaces</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640080" y="4434840"/>
            <a:ext cx="10908792" cy="146304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Ausencia de fuga: ninguna columna posterior al desenlace entra al modelo.</a:t>
            </a:r>
            <a:endParaRPr lang="en-US" sz="1300" dirty="0"/>
          </a:p>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Superioridad sobre lo trivial: si el modelo marca más del 80 % de los casos, se considera degenerado.</a:t>
            </a:r>
            <a:endParaRPr lang="en-US" sz="1300" dirty="0"/>
          </a:p>
          <a:p>
            <a:pPr marL="342900" indent="-342900">
              <a:lnSpc>
                <a:spcPts val="2200"/>
              </a:lnSpc>
              <a:spcAft>
                <a:spcPts val="1000"/>
              </a:spcAft>
              <a:buSzPct val="100000"/>
              <a:buChar char="•"/>
            </a:pPr>
            <a:r>
              <a:rPr lang="en-US" sz="1300" dirty="0">
                <a:solidFill>
                  <a:srgbClr val="3A3A38"/>
                </a:solidFill>
                <a:latin typeface="Calibri" pitchFamily="34" charset="0"/>
                <a:ea typeface="Calibri" pitchFamily="34" charset="-122"/>
                <a:cs typeface="Calibri" pitchFamily="34" charset="-120"/>
              </a:rPr>
              <a:t>Coherencia de negocio: más encaje sube la supervivencia, más conflicto la baja. Si un reentrenamiento invirtiera eso, indicaría datos corruptos.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Organización del código</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Tres capas que no se conocen más de lo necesario</a:t>
            </a:r>
            <a:endParaRPr lang="en-US" sz="1400" dirty="0"/>
          </a:p>
        </p:txBody>
      </p:sp>
      <p:sp>
        <p:nvSpPr>
          <p:cNvPr id="4" name="Shape 2"/>
          <p:cNvSpPr/>
          <p:nvPr/>
        </p:nvSpPr>
        <p:spPr>
          <a:xfrm>
            <a:off x="640080" y="1737360"/>
            <a:ext cx="3544824" cy="1828800"/>
          </a:xfrm>
          <a:prstGeom prst="roundRect">
            <a:avLst>
              <a:gd name="adj" fmla="val 4000"/>
            </a:avLst>
          </a:prstGeom>
          <a:solidFill>
            <a:srgbClr val="E7E8D1"/>
          </a:solidFill>
          <a:ln w="12700">
            <a:solidFill>
              <a:srgbClr val="E7E8D1"/>
            </a:solidFill>
            <a:prstDash val="solid"/>
          </a:ln>
        </p:spPr>
      </p:sp>
      <p:sp>
        <p:nvSpPr>
          <p:cNvPr id="5" name="Text 3"/>
          <p:cNvSpPr txBox="1"/>
          <p:nvPr/>
        </p:nvSpPr>
        <p:spPr>
          <a:xfrm>
            <a:off x="841248" y="1883664"/>
            <a:ext cx="3142488"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ml/</a:t>
            </a:r>
            <a:endParaRPr lang="en-US" sz="1400" dirty="0"/>
          </a:p>
        </p:txBody>
      </p:sp>
      <p:sp>
        <p:nvSpPr>
          <p:cNvPr id="6" name="Text 4"/>
          <p:cNvSpPr txBox="1"/>
          <p:nvPr/>
        </p:nvSpPr>
        <p:spPr>
          <a:xfrm>
            <a:off x="841248" y="2212848"/>
            <a:ext cx="3142488" cy="118872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Configuracion, datos, entrenamiento, deriva y mantenimiento. Produce un artefacto y no sabe nada de la web.</a:t>
            </a:r>
            <a:endParaRPr lang="en-US" sz="1250" dirty="0"/>
          </a:p>
        </p:txBody>
      </p:sp>
      <p:sp>
        <p:nvSpPr>
          <p:cNvPr id="7" name="Shape 5"/>
          <p:cNvSpPr/>
          <p:nvPr/>
        </p:nvSpPr>
        <p:spPr>
          <a:xfrm>
            <a:off x="4322064" y="1737360"/>
            <a:ext cx="3544824" cy="1828800"/>
          </a:xfrm>
          <a:prstGeom prst="roundRect">
            <a:avLst>
              <a:gd name="adj" fmla="val 4000"/>
            </a:avLst>
          </a:prstGeom>
          <a:solidFill>
            <a:srgbClr val="E7E8D1"/>
          </a:solidFill>
          <a:ln w="12700">
            <a:solidFill>
              <a:srgbClr val="E7E8D1"/>
            </a:solidFill>
            <a:prstDash val="solid"/>
          </a:ln>
        </p:spPr>
      </p:sp>
      <p:sp>
        <p:nvSpPr>
          <p:cNvPr id="8" name="Text 6"/>
          <p:cNvSpPr txBox="1"/>
          <p:nvPr/>
        </p:nvSpPr>
        <p:spPr>
          <a:xfrm>
            <a:off x="4523232" y="1883664"/>
            <a:ext cx="3142488" cy="310896"/>
          </a:xfrm>
          <a:prstGeom prst="rect">
            <a:avLst/>
          </a:prstGeom>
          <a:noFill/>
          <a:ln/>
        </p:spPr>
        <p:txBody>
          <a:bodyPr wrap="square" lIns="0" tIns="0" rIns="0" bIns="0" rtlCol="0" anchor="ctr"/>
          <a:lstStyle/>
          <a:p>
            <a:pPr marL="0" indent="0">
              <a:buNone/>
            </a:pPr>
            <a:r>
              <a:rPr lang="en-US" sz="1400" b="1" dirty="0">
                <a:solidFill>
                  <a:srgbClr val="5F7F6E"/>
                </a:solidFill>
                <a:latin typeface="Calibri" pitchFamily="34" charset="0"/>
                <a:ea typeface="Calibri" pitchFamily="34" charset="-122"/>
                <a:cs typeface="Calibri" pitchFamily="34" charset="-120"/>
              </a:rPr>
              <a:t>app/</a:t>
            </a:r>
            <a:endParaRPr lang="en-US" sz="1400" dirty="0"/>
          </a:p>
        </p:txBody>
      </p:sp>
      <p:sp>
        <p:nvSpPr>
          <p:cNvPr id="9" name="Text 7"/>
          <p:cNvSpPr txBox="1"/>
          <p:nvPr/>
        </p:nvSpPr>
        <p:spPr>
          <a:xfrm>
            <a:off x="4523232" y="2212848"/>
            <a:ext cx="3142488" cy="118872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API, esquemas, almacenamiento y plantillas. Consume el artefacto y no sabe como fue entrenado.</a:t>
            </a:r>
            <a:endParaRPr lang="en-US" sz="1250" dirty="0"/>
          </a:p>
        </p:txBody>
      </p:sp>
      <p:sp>
        <p:nvSpPr>
          <p:cNvPr id="10" name="Shape 8"/>
          <p:cNvSpPr/>
          <p:nvPr/>
        </p:nvSpPr>
        <p:spPr>
          <a:xfrm>
            <a:off x="8004048" y="1737360"/>
            <a:ext cx="3544824" cy="1828800"/>
          </a:xfrm>
          <a:prstGeom prst="roundRect">
            <a:avLst>
              <a:gd name="adj" fmla="val 4000"/>
            </a:avLst>
          </a:prstGeom>
          <a:solidFill>
            <a:srgbClr val="E7E8D1"/>
          </a:solidFill>
          <a:ln w="12700">
            <a:solidFill>
              <a:srgbClr val="E7E8D1"/>
            </a:solidFill>
            <a:prstDash val="solid"/>
          </a:ln>
        </p:spPr>
      </p:sp>
      <p:sp>
        <p:nvSpPr>
          <p:cNvPr id="11" name="Text 9"/>
          <p:cNvSpPr txBox="1"/>
          <p:nvPr/>
        </p:nvSpPr>
        <p:spPr>
          <a:xfrm>
            <a:off x="8205216" y="1883664"/>
            <a:ext cx="3142488"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tests/</a:t>
            </a:r>
            <a:endParaRPr lang="en-US" sz="1400" dirty="0"/>
          </a:p>
        </p:txBody>
      </p:sp>
      <p:sp>
        <p:nvSpPr>
          <p:cNvPr id="12" name="Text 10"/>
          <p:cNvSpPr txBox="1"/>
          <p:nvPr/>
        </p:nvSpPr>
        <p:spPr>
          <a:xfrm>
            <a:off x="8205216" y="2212848"/>
            <a:ext cx="3142488" cy="118872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Las 61 pruebas, en seis archivos. Toda modificacion viene con la suya.</a:t>
            </a:r>
            <a:endParaRPr lang="en-US" sz="12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3794760"/>
          <a:ext cx="10908792" cy="2084832"/>
        </p:xfrm>
        <a:graphic>
          <a:graphicData uri="http://schemas.openxmlformats.org/drawingml/2006/table">
            <a:tbl>
              <a:tblPr/>
              <a:tblGrid>
                <a:gridCol w="4572000">
                  <a:extLst>
                    <a:ext uri="{9D8B030D-6E8A-4147-A177-3AD203B41FA5}">
                      <a16:colId xmlns:a16="http://schemas.microsoft.com/office/drawing/2014/main" val="20000"/>
                    </a:ext>
                  </a:extLst>
                </a:gridCol>
                <a:gridCol w="6336792">
                  <a:extLst>
                    <a:ext uri="{9D8B030D-6E8A-4147-A177-3AD203B41FA5}">
                      <a16:colId xmlns:a16="http://schemas.microsoft.com/office/drawing/2014/main" val="20001"/>
                    </a:ext>
                  </a:extLst>
                </a:gridCol>
              </a:tblGrid>
              <a:tr h="347472">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Si hay que cambiar</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Se toca</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347472">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Un umbral o una ruta</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ml/config.py</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Las condiciones de promoción</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ml/mantenimiento.py, función decidir</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347472">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La sensibilidad de la deriva</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ml/deriva.py</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Una pregunta del cuestionario</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app/questionnaire.py y app/textos_es.py</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r h="347472">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El servidor de destino</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Los secretos del repositorio, sin tocar código</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Despliegue inicial y operación</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Lo que necesita un equipo de TI que reciba esto</a:t>
            </a:r>
            <a:endParaRPr lang="en-US" sz="1400" dirty="0"/>
          </a:p>
        </p:txBody>
      </p:sp>
      <p:sp>
        <p:nvSpPr>
          <p:cNvPr id="4" name="Shape 2"/>
          <p:cNvSpPr/>
          <p:nvPr/>
        </p:nvSpPr>
        <p:spPr>
          <a:xfrm>
            <a:off x="640080" y="1737360"/>
            <a:ext cx="5317236" cy="2286000"/>
          </a:xfrm>
          <a:prstGeom prst="roundRect">
            <a:avLst>
              <a:gd name="adj" fmla="val 3200"/>
            </a:avLst>
          </a:prstGeom>
          <a:solidFill>
            <a:srgbClr val="E7E8D1"/>
          </a:solidFill>
          <a:ln w="12700">
            <a:solidFill>
              <a:srgbClr val="E7E8D1"/>
            </a:solidFill>
            <a:prstDash val="solid"/>
          </a:ln>
        </p:spPr>
      </p:sp>
      <p:sp>
        <p:nvSpPr>
          <p:cNvPr id="5" name="Text 3"/>
          <p:cNvSpPr txBox="1"/>
          <p:nvPr/>
        </p:nvSpPr>
        <p:spPr>
          <a:xfrm>
            <a:off x="841248" y="1883664"/>
            <a:ext cx="4914900" cy="310896"/>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Instalación, una sola vez</a:t>
            </a:r>
            <a:endParaRPr lang="en-US" sz="1400" dirty="0"/>
          </a:p>
        </p:txBody>
      </p:sp>
      <p:sp>
        <p:nvSpPr>
          <p:cNvPr id="6" name="Text 4"/>
          <p:cNvSpPr txBox="1"/>
          <p:nvPr/>
        </p:nvSpPr>
        <p:spPr>
          <a:xfrm>
            <a:off x="841248" y="2212848"/>
            <a:ext cx="4914900" cy="164592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Instalar Docker con el script del repositorio. Crear la carpeta de destino y la llave de despliegue. Cargar los seis secretos en GitHub. Apuntar el subdominio. Configurar el proxy inverso y emitir el certificado. Levantar MLflow. Desde ahi, el despliegue es automatico.</a:t>
            </a:r>
            <a:endParaRPr lang="en-US" sz="1250" dirty="0"/>
          </a:p>
        </p:txBody>
      </p:sp>
      <p:sp>
        <p:nvSpPr>
          <p:cNvPr id="7" name="Shape 5"/>
          <p:cNvSpPr/>
          <p:nvPr/>
        </p:nvSpPr>
        <p:spPr>
          <a:xfrm>
            <a:off x="6231636" y="1737360"/>
            <a:ext cx="5317236" cy="2286000"/>
          </a:xfrm>
          <a:prstGeom prst="roundRect">
            <a:avLst>
              <a:gd name="adj" fmla="val 3200"/>
            </a:avLst>
          </a:prstGeom>
          <a:solidFill>
            <a:srgbClr val="E7E8D1"/>
          </a:solidFill>
          <a:ln w="12700">
            <a:solidFill>
              <a:srgbClr val="E7E8D1"/>
            </a:solidFill>
            <a:prstDash val="solid"/>
          </a:ln>
        </p:spPr>
      </p:sp>
      <p:sp>
        <p:nvSpPr>
          <p:cNvPr id="8" name="Text 6"/>
          <p:cNvSpPr txBox="1"/>
          <p:nvPr/>
        </p:nvSpPr>
        <p:spPr>
          <a:xfrm>
            <a:off x="6432804" y="1883664"/>
            <a:ext cx="4914900" cy="310896"/>
          </a:xfrm>
          <a:prstGeom prst="rect">
            <a:avLst/>
          </a:prstGeom>
          <a:noFill/>
          <a:ln/>
        </p:spPr>
        <p:txBody>
          <a:bodyPr wrap="square" lIns="0" tIns="0" rIns="0" bIns="0" rtlCol="0" anchor="ctr"/>
          <a:lstStyle/>
          <a:p>
            <a:pPr marL="0" indent="0">
              <a:buNone/>
            </a:pPr>
            <a:r>
              <a:rPr lang="en-US" sz="1400" b="1" dirty="0">
                <a:solidFill>
                  <a:srgbClr val="5F7F6E"/>
                </a:solidFill>
                <a:latin typeface="Calibri" pitchFamily="34" charset="0"/>
                <a:ea typeface="Calibri" pitchFamily="34" charset="-122"/>
                <a:cs typeface="Calibri" pitchFamily="34" charset="-120"/>
              </a:rPr>
              <a:t>Operación diaria</a:t>
            </a:r>
            <a:endParaRPr lang="en-US" sz="1400" dirty="0"/>
          </a:p>
        </p:txBody>
      </p:sp>
      <p:sp>
        <p:nvSpPr>
          <p:cNvPr id="9" name="Text 7"/>
          <p:cNvSpPr txBox="1"/>
          <p:nvPr/>
        </p:nvSpPr>
        <p:spPr>
          <a:xfrm>
            <a:off x="6432804" y="2212848"/>
            <a:ext cx="4914900" cy="1645920"/>
          </a:xfrm>
          <a:prstGeom prst="rect">
            <a:avLst/>
          </a:prstGeom>
          <a:noFill/>
          <a:ln/>
        </p:spPr>
        <p:txBody>
          <a:bodyPr wrap="square" lIns="0" tIns="0" rIns="0" bIns="0" rtlCol="0" anchor="ctr"/>
          <a:lstStyle/>
          <a:p>
            <a:pPr marL="0" indent="0">
              <a:lnSpc>
                <a:spcPts val="1700"/>
              </a:lnSpc>
              <a:buNone/>
            </a:pPr>
            <a:r>
              <a:rPr lang="en-US" sz="1250" dirty="0">
                <a:solidFill>
                  <a:srgbClr val="3A3A38"/>
                </a:solidFill>
                <a:latin typeface="Calibri" pitchFamily="34" charset="0"/>
                <a:ea typeface="Calibri" pitchFamily="34" charset="-122"/>
                <a:cs typeface="Calibri" pitchFamily="34" charset="-120"/>
              </a:rPr>
              <a:t>Estado con /health y docker compose ps. Registros con docker compose logs. Que modelo esta activo con /model-info. Volver atras con el script y el hash del commit. Forzar un reentrenamiento desde GitHub. Historial en MLflow.</a:t>
            </a:r>
            <a:endParaRPr lang="en-US" sz="1250" dirty="0"/>
          </a:p>
        </p:txBody>
      </p:sp>
      <p:sp>
        <p:nvSpPr>
          <p:cNvPr id="10" name="Text 8"/>
          <p:cNvSpPr txBox="1"/>
          <p:nvPr/>
        </p:nvSpPr>
        <p:spPr>
          <a:xfrm>
            <a:off x="640080" y="4251960"/>
            <a:ext cx="10908792" cy="731520"/>
          </a:xfrm>
          <a:prstGeom prst="rect">
            <a:avLst/>
          </a:prstGeom>
          <a:noFill/>
          <a:ln/>
        </p:spPr>
        <p:txBody>
          <a:bodyPr wrap="square" lIns="0" tIns="0" rIns="0" bIns="0" rtlCol="0" anchor="ctr"/>
          <a:lstStyle/>
          <a:p>
            <a:pPr marL="0" indent="0">
              <a:buNone/>
            </a:pPr>
            <a:r>
              <a:rPr lang="en-US" sz="1450" i="1" dirty="0">
                <a:solidFill>
                  <a:srgbClr val="B85042"/>
                </a:solidFill>
                <a:latin typeface="Calibri" pitchFamily="34" charset="0"/>
                <a:ea typeface="Calibri" pitchFamily="34" charset="-122"/>
                <a:cs typeface="Calibri" pitchFamily="34" charset="-120"/>
              </a:rPr>
              <a:t>La regla que no se puede romper: la imagen nunca se construye en el servidor. Compilar las dependencias científicas ahí agota la memoria y el sistema operativo termina matando otros servicios.</a:t>
            </a:r>
            <a:endParaRPr lang="en-US" sz="1450" dirty="0"/>
          </a:p>
        </p:txBody>
      </p:sp>
      <p:sp>
        <p:nvSpPr>
          <p:cNvPr id="11" name="Text 9"/>
          <p:cNvSpPr txBox="1"/>
          <p:nvPr/>
        </p:nvSpPr>
        <p:spPr>
          <a:xfrm>
            <a:off x="640080" y="6108192"/>
            <a:ext cx="10908792" cy="411480"/>
          </a:xfrm>
          <a:prstGeom prst="rect">
            <a:avLst/>
          </a:prstGeom>
          <a:noFill/>
          <a:ln/>
        </p:spPr>
        <p:txBody>
          <a:bodyPr wrap="square" lIns="0" tIns="0" rIns="0" bIns="0" rtlCol="0" anchor="ctr"/>
          <a:lstStyle/>
          <a:p>
            <a:pPr marL="0" indent="0">
              <a:buNone/>
            </a:pPr>
            <a:r>
              <a:rPr lang="en-US" sz="1050" i="1" dirty="0">
                <a:solidFill>
                  <a:srgbClr val="7A756E"/>
                </a:solidFill>
                <a:latin typeface="Calibri" pitchFamily="34" charset="0"/>
                <a:ea typeface="Calibri" pitchFamily="34" charset="-122"/>
                <a:cs typeface="Calibri" pitchFamily="34" charset="-120"/>
              </a:rPr>
              <a:t>Nota. Lo único que necesita respaldo es la base de consultas y el historial de MLflow: el resto se reconstruye desde el repositorio.</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Guion de la demostración en vivo</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En este orden, y cada paso se abre en pantalla</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08792" cy="3867912"/>
        </p:xfrm>
        <a:graphic>
          <a:graphicData uri="http://schemas.openxmlformats.org/drawingml/2006/table">
            <a:tbl>
              <a:tblPr/>
              <a:tblGrid>
                <a:gridCol w="7315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5971032">
                  <a:extLst>
                    <a:ext uri="{9D8B030D-6E8A-4147-A177-3AD203B41FA5}">
                      <a16:colId xmlns:a16="http://schemas.microsoft.com/office/drawing/2014/main" val="20002"/>
                    </a:ext>
                  </a:extLst>
                </a:gridCol>
              </a:tblGrid>
              <a:tr h="429768">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Qué se abre</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Qué se muestra</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B85042"/>
                    </a:solidFill>
                  </a:tcPr>
                </a:tc>
                <a:extLst>
                  <a:ext uri="{0D108BD9-81ED-4DB2-BD59-A6C34878D82A}">
                    <a16:rowId xmlns:a16="http://schemas.microsoft.com/office/drawing/2014/main" val="10000"/>
                  </a:ext>
                </a:extLst>
              </a:tr>
              <a:tr h="42976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startupml.kamai.life/es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Responder el cuestionario y enviar</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2976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La misma pantalla, al bajar</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El porcentaje y los factores que lo explican</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2"/>
                  </a:ext>
                </a:extLst>
              </a:tr>
              <a:tr h="42976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startupml.kamai.life/admin</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La evaluación recién hecha, esperando desenlace</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2976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startupml.kamai.life/docs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Las trece rutas documentadas solas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4"/>
                  </a:ext>
                </a:extLst>
              </a:tr>
              <a:tr h="42976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github.com/htacoav/StartUpMCD/actions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Las ejecuciones del flujo, en verde</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42976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La última ejecución</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Los tres trabajos encadenados y las 61 pruebas</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6"/>
                  </a:ext>
                </a:extLst>
              </a:tr>
              <a:tr h="42976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Actions, Mantenimiento del modelo</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Disparar Run workflow en vivo</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r h="429768">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El servidor de MLflow</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tc>
                  <a:txBody>
                    <a:bodyPr/>
                    <a:lstStyle/>
                    <a:p>
                      <a:pPr marL="0" indent="0" algn="l">
                        <a:buNone/>
                      </a:pPr>
                      <a:r>
                        <a:rPr lang="en-US" sz="1250" dirty="0">
                          <a:solidFill>
                            <a:srgbClr val="3A3A38"/>
                          </a:solidFill>
                          <a:latin typeface="Calibri" pitchFamily="34" charset="0"/>
                          <a:ea typeface="Calibri" pitchFamily="34" charset="-122"/>
                          <a:cs typeface="Calibri" pitchFamily="34" charset="-120"/>
                        </a:rPr>
                        <a:t>Las corridas, sus métricas y las versiones del modelo</a:t>
                      </a:r>
                      <a:endParaRPr lang="en-US" sz="125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3F4EA"/>
                    </a:solidFill>
                  </a:tcPr>
                </a:tc>
                <a:extLst>
                  <a:ext uri="{0D108BD9-81ED-4DB2-BD59-A6C34878D82A}">
                    <a16:rowId xmlns:a16="http://schemas.microsoft.com/office/drawing/2014/main" val="10008"/>
                  </a:ext>
                </a:extLst>
              </a:tr>
            </a:tbl>
          </a:graphicData>
        </a:graphic>
      </p:graphicFrame>
      <p:sp>
        <p:nvSpPr>
          <p:cNvPr id="5" name="Text 2"/>
          <p:cNvSpPr txBox="1"/>
          <p:nvPr/>
        </p:nvSpPr>
        <p:spPr>
          <a:xfrm>
            <a:off x="640080" y="5532120"/>
            <a:ext cx="10908792" cy="640080"/>
          </a:xfrm>
          <a:prstGeom prst="rect">
            <a:avLst/>
          </a:prstGeom>
          <a:noFill/>
          <a:ln/>
        </p:spPr>
        <p:txBody>
          <a:bodyPr wrap="square" lIns="0" tIns="0" rIns="0" bIns="0" rtlCol="0" anchor="ctr"/>
          <a:lstStyle/>
          <a:p>
            <a:pPr marL="0" indent="0">
              <a:buNone/>
            </a:pPr>
            <a:r>
              <a:rPr lang="en-US" sz="1400" i="1" dirty="0">
                <a:solidFill>
                  <a:srgbClr val="B85042"/>
                </a:solidFill>
                <a:latin typeface="Calibri" pitchFamily="34" charset="0"/>
                <a:ea typeface="Calibri" pitchFamily="34" charset="-122"/>
                <a:cs typeface="Calibri" pitchFamily="34" charset="-120"/>
              </a:rPr>
              <a:t>Si el tiempo apremia, los pasos 1, 2, 5 y 8 alcanzan: muestran la aplicación funcionando, el pipeline corriendo y el modelo versionado.</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33302B"/>
        </a:solidFill>
        <a:effectLst/>
      </p:bgPr>
    </p:bg>
    <p:spTree>
      <p:nvGrpSpPr>
        <p:cNvPr id="1" name=""/>
        <p:cNvGrpSpPr/>
        <p:nvPr/>
      </p:nvGrpSpPr>
      <p:grpSpPr>
        <a:xfrm>
          <a:off x="0" y="0"/>
          <a:ext cx="0" cy="0"/>
          <a:chOff x="0" y="0"/>
          <a:chExt cx="0" cy="0"/>
        </a:xfrm>
      </p:grpSpPr>
      <p:sp>
        <p:nvSpPr>
          <p:cNvPr id="2" name="Shape 0"/>
          <p:cNvSpPr/>
          <p:nvPr/>
        </p:nvSpPr>
        <p:spPr>
          <a:xfrm>
            <a:off x="10424160" y="-914400"/>
            <a:ext cx="3291840" cy="3291840"/>
          </a:xfrm>
          <a:prstGeom prst="ellipse">
            <a:avLst/>
          </a:prstGeom>
          <a:solidFill>
            <a:srgbClr val="5F7F6E"/>
          </a:solidFill>
          <a:ln w="12700">
            <a:solidFill>
              <a:srgbClr val="5F7F6E"/>
            </a:solidFill>
            <a:prstDash val="solid"/>
          </a:ln>
        </p:spPr>
      </p:sp>
      <p:sp>
        <p:nvSpPr>
          <p:cNvPr id="3" name="Text 1"/>
          <p:cNvSpPr txBox="1"/>
          <p:nvPr/>
        </p:nvSpPr>
        <p:spPr>
          <a:xfrm>
            <a:off x="640080" y="640080"/>
            <a:ext cx="10908792"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Lo que dejó el proyecto</a:t>
            </a:r>
            <a:endParaRPr lang="en-US" sz="3200" dirty="0"/>
          </a:p>
        </p:txBody>
      </p:sp>
      <p:sp>
        <p:nvSpPr>
          <p:cNvPr id="4" name="Text 2"/>
          <p:cNvSpPr txBox="1"/>
          <p:nvPr/>
        </p:nvSpPr>
        <p:spPr>
          <a:xfrm>
            <a:off x="640080" y="1600200"/>
            <a:ext cx="9811512" cy="292608"/>
          </a:xfrm>
          <a:prstGeom prst="rect">
            <a:avLst/>
          </a:prstGeom>
          <a:noFill/>
          <a:ln/>
        </p:spPr>
        <p:txBody>
          <a:bodyPr wrap="square" lIns="0" tIns="0" rIns="0" bIns="0" rtlCol="0" anchor="ctr"/>
          <a:lstStyle/>
          <a:p>
            <a:pPr marL="0" indent="0">
              <a:buNone/>
            </a:pPr>
            <a:r>
              <a:rPr lang="en-US" sz="1450" b="1" dirty="0">
                <a:solidFill>
                  <a:srgbClr val="5F7F6E"/>
                </a:solidFill>
                <a:latin typeface="Calibri" pitchFamily="34" charset="0"/>
                <a:ea typeface="Calibri" pitchFamily="34" charset="-122"/>
                <a:cs typeface="Calibri" pitchFamily="34" charset="-120"/>
              </a:rPr>
              <a:t>Desempeño estadístico y utilidad operativa son cosas distintas</a:t>
            </a:r>
            <a:endParaRPr lang="en-US" sz="1450" dirty="0"/>
          </a:p>
        </p:txBody>
      </p:sp>
      <p:sp>
        <p:nvSpPr>
          <p:cNvPr id="5" name="Text 3"/>
          <p:cNvSpPr txBox="1"/>
          <p:nvPr/>
        </p:nvSpPr>
        <p:spPr>
          <a:xfrm>
            <a:off x="640080" y="1901952"/>
            <a:ext cx="9811512" cy="566928"/>
          </a:xfrm>
          <a:prstGeom prst="rect">
            <a:avLst/>
          </a:prstGeom>
          <a:noFill/>
          <a:ln/>
        </p:spPr>
        <p:txBody>
          <a:bodyPr wrap="square" lIns="0" tIns="0" rIns="0" bIns="0" rtlCol="0" anchor="ctr"/>
          <a:lstStyle/>
          <a:p>
            <a:pPr marL="0" indent="0">
              <a:lnSpc>
                <a:spcPts val="1500"/>
              </a:lnSpc>
              <a:buNone/>
            </a:pPr>
            <a:r>
              <a:rPr lang="en-US" sz="1200" dirty="0">
                <a:solidFill>
                  <a:srgbClr val="E7E8D1"/>
                </a:solidFill>
                <a:latin typeface="Calibri" pitchFamily="34" charset="0"/>
                <a:ea typeface="Calibri" pitchFamily="34" charset="-122"/>
                <a:cs typeface="Calibri" pitchFamily="34" charset="-120"/>
              </a:rPr>
              <a:t>Una F1 de 0.8084 era indistinguible de la de un clasificador trivial. Solo cambiar el criterio del umbral convirtio al modelo en algo util.</a:t>
            </a:r>
            <a:endParaRPr lang="en-US" sz="1200" dirty="0"/>
          </a:p>
        </p:txBody>
      </p:sp>
      <p:sp>
        <p:nvSpPr>
          <p:cNvPr id="6" name="Text 4"/>
          <p:cNvSpPr txBox="1"/>
          <p:nvPr/>
        </p:nvSpPr>
        <p:spPr>
          <a:xfrm>
            <a:off x="640080" y="2560320"/>
            <a:ext cx="9811512" cy="292608"/>
          </a:xfrm>
          <a:prstGeom prst="rect">
            <a:avLst/>
          </a:prstGeom>
          <a:noFill/>
          <a:ln/>
        </p:spPr>
        <p:txBody>
          <a:bodyPr wrap="square" lIns="0" tIns="0" rIns="0" bIns="0" rtlCol="0" anchor="ctr"/>
          <a:lstStyle/>
          <a:p>
            <a:pPr marL="0" indent="0">
              <a:buNone/>
            </a:pPr>
            <a:r>
              <a:rPr lang="en-US" sz="1450" b="1" dirty="0">
                <a:solidFill>
                  <a:srgbClr val="5F7F6E"/>
                </a:solidFill>
                <a:latin typeface="Calibri" pitchFamily="34" charset="0"/>
                <a:ea typeface="Calibri" pitchFamily="34" charset="-122"/>
                <a:cs typeface="Calibri" pitchFamily="34" charset="-120"/>
              </a:rPr>
              <a:t>Un modelo con buenas métricas puede ser inutilizable</a:t>
            </a:r>
            <a:endParaRPr lang="en-US" sz="1450" dirty="0"/>
          </a:p>
        </p:txBody>
      </p:sp>
      <p:sp>
        <p:nvSpPr>
          <p:cNvPr id="7" name="Text 5"/>
          <p:cNvSpPr txBox="1"/>
          <p:nvPr/>
        </p:nvSpPr>
        <p:spPr>
          <a:xfrm>
            <a:off x="640080" y="2862072"/>
            <a:ext cx="9811512" cy="566928"/>
          </a:xfrm>
          <a:prstGeom prst="rect">
            <a:avLst/>
          </a:prstGeom>
          <a:noFill/>
          <a:ln/>
        </p:spPr>
        <p:txBody>
          <a:bodyPr wrap="square" lIns="0" tIns="0" rIns="0" bIns="0" rtlCol="0" anchor="ctr"/>
          <a:lstStyle/>
          <a:p>
            <a:pPr marL="0" indent="0">
              <a:lnSpc>
                <a:spcPts val="1500"/>
              </a:lnSpc>
              <a:buNone/>
            </a:pPr>
            <a:r>
              <a:rPr lang="en-US" sz="1200" dirty="0">
                <a:solidFill>
                  <a:srgbClr val="E7E8D1"/>
                </a:solidFill>
                <a:latin typeface="Calibri" pitchFamily="34" charset="0"/>
                <a:ea typeface="Calibri" pitchFamily="34" charset="-122"/>
                <a:cs typeface="Calibri" pitchFamily="34" charset="-120"/>
              </a:rPr>
              <a:t>Ningun emprendedor sabe su puntaje de encaje producto-mercado de 0 a 10. De ahi salio el cuestionario.</a:t>
            </a:r>
            <a:endParaRPr lang="en-US" sz="1200" dirty="0"/>
          </a:p>
        </p:txBody>
      </p:sp>
      <p:sp>
        <p:nvSpPr>
          <p:cNvPr id="8" name="Text 6"/>
          <p:cNvSpPr txBox="1"/>
          <p:nvPr/>
        </p:nvSpPr>
        <p:spPr>
          <a:xfrm>
            <a:off x="640080" y="3520440"/>
            <a:ext cx="9811512" cy="292608"/>
          </a:xfrm>
          <a:prstGeom prst="rect">
            <a:avLst/>
          </a:prstGeom>
          <a:noFill/>
          <a:ln/>
        </p:spPr>
        <p:txBody>
          <a:bodyPr wrap="square" lIns="0" tIns="0" rIns="0" bIns="0" rtlCol="0" anchor="ctr"/>
          <a:lstStyle/>
          <a:p>
            <a:pPr marL="0" indent="0">
              <a:buNone/>
            </a:pPr>
            <a:r>
              <a:rPr lang="en-US" sz="1450" b="1" dirty="0">
                <a:solidFill>
                  <a:srgbClr val="5F7F6E"/>
                </a:solidFill>
                <a:latin typeface="Calibri" pitchFamily="34" charset="0"/>
                <a:ea typeface="Calibri" pitchFamily="34" charset="-122"/>
                <a:cs typeface="Calibri" pitchFamily="34" charset="-120"/>
              </a:rPr>
              <a:t>Una puerta de calidad puede medir sobre la población equivocada</a:t>
            </a:r>
            <a:endParaRPr lang="en-US" sz="1450" dirty="0"/>
          </a:p>
        </p:txBody>
      </p:sp>
      <p:sp>
        <p:nvSpPr>
          <p:cNvPr id="9" name="Text 7"/>
          <p:cNvSpPr txBox="1"/>
          <p:nvPr/>
        </p:nvSpPr>
        <p:spPr>
          <a:xfrm>
            <a:off x="640080" y="3822192"/>
            <a:ext cx="9811512" cy="566928"/>
          </a:xfrm>
          <a:prstGeom prst="rect">
            <a:avLst/>
          </a:prstGeom>
          <a:noFill/>
          <a:ln/>
        </p:spPr>
        <p:txBody>
          <a:bodyPr wrap="square" lIns="0" tIns="0" rIns="0" bIns="0" rtlCol="0" anchor="ctr"/>
          <a:lstStyle/>
          <a:p>
            <a:pPr marL="0" indent="0">
              <a:lnSpc>
                <a:spcPts val="1500"/>
              </a:lnSpc>
              <a:buNone/>
            </a:pPr>
            <a:r>
              <a:rPr lang="en-US" sz="1200" dirty="0">
                <a:solidFill>
                  <a:srgbClr val="E7E8D1"/>
                </a:solidFill>
                <a:latin typeface="Calibri" pitchFamily="34" charset="0"/>
                <a:ea typeface="Calibri" pitchFamily="34" charset="-122"/>
                <a:cs typeface="Calibri" pitchFamily="34" charset="-120"/>
              </a:rPr>
              <a:t>Comparando sobre el dataset completo, el sistema nunca habria aprendido de sus propios datos.</a:t>
            </a:r>
            <a:endParaRPr lang="en-US" sz="1200" dirty="0"/>
          </a:p>
        </p:txBody>
      </p:sp>
      <p:sp>
        <p:nvSpPr>
          <p:cNvPr id="10" name="Text 8"/>
          <p:cNvSpPr txBox="1"/>
          <p:nvPr/>
        </p:nvSpPr>
        <p:spPr>
          <a:xfrm>
            <a:off x="640080" y="4480560"/>
            <a:ext cx="9811512" cy="292608"/>
          </a:xfrm>
          <a:prstGeom prst="rect">
            <a:avLst/>
          </a:prstGeom>
          <a:noFill/>
          <a:ln/>
        </p:spPr>
        <p:txBody>
          <a:bodyPr wrap="square" lIns="0" tIns="0" rIns="0" bIns="0" rtlCol="0" anchor="ctr"/>
          <a:lstStyle/>
          <a:p>
            <a:pPr marL="0" indent="0">
              <a:buNone/>
            </a:pPr>
            <a:r>
              <a:rPr lang="en-US" sz="1450" b="1" dirty="0">
                <a:solidFill>
                  <a:srgbClr val="5F7F6E"/>
                </a:solidFill>
                <a:latin typeface="Calibri" pitchFamily="34" charset="0"/>
                <a:ea typeface="Calibri" pitchFamily="34" charset="-122"/>
                <a:cs typeface="Calibri" pitchFamily="34" charset="-120"/>
              </a:rPr>
              <a:t>Fijar versiones no basta si el modelo se genera fuera de ese entorno</a:t>
            </a:r>
            <a:endParaRPr lang="en-US" sz="1450" dirty="0"/>
          </a:p>
        </p:txBody>
      </p:sp>
      <p:sp>
        <p:nvSpPr>
          <p:cNvPr id="11" name="Text 9"/>
          <p:cNvSpPr txBox="1"/>
          <p:nvPr/>
        </p:nvSpPr>
        <p:spPr>
          <a:xfrm>
            <a:off x="640080" y="4782312"/>
            <a:ext cx="9811512" cy="566928"/>
          </a:xfrm>
          <a:prstGeom prst="rect">
            <a:avLst/>
          </a:prstGeom>
          <a:noFill/>
          <a:ln/>
        </p:spPr>
        <p:txBody>
          <a:bodyPr wrap="square" lIns="0" tIns="0" rIns="0" bIns="0" rtlCol="0" anchor="ctr"/>
          <a:lstStyle/>
          <a:p>
            <a:pPr marL="0" indent="0">
              <a:lnSpc>
                <a:spcPts val="1500"/>
              </a:lnSpc>
              <a:buNone/>
            </a:pPr>
            <a:r>
              <a:rPr lang="en-US" sz="1200" dirty="0">
                <a:solidFill>
                  <a:srgbClr val="E7E8D1"/>
                </a:solidFill>
                <a:latin typeface="Calibri" pitchFamily="34" charset="0"/>
                <a:ea typeface="Calibri" pitchFamily="34" charset="-122"/>
                <a:cs typeface="Calibri" pitchFamily="34" charset="-120"/>
              </a:rPr>
              <a:t>Un artefacto serializado con otra version cargaba sin quejarse y reventaba recien al predecir, ya en produccion.</a:t>
            </a:r>
            <a:endParaRPr lang="en-US" sz="1200" dirty="0"/>
          </a:p>
        </p:txBody>
      </p:sp>
      <p:sp>
        <p:nvSpPr>
          <p:cNvPr id="12" name="Text 10"/>
          <p:cNvSpPr txBox="1"/>
          <p:nvPr/>
        </p:nvSpPr>
        <p:spPr>
          <a:xfrm>
            <a:off x="640080" y="5440680"/>
            <a:ext cx="9811512" cy="292608"/>
          </a:xfrm>
          <a:prstGeom prst="rect">
            <a:avLst/>
          </a:prstGeom>
          <a:noFill/>
          <a:ln/>
        </p:spPr>
        <p:txBody>
          <a:bodyPr wrap="square" lIns="0" tIns="0" rIns="0" bIns="0" rtlCol="0" anchor="ctr"/>
          <a:lstStyle/>
          <a:p>
            <a:pPr marL="0" indent="0">
              <a:buNone/>
            </a:pPr>
            <a:r>
              <a:rPr lang="en-US" sz="1450" b="1" dirty="0">
                <a:solidFill>
                  <a:srgbClr val="5F7F6E"/>
                </a:solidFill>
                <a:latin typeface="Calibri" pitchFamily="34" charset="0"/>
                <a:ea typeface="Calibri" pitchFamily="34" charset="-122"/>
                <a:cs typeface="Calibri" pitchFamily="34" charset="-120"/>
              </a:rPr>
              <a:t>Hay defectos que solo aparecen con el tiempo</a:t>
            </a:r>
            <a:endParaRPr lang="en-US" sz="1450" dirty="0"/>
          </a:p>
        </p:txBody>
      </p:sp>
      <p:sp>
        <p:nvSpPr>
          <p:cNvPr id="13" name="Text 11"/>
          <p:cNvSpPr txBox="1"/>
          <p:nvPr/>
        </p:nvSpPr>
        <p:spPr>
          <a:xfrm>
            <a:off x="640080" y="5742432"/>
            <a:ext cx="9811512" cy="566928"/>
          </a:xfrm>
          <a:prstGeom prst="rect">
            <a:avLst/>
          </a:prstGeom>
          <a:noFill/>
          <a:ln/>
        </p:spPr>
        <p:txBody>
          <a:bodyPr wrap="square" lIns="0" tIns="0" rIns="0" bIns="0" rtlCol="0" anchor="ctr"/>
          <a:lstStyle/>
          <a:p>
            <a:pPr marL="0" indent="0">
              <a:lnSpc>
                <a:spcPts val="1500"/>
              </a:lnSpc>
              <a:buNone/>
            </a:pPr>
            <a:r>
              <a:rPr lang="en-US" sz="1200" dirty="0">
                <a:solidFill>
                  <a:srgbClr val="E7E8D1"/>
                </a:solidFill>
                <a:latin typeface="Calibri" pitchFamily="34" charset="0"/>
                <a:ea typeface="Calibri" pitchFamily="34" charset="-122"/>
                <a:cs typeface="Calibri" pitchFamily="34" charset="-120"/>
              </a:rPr>
              <a:t>Dos de los errores corregidos pasaban todas las pruebas unitarias y solo se vieron al verificar el flujo a lo largo de dos años de operacion.</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08792" cy="658368"/>
          </a:xfrm>
          <a:prstGeom prst="rect">
            <a:avLst/>
          </a:prstGeom>
          <a:noFill/>
          <a:ln/>
        </p:spPr>
        <p:txBody>
          <a:bodyPr wrap="square" lIns="0" tIns="0" rIns="0" bIns="0" rtlCol="0" anchor="ctr"/>
          <a:lstStyle/>
          <a:p>
            <a:pPr marL="0" indent="0">
              <a:buNone/>
            </a:pPr>
            <a:r>
              <a:rPr lang="en-US" sz="3000" b="1" dirty="0">
                <a:solidFill>
                  <a:srgbClr val="33302B"/>
                </a:solidFill>
                <a:latin typeface="Cambria" pitchFamily="34" charset="0"/>
                <a:ea typeface="Cambria" pitchFamily="34" charset="-122"/>
                <a:cs typeface="Cambria" pitchFamily="34" charset="-120"/>
              </a:rPr>
              <a:t>Gracias</a:t>
            </a:r>
            <a:endParaRPr lang="en-US" sz="3000" dirty="0"/>
          </a:p>
        </p:txBody>
      </p:sp>
      <p:sp>
        <p:nvSpPr>
          <p:cNvPr id="3" name="Text 1"/>
          <p:cNvSpPr txBox="1"/>
          <p:nvPr/>
        </p:nvSpPr>
        <p:spPr>
          <a:xfrm>
            <a:off x="640080" y="1033272"/>
            <a:ext cx="10908792" cy="365760"/>
          </a:xfrm>
          <a:prstGeom prst="rect">
            <a:avLst/>
          </a:prstGeom>
          <a:noFill/>
          <a:ln/>
        </p:spPr>
        <p:txBody>
          <a:bodyPr wrap="square" lIns="0" tIns="0" rIns="0" bIns="0" rtlCol="0" anchor="ctr"/>
          <a:lstStyle/>
          <a:p>
            <a:pPr marL="0" indent="0">
              <a:buNone/>
            </a:pPr>
            <a:r>
              <a:rPr lang="en-US" sz="1400" i="1" dirty="0">
                <a:solidFill>
                  <a:srgbClr val="7A756E"/>
                </a:solidFill>
                <a:latin typeface="Calibri" pitchFamily="34" charset="0"/>
                <a:ea typeface="Calibri" pitchFamily="34" charset="-122"/>
                <a:cs typeface="Calibri" pitchFamily="34" charset="-120"/>
              </a:rPr>
              <a:t>Todo lo presentado es verificable en línea</a:t>
            </a:r>
            <a:endParaRPr lang="en-US" sz="1400" dirty="0"/>
          </a:p>
        </p:txBody>
      </p:sp>
      <p:sp>
        <p:nvSpPr>
          <p:cNvPr id="4" name="Shape 2"/>
          <p:cNvSpPr/>
          <p:nvPr/>
        </p:nvSpPr>
        <p:spPr>
          <a:xfrm>
            <a:off x="640080" y="1737360"/>
            <a:ext cx="10908792" cy="914400"/>
          </a:xfrm>
          <a:prstGeom prst="roundRect">
            <a:avLst>
              <a:gd name="adj" fmla="val 8000"/>
            </a:avLst>
          </a:prstGeom>
          <a:solidFill>
            <a:srgbClr val="E7E8D1"/>
          </a:solidFill>
          <a:ln w="12700">
            <a:solidFill>
              <a:srgbClr val="E7E8D1"/>
            </a:solidFill>
            <a:prstDash val="solid"/>
          </a:ln>
        </p:spPr>
      </p:sp>
      <p:sp>
        <p:nvSpPr>
          <p:cNvPr id="5" name="Text 3"/>
          <p:cNvSpPr txBox="1"/>
          <p:nvPr/>
        </p:nvSpPr>
        <p:spPr>
          <a:xfrm>
            <a:off x="841248" y="1856232"/>
            <a:ext cx="10506456" cy="365760"/>
          </a:xfrm>
          <a:prstGeom prst="rect">
            <a:avLst/>
          </a:prstGeom>
          <a:noFill/>
          <a:ln/>
        </p:spPr>
        <p:txBody>
          <a:bodyPr wrap="square" lIns="0" tIns="0" rIns="0" bIns="0" rtlCol="0" anchor="ctr"/>
          <a:lstStyle/>
          <a:p>
            <a:pPr marL="0" indent="0">
              <a:buNone/>
            </a:pPr>
            <a:r>
              <a:rPr lang="en-US" sz="1400" b="1" dirty="0">
                <a:solidFill>
                  <a:srgbClr val="B85042"/>
                </a:solidFill>
                <a:latin typeface="Courier New" pitchFamily="34" charset="0"/>
                <a:ea typeface="Courier New" pitchFamily="34" charset="-122"/>
                <a:cs typeface="Courier New" pitchFamily="34" charset="-120"/>
              </a:rPr>
              <a:t>startupml.kamai.life</a:t>
            </a:r>
            <a:endParaRPr lang="en-US" sz="1400" dirty="0"/>
          </a:p>
        </p:txBody>
      </p:sp>
      <p:sp>
        <p:nvSpPr>
          <p:cNvPr id="6" name="Text 4"/>
          <p:cNvSpPr txBox="1"/>
          <p:nvPr/>
        </p:nvSpPr>
        <p:spPr>
          <a:xfrm>
            <a:off x="841248" y="2221992"/>
            <a:ext cx="10506456" cy="320040"/>
          </a:xfrm>
          <a:prstGeom prst="rect">
            <a:avLst/>
          </a:prstGeom>
          <a:noFill/>
          <a:ln/>
        </p:spPr>
        <p:txBody>
          <a:bodyPr wrap="square" lIns="0" tIns="0" rIns="0" bIns="0" rtlCol="0" anchor="ctr"/>
          <a:lstStyle/>
          <a:p>
            <a:pPr marL="0" indent="0">
              <a:buNone/>
            </a:pPr>
            <a:r>
              <a:rPr lang="en-US" sz="1200" dirty="0">
                <a:solidFill>
                  <a:srgbClr val="3A3A38"/>
                </a:solidFill>
                <a:latin typeface="Calibri" pitchFamily="34" charset="0"/>
                <a:ea typeface="Calibri" pitchFamily="34" charset="-122"/>
                <a:cs typeface="Calibri" pitchFamily="34" charset="-120"/>
              </a:rPr>
              <a:t>La aplicación en producción, con HTTPS y dominio propio</a:t>
            </a:r>
            <a:endParaRPr lang="en-US" sz="1200" dirty="0"/>
          </a:p>
        </p:txBody>
      </p:sp>
      <p:sp>
        <p:nvSpPr>
          <p:cNvPr id="7" name="Shape 5"/>
          <p:cNvSpPr/>
          <p:nvPr/>
        </p:nvSpPr>
        <p:spPr>
          <a:xfrm>
            <a:off x="640080" y="2834640"/>
            <a:ext cx="10908792" cy="914400"/>
          </a:xfrm>
          <a:prstGeom prst="roundRect">
            <a:avLst>
              <a:gd name="adj" fmla="val 8000"/>
            </a:avLst>
          </a:prstGeom>
          <a:solidFill>
            <a:srgbClr val="E7E8D1"/>
          </a:solidFill>
          <a:ln w="12700">
            <a:solidFill>
              <a:srgbClr val="E7E8D1"/>
            </a:solidFill>
            <a:prstDash val="solid"/>
          </a:ln>
        </p:spPr>
      </p:sp>
      <p:sp>
        <p:nvSpPr>
          <p:cNvPr id="8" name="Text 6"/>
          <p:cNvSpPr txBox="1"/>
          <p:nvPr/>
        </p:nvSpPr>
        <p:spPr>
          <a:xfrm>
            <a:off x="841248" y="2953512"/>
            <a:ext cx="10506456" cy="365760"/>
          </a:xfrm>
          <a:prstGeom prst="rect">
            <a:avLst/>
          </a:prstGeom>
          <a:noFill/>
          <a:ln/>
        </p:spPr>
        <p:txBody>
          <a:bodyPr wrap="square" lIns="0" tIns="0" rIns="0" bIns="0" rtlCol="0" anchor="ctr"/>
          <a:lstStyle/>
          <a:p>
            <a:pPr marL="0" indent="0">
              <a:buNone/>
            </a:pPr>
            <a:r>
              <a:rPr lang="en-US" sz="1400" b="1" dirty="0">
                <a:solidFill>
                  <a:srgbClr val="B85042"/>
                </a:solidFill>
                <a:latin typeface="Courier New" pitchFamily="34" charset="0"/>
                <a:ea typeface="Courier New" pitchFamily="34" charset="-122"/>
                <a:cs typeface="Courier New" pitchFamily="34" charset="-120"/>
              </a:rPr>
              <a:t>github.com/htacoav/StartUpMCD</a:t>
            </a:r>
            <a:endParaRPr lang="en-US" sz="1400" dirty="0"/>
          </a:p>
        </p:txBody>
      </p:sp>
      <p:sp>
        <p:nvSpPr>
          <p:cNvPr id="9" name="Text 7"/>
          <p:cNvSpPr txBox="1"/>
          <p:nvPr/>
        </p:nvSpPr>
        <p:spPr>
          <a:xfrm>
            <a:off x="841248" y="3319272"/>
            <a:ext cx="10506456" cy="320040"/>
          </a:xfrm>
          <a:prstGeom prst="rect">
            <a:avLst/>
          </a:prstGeom>
          <a:noFill/>
          <a:ln/>
        </p:spPr>
        <p:txBody>
          <a:bodyPr wrap="square" lIns="0" tIns="0" rIns="0" bIns="0" rtlCol="0" anchor="ctr"/>
          <a:lstStyle/>
          <a:p>
            <a:pPr marL="0" indent="0">
              <a:buNone/>
            </a:pPr>
            <a:r>
              <a:rPr lang="en-US" sz="1200" dirty="0">
                <a:solidFill>
                  <a:srgbClr val="3A3A38"/>
                </a:solidFill>
                <a:latin typeface="Calibri" pitchFamily="34" charset="0"/>
                <a:ea typeface="Calibri" pitchFamily="34" charset="-122"/>
                <a:cs typeface="Calibri" pitchFamily="34" charset="-120"/>
              </a:rPr>
              <a:t>Código fuente, modelo entrenado, 61 pruebas, informes y los dos flujos automatizados</a:t>
            </a:r>
            <a:endParaRPr lang="en-US" sz="1200" dirty="0"/>
          </a:p>
        </p:txBody>
      </p:sp>
      <p:sp>
        <p:nvSpPr>
          <p:cNvPr id="10" name="Shape 8"/>
          <p:cNvSpPr/>
          <p:nvPr/>
        </p:nvSpPr>
        <p:spPr>
          <a:xfrm>
            <a:off x="640080" y="3931920"/>
            <a:ext cx="10908792" cy="914400"/>
          </a:xfrm>
          <a:prstGeom prst="roundRect">
            <a:avLst>
              <a:gd name="adj" fmla="val 8000"/>
            </a:avLst>
          </a:prstGeom>
          <a:solidFill>
            <a:srgbClr val="E7E8D1"/>
          </a:solidFill>
          <a:ln w="12700">
            <a:solidFill>
              <a:srgbClr val="E7E8D1"/>
            </a:solidFill>
            <a:prstDash val="solid"/>
          </a:ln>
        </p:spPr>
      </p:sp>
      <p:sp>
        <p:nvSpPr>
          <p:cNvPr id="11" name="Text 9"/>
          <p:cNvSpPr txBox="1"/>
          <p:nvPr/>
        </p:nvSpPr>
        <p:spPr>
          <a:xfrm>
            <a:off x="841248" y="4050792"/>
            <a:ext cx="10506456" cy="365760"/>
          </a:xfrm>
          <a:prstGeom prst="rect">
            <a:avLst/>
          </a:prstGeom>
          <a:noFill/>
          <a:ln/>
        </p:spPr>
        <p:txBody>
          <a:bodyPr wrap="square" lIns="0" tIns="0" rIns="0" bIns="0" rtlCol="0" anchor="ctr"/>
          <a:lstStyle/>
          <a:p>
            <a:pPr marL="0" indent="0">
              <a:buNone/>
            </a:pPr>
            <a:r>
              <a:rPr lang="en-US" sz="1400" b="1" dirty="0">
                <a:solidFill>
                  <a:srgbClr val="B85042"/>
                </a:solidFill>
                <a:latin typeface="Courier New" pitchFamily="34" charset="0"/>
                <a:ea typeface="Courier New" pitchFamily="34" charset="-122"/>
                <a:cs typeface="Courier New" pitchFamily="34" charset="-120"/>
              </a:rPr>
              <a:t>github.com/htacoav/StartUpMCD/actions</a:t>
            </a:r>
            <a:endParaRPr lang="en-US" sz="1400" dirty="0"/>
          </a:p>
        </p:txBody>
      </p:sp>
      <p:sp>
        <p:nvSpPr>
          <p:cNvPr id="12" name="Text 10"/>
          <p:cNvSpPr txBox="1"/>
          <p:nvPr/>
        </p:nvSpPr>
        <p:spPr>
          <a:xfrm>
            <a:off x="841248" y="4416552"/>
            <a:ext cx="10506456" cy="320040"/>
          </a:xfrm>
          <a:prstGeom prst="rect">
            <a:avLst/>
          </a:prstGeom>
          <a:noFill/>
          <a:ln/>
        </p:spPr>
        <p:txBody>
          <a:bodyPr wrap="square" lIns="0" tIns="0" rIns="0" bIns="0" rtlCol="0" anchor="ctr"/>
          <a:lstStyle/>
          <a:p>
            <a:pPr marL="0" indent="0">
              <a:buNone/>
            </a:pPr>
            <a:r>
              <a:rPr lang="en-US" sz="1200" dirty="0">
                <a:solidFill>
                  <a:srgbClr val="3A3A38"/>
                </a:solidFill>
                <a:latin typeface="Calibri" pitchFamily="34" charset="0"/>
                <a:ea typeface="Calibri" pitchFamily="34" charset="-122"/>
                <a:cs typeface="Calibri" pitchFamily="34" charset="-120"/>
              </a:rPr>
              <a:t>El registro de cada ejecución de los pipelines</a:t>
            </a:r>
            <a:endParaRPr lang="en-US" sz="1200" dirty="0"/>
          </a:p>
        </p:txBody>
      </p:sp>
      <p:sp>
        <p:nvSpPr>
          <p:cNvPr id="13" name="Text 11"/>
          <p:cNvSpPr txBox="1"/>
          <p:nvPr/>
        </p:nvSpPr>
        <p:spPr>
          <a:xfrm>
            <a:off x="640080" y="5120640"/>
            <a:ext cx="2727198"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0.7469</a:t>
            </a:r>
            <a:endParaRPr lang="en-US" sz="4400" dirty="0"/>
          </a:p>
        </p:txBody>
      </p:sp>
      <p:sp>
        <p:nvSpPr>
          <p:cNvPr id="14" name="Text 12"/>
          <p:cNvSpPr txBox="1"/>
          <p:nvPr/>
        </p:nvSpPr>
        <p:spPr>
          <a:xfrm>
            <a:off x="640080" y="5961888"/>
            <a:ext cx="2727198"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ROC-AUC del modelo</a:t>
            </a:r>
            <a:endParaRPr lang="en-US" sz="1250" dirty="0"/>
          </a:p>
        </p:txBody>
      </p:sp>
      <p:sp>
        <p:nvSpPr>
          <p:cNvPr id="15" name="Text 13"/>
          <p:cNvSpPr txBox="1"/>
          <p:nvPr/>
        </p:nvSpPr>
        <p:spPr>
          <a:xfrm>
            <a:off x="3367278" y="5120640"/>
            <a:ext cx="2727198" cy="822960"/>
          </a:xfrm>
          <a:prstGeom prst="rect">
            <a:avLst/>
          </a:prstGeom>
          <a:noFill/>
          <a:ln/>
        </p:spPr>
        <p:txBody>
          <a:bodyPr wrap="square" lIns="0" tIns="0" rIns="0" bIns="0" rtlCol="0" anchor="ctr"/>
          <a:lstStyle/>
          <a:p>
            <a:pPr marL="0" indent="0" algn="ctr">
              <a:buNone/>
            </a:pPr>
            <a:r>
              <a:rPr lang="en-US" sz="4400" b="1" dirty="0">
                <a:solidFill>
                  <a:srgbClr val="5F7F6E"/>
                </a:solidFill>
                <a:latin typeface="Cambria" pitchFamily="34" charset="0"/>
                <a:ea typeface="Cambria" pitchFamily="34" charset="-122"/>
                <a:cs typeface="Cambria" pitchFamily="34" charset="-120"/>
              </a:rPr>
              <a:t>61</a:t>
            </a:r>
            <a:endParaRPr lang="en-US" sz="4400" dirty="0"/>
          </a:p>
        </p:txBody>
      </p:sp>
      <p:sp>
        <p:nvSpPr>
          <p:cNvPr id="16" name="Text 14"/>
          <p:cNvSpPr txBox="1"/>
          <p:nvPr/>
        </p:nvSpPr>
        <p:spPr>
          <a:xfrm>
            <a:off x="3367278" y="5961888"/>
            <a:ext cx="2727198"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pruebas automatizadas</a:t>
            </a:r>
            <a:endParaRPr lang="en-US" sz="1250" dirty="0"/>
          </a:p>
        </p:txBody>
      </p:sp>
      <p:sp>
        <p:nvSpPr>
          <p:cNvPr id="17" name="Text 15"/>
          <p:cNvSpPr txBox="1"/>
          <p:nvPr/>
        </p:nvSpPr>
        <p:spPr>
          <a:xfrm>
            <a:off x="6094476" y="5120640"/>
            <a:ext cx="2727198" cy="822960"/>
          </a:xfrm>
          <a:prstGeom prst="rect">
            <a:avLst/>
          </a:prstGeom>
          <a:noFill/>
          <a:ln/>
        </p:spPr>
        <p:txBody>
          <a:bodyPr wrap="square" lIns="0" tIns="0" rIns="0" bIns="0" rtlCol="0" anchor="ctr"/>
          <a:lstStyle/>
          <a:p>
            <a:pPr marL="0" indent="0" algn="ctr">
              <a:buNone/>
            </a:pPr>
            <a:r>
              <a:rPr lang="en-US" sz="4400" b="1" dirty="0">
                <a:solidFill>
                  <a:srgbClr val="5F7F6E"/>
                </a:solidFill>
                <a:latin typeface="Cambria" pitchFamily="34" charset="0"/>
                <a:ea typeface="Cambria" pitchFamily="34" charset="-122"/>
                <a:cs typeface="Cambria" pitchFamily="34" charset="-120"/>
              </a:rPr>
              <a:t>2</a:t>
            </a:r>
            <a:endParaRPr lang="en-US" sz="4400" dirty="0"/>
          </a:p>
        </p:txBody>
      </p:sp>
      <p:sp>
        <p:nvSpPr>
          <p:cNvPr id="18" name="Text 16"/>
          <p:cNvSpPr txBox="1"/>
          <p:nvPr/>
        </p:nvSpPr>
        <p:spPr>
          <a:xfrm>
            <a:off x="6094476" y="5961888"/>
            <a:ext cx="2727198"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flujos automatizados</a:t>
            </a:r>
            <a:endParaRPr lang="en-US" sz="1250" dirty="0"/>
          </a:p>
        </p:txBody>
      </p:sp>
      <p:sp>
        <p:nvSpPr>
          <p:cNvPr id="19" name="Text 17"/>
          <p:cNvSpPr txBox="1"/>
          <p:nvPr/>
        </p:nvSpPr>
        <p:spPr>
          <a:xfrm>
            <a:off x="8821674" y="5120640"/>
            <a:ext cx="2727198" cy="822960"/>
          </a:xfrm>
          <a:prstGeom prst="rect">
            <a:avLst/>
          </a:prstGeom>
          <a:noFill/>
          <a:ln/>
        </p:spPr>
        <p:txBody>
          <a:bodyPr wrap="square" lIns="0" tIns="0" rIns="0" bIns="0" rtlCol="0" anchor="ctr"/>
          <a:lstStyle/>
          <a:p>
            <a:pPr marL="0" indent="0" algn="ctr">
              <a:buNone/>
            </a:pPr>
            <a:r>
              <a:rPr lang="en-US" sz="4400" b="1" dirty="0">
                <a:solidFill>
                  <a:srgbClr val="B85042"/>
                </a:solidFill>
                <a:latin typeface="Cambria" pitchFamily="34" charset="0"/>
                <a:ea typeface="Cambria" pitchFamily="34" charset="-122"/>
                <a:cs typeface="Cambria" pitchFamily="34" charset="-120"/>
              </a:rPr>
              <a:t>13</a:t>
            </a:r>
            <a:endParaRPr lang="en-US" sz="4400" dirty="0"/>
          </a:p>
        </p:txBody>
      </p:sp>
      <p:sp>
        <p:nvSpPr>
          <p:cNvPr id="20" name="Text 18"/>
          <p:cNvSpPr txBox="1"/>
          <p:nvPr/>
        </p:nvSpPr>
        <p:spPr>
          <a:xfrm>
            <a:off x="8821674" y="5961888"/>
            <a:ext cx="2727198" cy="502920"/>
          </a:xfrm>
          <a:prstGeom prst="rect">
            <a:avLst/>
          </a:prstGeom>
          <a:noFill/>
          <a:ln/>
        </p:spPr>
        <p:txBody>
          <a:bodyPr wrap="square" lIns="0" tIns="0" rIns="0" bIns="0" rtlCol="0" anchor="ctr"/>
          <a:lstStyle/>
          <a:p>
            <a:pPr marL="0" indent="0" algn="ctr">
              <a:buNone/>
            </a:pPr>
            <a:r>
              <a:rPr lang="en-US" sz="1250" dirty="0">
                <a:solidFill>
                  <a:srgbClr val="7A756E"/>
                </a:solidFill>
                <a:latin typeface="Calibri" pitchFamily="34" charset="0"/>
                <a:ea typeface="Calibri" pitchFamily="34" charset="-122"/>
                <a:cs typeface="Calibri" pitchFamily="34" charset="-120"/>
              </a:rPr>
              <a:t>rutas documentadas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479</TotalTime>
  <Words>3520</Words>
  <Application>Microsoft Macintosh PowerPoint</Application>
  <PresentationFormat>Panorámica</PresentationFormat>
  <Paragraphs>462</Paragraphs>
  <Slides>28</Slides>
  <Notes>28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28</vt:i4>
      </vt:variant>
    </vt:vector>
  </HeadingPairs>
  <TitlesOfParts>
    <vt:vector size="33"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Exposicion final: Prediccion de Supervivencia de Emprendimientos</dc:title>
  <dc:subject>PptxGenJS Presentation</dc:subject>
  <dc:creator>Taco Aviles Milton Hiroshi</dc:creator>
  <cp:lastModifiedBy>Hiroshi Taco</cp:lastModifiedBy>
  <cp:revision>2</cp:revision>
  <dcterms:created xsi:type="dcterms:W3CDTF">2026-09-27T03:42:04Z</dcterms:created>
  <dcterms:modified xsi:type="dcterms:W3CDTF">2026-09-27T11:42:37Z</dcterms:modified>
</cp:coreProperties>
</file>