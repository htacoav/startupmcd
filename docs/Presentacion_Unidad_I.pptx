
<file path=[Content_Types].xml><?xml version="1.0" encoding="utf-8"?>
<Types xmlns="http://schemas.openxmlformats.org/package/2006/content-types">
  <Default Extension="org&amp;utm_campaign=index&amp;utm_content=original"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92"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7697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Presentacion del proyecto final. La pregunta que guia todo el trabajo es que caracteristicas permiten anticipar que emprendimiento sobrevive.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excede el modelado: el entregable es un producto de software en produccion.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clave si preguntan por que no usamos el umbral 0.5 ni F1.</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82F29-3228-143E-D8C1-56D4B4739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35446A-7A1F-929B-9E8E-0560935904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7231C5-86C6-7BBC-AF9D-EAA8227107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55CAF9-C217-6BC3-365A-6848A2AF0E04}"/>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5913251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hallazgo contradice buena parte del imaginario sobre el emprendimiento, que atribuye el exito a las cualidades del fundador.</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org&amp;utm_campaign=index&amp;utm_content=origi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3302B"/>
        </a:solidFill>
        <a:effectLst/>
      </p:bgPr>
    </p:bg>
    <p:spTree>
      <p:nvGrpSpPr>
        <p:cNvPr id="1" name=""/>
        <p:cNvGrpSpPr/>
        <p:nvPr/>
      </p:nvGrpSpPr>
      <p:grpSpPr>
        <a:xfrm>
          <a:off x="0" y="0"/>
          <a:ext cx="0" cy="0"/>
          <a:chOff x="0" y="0"/>
          <a:chExt cx="0" cy="0"/>
        </a:xfrm>
      </p:grpSpPr>
      <p:sp>
        <p:nvSpPr>
          <p:cNvPr id="2" name="Shape 0"/>
          <p:cNvSpPr/>
          <p:nvPr/>
        </p:nvSpPr>
        <p:spPr>
          <a:xfrm>
            <a:off x="9692640" y="-1371600"/>
            <a:ext cx="4206240" cy="4206240"/>
          </a:xfrm>
          <a:prstGeom prst="ellipse">
            <a:avLst/>
          </a:prstGeom>
          <a:solidFill>
            <a:srgbClr val="B85042"/>
          </a:solidFill>
          <a:ln w="12700">
            <a:solidFill>
              <a:srgbClr val="B85042"/>
            </a:solidFill>
            <a:prstDash val="solid"/>
          </a:ln>
        </p:spPr>
      </p:sp>
      <p:sp>
        <p:nvSpPr>
          <p:cNvPr id="3" name="Shape 1"/>
          <p:cNvSpPr/>
          <p:nvPr/>
        </p:nvSpPr>
        <p:spPr>
          <a:xfrm>
            <a:off x="10881360" y="4846320"/>
            <a:ext cx="2377440" cy="2377440"/>
          </a:xfrm>
          <a:prstGeom prst="ellipse">
            <a:avLst/>
          </a:prstGeom>
          <a:solidFill>
            <a:srgbClr val="5F7F6E"/>
          </a:solidFill>
          <a:ln w="12700">
            <a:solidFill>
              <a:srgbClr val="5F7F6E"/>
            </a:solidFill>
            <a:prstDash val="solid"/>
          </a:ln>
        </p:spPr>
      </p:sp>
      <p:sp>
        <p:nvSpPr>
          <p:cNvPr id="4" name="Text 2"/>
          <p:cNvSpPr txBox="1"/>
          <p:nvPr/>
        </p:nvSpPr>
        <p:spPr>
          <a:xfrm>
            <a:off x="640080" y="1371600"/>
            <a:ext cx="8686800" cy="365760"/>
          </a:xfrm>
          <a:prstGeom prst="rect">
            <a:avLst/>
          </a:prstGeom>
          <a:noFill/>
          <a:ln/>
        </p:spPr>
        <p:txBody>
          <a:bodyPr wrap="square" lIns="0" tIns="0" rIns="0" bIns="0" rtlCol="0" anchor="ctr"/>
          <a:lstStyle/>
          <a:p>
            <a:pPr marL="0" indent="0">
              <a:buNone/>
            </a:pPr>
            <a:r>
              <a:rPr lang="en-US" sz="1400" kern="0" spc="200" dirty="0">
                <a:solidFill>
                  <a:srgbClr val="E7E8D1"/>
                </a:solidFill>
                <a:latin typeface="Calibri" pitchFamily="34" charset="0"/>
                <a:ea typeface="Calibri" pitchFamily="34" charset="-122"/>
                <a:cs typeface="Calibri" pitchFamily="34" charset="-120"/>
              </a:rPr>
              <a:t>Proyecto Final  ·  Unidad I</a:t>
            </a:r>
            <a:endParaRPr lang="en-US" sz="1400" dirty="0"/>
          </a:p>
        </p:txBody>
      </p:sp>
      <p:sp>
        <p:nvSpPr>
          <p:cNvPr id="5" name="Text 3"/>
          <p:cNvSpPr txBox="1"/>
          <p:nvPr/>
        </p:nvSpPr>
        <p:spPr>
          <a:xfrm>
            <a:off x="640080" y="1828800"/>
            <a:ext cx="8595360" cy="1554480"/>
          </a:xfrm>
          <a:prstGeom prst="rect">
            <a:avLst/>
          </a:prstGeom>
          <a:noFill/>
          <a:ln/>
        </p:spPr>
        <p:txBody>
          <a:bodyPr wrap="square" lIns="0" tIns="0" rIns="0" bIns="0" rtlCol="0" anchor="ctr"/>
          <a:lstStyle/>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Predicción de la Supervivencia de Emprendimientos</a:t>
            </a:r>
            <a:endParaRPr lang="en-US" sz="4000" dirty="0"/>
          </a:p>
        </p:txBody>
      </p:sp>
      <p:sp>
        <p:nvSpPr>
          <p:cNvPr id="6" name="Text 4"/>
          <p:cNvSpPr txBox="1"/>
          <p:nvPr/>
        </p:nvSpPr>
        <p:spPr>
          <a:xfrm>
            <a:off x="640080" y="3520440"/>
            <a:ext cx="8595360" cy="548640"/>
          </a:xfrm>
          <a:prstGeom prst="rect">
            <a:avLst/>
          </a:prstGeom>
          <a:noFill/>
          <a:ln/>
        </p:spPr>
        <p:txBody>
          <a:bodyPr wrap="square" lIns="0" tIns="0" rIns="0" bIns="0" rtlCol="0" anchor="ctr"/>
          <a:lstStyle/>
          <a:p>
            <a:pPr marL="0" indent="0">
              <a:buNone/>
            </a:pPr>
            <a:r>
              <a:rPr lang="en-US" sz="1600" i="1" dirty="0">
                <a:solidFill>
                  <a:srgbClr val="E7E8D1"/>
                </a:solidFill>
                <a:latin typeface="Calibri" pitchFamily="34" charset="0"/>
                <a:ea typeface="Calibri" pitchFamily="34" charset="-122"/>
                <a:cs typeface="Calibri" pitchFamily="34" charset="-120"/>
              </a:rPr>
              <a:t>Desarrollo y despliegue de una aplicación de aprendizaje automático en producción</a:t>
            </a:r>
            <a:endParaRPr lang="en-US" sz="1600" dirty="0"/>
          </a:p>
        </p:txBody>
      </p:sp>
      <p:sp>
        <p:nvSpPr>
          <p:cNvPr id="7" name="Text 5"/>
          <p:cNvSpPr txBox="1"/>
          <p:nvPr/>
        </p:nvSpPr>
        <p:spPr>
          <a:xfrm>
            <a:off x="640080" y="4572000"/>
            <a:ext cx="5486400" cy="914400"/>
          </a:xfrm>
          <a:prstGeom prst="rect">
            <a:avLst/>
          </a:prstGeom>
          <a:noFill/>
          <a:ln/>
        </p:spPr>
        <p:txBody>
          <a:bodyPr wrap="square" lIns="0" tIns="0" rIns="0" bIns="0" rtlCol="0" anchor="ctr"/>
          <a:lstStyle/>
          <a:p>
            <a:pPr marL="0" indent="0">
              <a:lnSpc>
                <a:spcPts val="1800"/>
              </a:lnSpc>
              <a:buNone/>
            </a:pPr>
            <a:r>
              <a:rPr lang="en-US" sz="1300" dirty="0">
                <a:solidFill>
                  <a:srgbClr val="FFFFFF"/>
                </a:solidFill>
                <a:latin typeface="Calibri" pitchFamily="34" charset="0"/>
                <a:ea typeface="Calibri" pitchFamily="34" charset="-122"/>
                <a:cs typeface="Calibri" pitchFamily="34" charset="-120"/>
              </a:rPr>
              <a:t>Taco Avilés, Milton Hiroshi</a:t>
            </a:r>
            <a:endParaRPr lang="en-US" sz="1300" dirty="0"/>
          </a:p>
          <a:p>
            <a:pPr marL="0" indent="0">
              <a:lnSpc>
                <a:spcPts val="1800"/>
              </a:lnSpc>
              <a:buNone/>
            </a:pPr>
            <a:r>
              <a:rPr lang="en-US" sz="1300" dirty="0">
                <a:solidFill>
                  <a:srgbClr val="FFFFFF"/>
                </a:solidFill>
                <a:latin typeface="Calibri" pitchFamily="34" charset="0"/>
                <a:ea typeface="Calibri" pitchFamily="34" charset="-122"/>
                <a:cs typeface="Calibri" pitchFamily="34" charset="-120"/>
              </a:rPr>
              <a:t>[Nombre del segundo integrante]</a:t>
            </a:r>
            <a:endParaRPr lang="en-US" sz="1300" dirty="0"/>
          </a:p>
          <a:p>
            <a:pPr marL="0" indent="0">
              <a:lnSpc>
                <a:spcPts val="1800"/>
              </a:lnSpc>
              <a:buNone/>
            </a:pPr>
            <a:r>
              <a:rPr lang="en-US" sz="1300" dirty="0">
                <a:solidFill>
                  <a:srgbClr val="FFFFFF"/>
                </a:solidFill>
                <a:latin typeface="Calibri" pitchFamily="34" charset="0"/>
                <a:ea typeface="Calibri" pitchFamily="34" charset="-122"/>
                <a:cs typeface="Calibri" pitchFamily="34" charset="-120"/>
              </a:rPr>
              <a:t>[Nombre del tercer integrante]</a:t>
            </a:r>
            <a:endParaRPr lang="en-US" sz="1300" dirty="0"/>
          </a:p>
        </p:txBody>
      </p:sp>
      <p:sp>
        <p:nvSpPr>
          <p:cNvPr id="8" name="Text 6"/>
          <p:cNvSpPr txBox="1"/>
          <p:nvPr/>
        </p:nvSpPr>
        <p:spPr>
          <a:xfrm>
            <a:off x="640080" y="5669280"/>
            <a:ext cx="8229600" cy="822960"/>
          </a:xfrm>
          <a:prstGeom prst="rect">
            <a:avLst/>
          </a:prstGeom>
          <a:noFill/>
          <a:ln/>
        </p:spPr>
        <p:txBody>
          <a:bodyPr wrap="square" lIns="0" tIns="0" rIns="0" bIns="0" rtlCol="0" anchor="ctr"/>
          <a:lstStyle/>
          <a:p>
            <a:pPr marL="0" indent="0">
              <a:lnSpc>
                <a:spcPts val="1500"/>
              </a:lnSpc>
              <a:buNone/>
            </a:pPr>
            <a:r>
              <a:rPr lang="en-US" sz="1150" dirty="0">
                <a:solidFill>
                  <a:srgbClr val="7A756E"/>
                </a:solidFill>
                <a:latin typeface="Calibri" pitchFamily="34" charset="0"/>
                <a:ea typeface="Calibri" pitchFamily="34" charset="-122"/>
                <a:cs typeface="Calibri" pitchFamily="34" charset="-120"/>
              </a:rPr>
              <a:t>Maestría en Ciencia de Datos  ·  Machine Learning</a:t>
            </a:r>
            <a:endParaRPr lang="en-US" sz="1150" dirty="0"/>
          </a:p>
          <a:p>
            <a:pPr marL="0" indent="0">
              <a:lnSpc>
                <a:spcPts val="1500"/>
              </a:lnSpc>
              <a:buNone/>
            </a:pPr>
            <a:r>
              <a:rPr lang="en-US" sz="1150" dirty="0">
                <a:solidFill>
                  <a:srgbClr val="7A756E"/>
                </a:solidFill>
                <a:latin typeface="Calibri" pitchFamily="34" charset="0"/>
                <a:ea typeface="Calibri" pitchFamily="34" charset="-122"/>
                <a:cs typeface="Calibri" pitchFamily="34" charset="-120"/>
              </a:rPr>
              <a:t>Escuela de Posgrado, Universidad Nacional del Altiplano</a:t>
            </a:r>
            <a:endParaRPr lang="en-US" sz="1150" dirty="0"/>
          </a:p>
          <a:p>
            <a:pPr marL="0" indent="0">
              <a:lnSpc>
                <a:spcPts val="1500"/>
              </a:lnSpc>
              <a:buNone/>
            </a:pPr>
            <a:r>
              <a:rPr lang="en-US" sz="1150" dirty="0">
                <a:solidFill>
                  <a:srgbClr val="7A756E"/>
                </a:solidFill>
                <a:latin typeface="Calibri" pitchFamily="34" charset="0"/>
                <a:ea typeface="Calibri" pitchFamily="34" charset="-122"/>
                <a:cs typeface="Calibri" pitchFamily="34" charset="-120"/>
              </a:rPr>
              <a:t>13 de setiembre de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Contenido</a:t>
            </a:r>
            <a:endParaRPr lang="en-US" sz="3000" dirty="0"/>
          </a:p>
        </p:txBody>
      </p:sp>
      <p:sp>
        <p:nvSpPr>
          <p:cNvPr id="3" name="Text 1"/>
          <p:cNvSpPr txBox="1"/>
          <p:nvPr/>
        </p:nvSpPr>
        <p:spPr>
          <a:xfrm>
            <a:off x="640080" y="1078992"/>
            <a:ext cx="10908792" cy="384048"/>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Lo que vamos a recorrer</a:t>
            </a:r>
            <a:endParaRPr lang="en-US" sz="1400" dirty="0"/>
          </a:p>
        </p:txBody>
      </p:sp>
      <p:sp>
        <p:nvSpPr>
          <p:cNvPr id="4" name="Shape 2"/>
          <p:cNvSpPr/>
          <p:nvPr/>
        </p:nvSpPr>
        <p:spPr>
          <a:xfrm>
            <a:off x="640080" y="1783080"/>
            <a:ext cx="566928" cy="566928"/>
          </a:xfrm>
          <a:prstGeom prst="ellipse">
            <a:avLst/>
          </a:prstGeom>
          <a:solidFill>
            <a:srgbClr val="B85042"/>
          </a:solidFill>
          <a:ln w="12700">
            <a:solidFill>
              <a:srgbClr val="B85042"/>
            </a:solidFill>
            <a:prstDash val="solid"/>
          </a:ln>
        </p:spPr>
      </p:sp>
      <p:sp>
        <p:nvSpPr>
          <p:cNvPr id="5" name="Text 3"/>
          <p:cNvSpPr txBox="1"/>
          <p:nvPr/>
        </p:nvSpPr>
        <p:spPr>
          <a:xfrm>
            <a:off x="640080" y="178308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1389888" y="1801368"/>
            <a:ext cx="4521708" cy="329184"/>
          </a:xfrm>
          <a:prstGeom prst="rect">
            <a:avLst/>
          </a:prstGeom>
          <a:noFill/>
          <a:ln/>
        </p:spPr>
        <p:txBody>
          <a:bodyPr wrap="square" lIns="0" tIns="0" rIns="0" bIns="0" rtlCol="0" anchor="ctr"/>
          <a:lstStyle/>
          <a:p>
            <a:pPr marL="0" indent="0">
              <a:buNone/>
            </a:pPr>
            <a:r>
              <a:rPr lang="en-US" sz="1700" b="1" dirty="0">
                <a:solidFill>
                  <a:srgbClr val="33302B"/>
                </a:solidFill>
                <a:latin typeface="Calibri" pitchFamily="34" charset="0"/>
                <a:ea typeface="Calibri" pitchFamily="34" charset="-122"/>
                <a:cs typeface="Calibri" pitchFamily="34" charset="-120"/>
              </a:rPr>
              <a:t>Introducción</a:t>
            </a:r>
            <a:endParaRPr lang="en-US" sz="1700" dirty="0"/>
          </a:p>
        </p:txBody>
      </p:sp>
      <p:sp>
        <p:nvSpPr>
          <p:cNvPr id="7" name="Text 5"/>
          <p:cNvSpPr txBox="1"/>
          <p:nvPr/>
        </p:nvSpPr>
        <p:spPr>
          <a:xfrm>
            <a:off x="1389888" y="2167128"/>
            <a:ext cx="4521708" cy="457200"/>
          </a:xfrm>
          <a:prstGeom prst="rect">
            <a:avLst/>
          </a:prstGeom>
          <a:noFill/>
          <a:ln/>
        </p:spPr>
        <p:txBody>
          <a:bodyPr wrap="square" lIns="0" tIns="0" rIns="0" bIns="0" rtlCol="0" anchor="ctr"/>
          <a:lstStyle/>
          <a:p>
            <a:pPr marL="0" indent="0">
              <a:buNone/>
            </a:pPr>
            <a:r>
              <a:rPr lang="en-US" sz="1250" dirty="0">
                <a:solidFill>
                  <a:srgbClr val="7A756E"/>
                </a:solidFill>
                <a:latin typeface="Calibri" pitchFamily="34" charset="0"/>
                <a:ea typeface="Calibri" pitchFamily="34" charset="-122"/>
                <a:cs typeface="Calibri" pitchFamily="34" charset="-120"/>
              </a:rPr>
              <a:t>La pregunta y por qué importa</a:t>
            </a:r>
            <a:endParaRPr lang="en-US" sz="1250" dirty="0"/>
          </a:p>
        </p:txBody>
      </p:sp>
      <p:sp>
        <p:nvSpPr>
          <p:cNvPr id="8" name="Shape 6"/>
          <p:cNvSpPr/>
          <p:nvPr/>
        </p:nvSpPr>
        <p:spPr>
          <a:xfrm>
            <a:off x="6277356" y="1783080"/>
            <a:ext cx="566928" cy="566928"/>
          </a:xfrm>
          <a:prstGeom prst="ellipse">
            <a:avLst/>
          </a:prstGeom>
          <a:solidFill>
            <a:srgbClr val="B85042"/>
          </a:solidFill>
          <a:ln w="12700">
            <a:solidFill>
              <a:srgbClr val="B85042"/>
            </a:solidFill>
            <a:prstDash val="solid"/>
          </a:ln>
        </p:spPr>
      </p:sp>
      <p:sp>
        <p:nvSpPr>
          <p:cNvPr id="9" name="Text 7"/>
          <p:cNvSpPr txBox="1"/>
          <p:nvPr/>
        </p:nvSpPr>
        <p:spPr>
          <a:xfrm>
            <a:off x="6277356" y="178308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txBox="1"/>
          <p:nvPr/>
        </p:nvSpPr>
        <p:spPr>
          <a:xfrm>
            <a:off x="7027164" y="1801368"/>
            <a:ext cx="4521708" cy="329184"/>
          </a:xfrm>
          <a:prstGeom prst="rect">
            <a:avLst/>
          </a:prstGeom>
          <a:noFill/>
          <a:ln/>
        </p:spPr>
        <p:txBody>
          <a:bodyPr wrap="square" lIns="0" tIns="0" rIns="0" bIns="0" rtlCol="0" anchor="ctr"/>
          <a:lstStyle/>
          <a:p>
            <a:pPr marL="0" indent="0">
              <a:buNone/>
            </a:pPr>
            <a:r>
              <a:rPr lang="en-US" sz="1700" b="1" dirty="0">
                <a:solidFill>
                  <a:srgbClr val="33302B"/>
                </a:solidFill>
                <a:latin typeface="Calibri" pitchFamily="34" charset="0"/>
                <a:ea typeface="Calibri" pitchFamily="34" charset="-122"/>
                <a:cs typeface="Calibri" pitchFamily="34" charset="-120"/>
              </a:rPr>
              <a:t>Método</a:t>
            </a:r>
            <a:endParaRPr lang="en-US" sz="1700" dirty="0"/>
          </a:p>
        </p:txBody>
      </p:sp>
      <p:sp>
        <p:nvSpPr>
          <p:cNvPr id="11" name="Text 9"/>
          <p:cNvSpPr txBox="1"/>
          <p:nvPr/>
        </p:nvSpPr>
        <p:spPr>
          <a:xfrm>
            <a:off x="7027164" y="2167128"/>
            <a:ext cx="4521708" cy="457200"/>
          </a:xfrm>
          <a:prstGeom prst="rect">
            <a:avLst/>
          </a:prstGeom>
          <a:noFill/>
          <a:ln/>
        </p:spPr>
        <p:txBody>
          <a:bodyPr wrap="square" lIns="0" tIns="0" rIns="0" bIns="0" rtlCol="0" anchor="ctr"/>
          <a:lstStyle/>
          <a:p>
            <a:pPr marL="0" indent="0">
              <a:buNone/>
            </a:pPr>
            <a:r>
              <a:rPr lang="en-US" sz="1250" dirty="0">
                <a:solidFill>
                  <a:srgbClr val="7A756E"/>
                </a:solidFill>
                <a:latin typeface="Calibri" pitchFamily="34" charset="0"/>
                <a:ea typeface="Calibri" pitchFamily="34" charset="-122"/>
                <a:cs typeface="Calibri" pitchFamily="34" charset="-120"/>
              </a:rPr>
              <a:t>Datos, variables, preprocesamiento y entrenamiento</a:t>
            </a:r>
            <a:endParaRPr lang="en-US" sz="1250" dirty="0"/>
          </a:p>
        </p:txBody>
      </p:sp>
      <p:sp>
        <p:nvSpPr>
          <p:cNvPr id="12" name="Shape 10"/>
          <p:cNvSpPr/>
          <p:nvPr/>
        </p:nvSpPr>
        <p:spPr>
          <a:xfrm>
            <a:off x="640080" y="3200400"/>
            <a:ext cx="566928" cy="566928"/>
          </a:xfrm>
          <a:prstGeom prst="ellipse">
            <a:avLst/>
          </a:prstGeom>
          <a:solidFill>
            <a:srgbClr val="B85042"/>
          </a:solidFill>
          <a:ln w="12700">
            <a:solidFill>
              <a:srgbClr val="B85042"/>
            </a:solidFill>
            <a:prstDash val="solid"/>
          </a:ln>
        </p:spPr>
      </p:sp>
      <p:sp>
        <p:nvSpPr>
          <p:cNvPr id="13" name="Text 11"/>
          <p:cNvSpPr txBox="1"/>
          <p:nvPr/>
        </p:nvSpPr>
        <p:spPr>
          <a:xfrm>
            <a:off x="640080" y="320040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4" name="Text 12"/>
          <p:cNvSpPr txBox="1"/>
          <p:nvPr/>
        </p:nvSpPr>
        <p:spPr>
          <a:xfrm>
            <a:off x="1389888" y="3218688"/>
            <a:ext cx="4521708" cy="329184"/>
          </a:xfrm>
          <a:prstGeom prst="rect">
            <a:avLst/>
          </a:prstGeom>
          <a:noFill/>
          <a:ln/>
        </p:spPr>
        <p:txBody>
          <a:bodyPr wrap="square" lIns="0" tIns="0" rIns="0" bIns="0" rtlCol="0" anchor="ctr"/>
          <a:lstStyle/>
          <a:p>
            <a:pPr marL="0" indent="0">
              <a:buNone/>
            </a:pPr>
            <a:r>
              <a:rPr lang="en-US" sz="1700" b="1" dirty="0">
                <a:solidFill>
                  <a:srgbClr val="33302B"/>
                </a:solidFill>
                <a:latin typeface="Calibri" pitchFamily="34" charset="0"/>
                <a:ea typeface="Calibri" pitchFamily="34" charset="-122"/>
                <a:cs typeface="Calibri" pitchFamily="34" charset="-120"/>
              </a:rPr>
              <a:t>Resultados</a:t>
            </a:r>
            <a:endParaRPr lang="en-US" sz="1700" dirty="0"/>
          </a:p>
        </p:txBody>
      </p:sp>
      <p:sp>
        <p:nvSpPr>
          <p:cNvPr id="15" name="Text 13"/>
          <p:cNvSpPr txBox="1"/>
          <p:nvPr/>
        </p:nvSpPr>
        <p:spPr>
          <a:xfrm>
            <a:off x="1389888" y="3584448"/>
            <a:ext cx="4521708" cy="457200"/>
          </a:xfrm>
          <a:prstGeom prst="rect">
            <a:avLst/>
          </a:prstGeom>
          <a:noFill/>
          <a:ln/>
        </p:spPr>
        <p:txBody>
          <a:bodyPr wrap="square" lIns="0" tIns="0" rIns="0" bIns="0" rtlCol="0" anchor="ctr"/>
          <a:lstStyle/>
          <a:p>
            <a:pPr marL="0" indent="0">
              <a:buNone/>
            </a:pPr>
            <a:r>
              <a:rPr lang="en-US" sz="1250" dirty="0">
                <a:solidFill>
                  <a:srgbClr val="7A756E"/>
                </a:solidFill>
                <a:latin typeface="Calibri" pitchFamily="34" charset="0"/>
                <a:ea typeface="Calibri" pitchFamily="34" charset="-122"/>
                <a:cs typeface="Calibri" pitchFamily="34" charset="-120"/>
              </a:rPr>
              <a:t>Qué características anticipan la supervivencia</a:t>
            </a:r>
            <a:endParaRPr lang="en-US" sz="1250" dirty="0"/>
          </a:p>
        </p:txBody>
      </p:sp>
      <p:sp>
        <p:nvSpPr>
          <p:cNvPr id="16" name="Shape 14"/>
          <p:cNvSpPr/>
          <p:nvPr/>
        </p:nvSpPr>
        <p:spPr>
          <a:xfrm>
            <a:off x="6277356" y="3200400"/>
            <a:ext cx="566928" cy="566928"/>
          </a:xfrm>
          <a:prstGeom prst="ellipse">
            <a:avLst/>
          </a:prstGeom>
          <a:solidFill>
            <a:srgbClr val="B85042"/>
          </a:solidFill>
          <a:ln w="12700">
            <a:solidFill>
              <a:srgbClr val="B85042"/>
            </a:solidFill>
            <a:prstDash val="solid"/>
          </a:ln>
        </p:spPr>
      </p:sp>
      <p:sp>
        <p:nvSpPr>
          <p:cNvPr id="17" name="Text 15"/>
          <p:cNvSpPr txBox="1"/>
          <p:nvPr/>
        </p:nvSpPr>
        <p:spPr>
          <a:xfrm>
            <a:off x="6277356" y="320040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8" name="Text 16"/>
          <p:cNvSpPr txBox="1"/>
          <p:nvPr/>
        </p:nvSpPr>
        <p:spPr>
          <a:xfrm>
            <a:off x="7027164" y="3218688"/>
            <a:ext cx="4521708" cy="329184"/>
          </a:xfrm>
          <a:prstGeom prst="rect">
            <a:avLst/>
          </a:prstGeom>
          <a:noFill/>
          <a:ln/>
        </p:spPr>
        <p:txBody>
          <a:bodyPr wrap="square" lIns="0" tIns="0" rIns="0" bIns="0" rtlCol="0" anchor="ctr"/>
          <a:lstStyle/>
          <a:p>
            <a:pPr marL="0" indent="0">
              <a:buNone/>
            </a:pPr>
            <a:r>
              <a:rPr lang="en-US" sz="1700" b="1" dirty="0">
                <a:solidFill>
                  <a:srgbClr val="33302B"/>
                </a:solidFill>
                <a:latin typeface="Calibri" pitchFamily="34" charset="0"/>
                <a:ea typeface="Calibri" pitchFamily="34" charset="-122"/>
                <a:cs typeface="Calibri" pitchFamily="34" charset="-120"/>
              </a:rPr>
              <a:t>La aplicación</a:t>
            </a:r>
            <a:endParaRPr lang="en-US" sz="1700" dirty="0"/>
          </a:p>
        </p:txBody>
      </p:sp>
      <p:sp>
        <p:nvSpPr>
          <p:cNvPr id="19" name="Text 17"/>
          <p:cNvSpPr txBox="1"/>
          <p:nvPr/>
        </p:nvSpPr>
        <p:spPr>
          <a:xfrm>
            <a:off x="7027164" y="3584448"/>
            <a:ext cx="4521708" cy="457200"/>
          </a:xfrm>
          <a:prstGeom prst="rect">
            <a:avLst/>
          </a:prstGeom>
          <a:noFill/>
          <a:ln/>
        </p:spPr>
        <p:txBody>
          <a:bodyPr wrap="square" lIns="0" tIns="0" rIns="0" bIns="0" rtlCol="0" anchor="ctr"/>
          <a:lstStyle/>
          <a:p>
            <a:pPr marL="0" indent="0">
              <a:buNone/>
            </a:pPr>
            <a:r>
              <a:rPr lang="en-US" sz="1250" dirty="0">
                <a:solidFill>
                  <a:srgbClr val="7A756E"/>
                </a:solidFill>
                <a:latin typeface="Calibri" pitchFamily="34" charset="0"/>
                <a:ea typeface="Calibri" pitchFamily="34" charset="-122"/>
                <a:cs typeface="Calibri" pitchFamily="34" charset="-120"/>
              </a:rPr>
              <a:t>Arquitectura, dos interfaces y API</a:t>
            </a:r>
            <a:endParaRPr lang="en-US" sz="1250" dirty="0"/>
          </a:p>
        </p:txBody>
      </p:sp>
      <p:sp>
        <p:nvSpPr>
          <p:cNvPr id="20" name="Shape 18"/>
          <p:cNvSpPr/>
          <p:nvPr/>
        </p:nvSpPr>
        <p:spPr>
          <a:xfrm>
            <a:off x="640080" y="4617720"/>
            <a:ext cx="566928" cy="566928"/>
          </a:xfrm>
          <a:prstGeom prst="ellipse">
            <a:avLst/>
          </a:prstGeom>
          <a:solidFill>
            <a:srgbClr val="B85042"/>
          </a:solidFill>
          <a:ln w="12700">
            <a:solidFill>
              <a:srgbClr val="B85042"/>
            </a:solidFill>
            <a:prstDash val="solid"/>
          </a:ln>
        </p:spPr>
      </p:sp>
      <p:sp>
        <p:nvSpPr>
          <p:cNvPr id="21" name="Text 19"/>
          <p:cNvSpPr txBox="1"/>
          <p:nvPr/>
        </p:nvSpPr>
        <p:spPr>
          <a:xfrm>
            <a:off x="640080" y="461772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2" name="Text 20"/>
          <p:cNvSpPr txBox="1"/>
          <p:nvPr/>
        </p:nvSpPr>
        <p:spPr>
          <a:xfrm>
            <a:off x="1389888" y="4636008"/>
            <a:ext cx="4521708" cy="329184"/>
          </a:xfrm>
          <a:prstGeom prst="rect">
            <a:avLst/>
          </a:prstGeom>
          <a:noFill/>
          <a:ln/>
        </p:spPr>
        <p:txBody>
          <a:bodyPr wrap="square" lIns="0" tIns="0" rIns="0" bIns="0" rtlCol="0" anchor="ctr"/>
          <a:lstStyle/>
          <a:p>
            <a:pPr marL="0" indent="0">
              <a:buNone/>
            </a:pPr>
            <a:r>
              <a:rPr lang="en-US" sz="1700" b="1" dirty="0">
                <a:solidFill>
                  <a:srgbClr val="33302B"/>
                </a:solidFill>
                <a:latin typeface="Calibri" pitchFamily="34" charset="0"/>
                <a:ea typeface="Calibri" pitchFamily="34" charset="-122"/>
                <a:cs typeface="Calibri" pitchFamily="34" charset="-120"/>
              </a:rPr>
              <a:t>Despliegue y pruebas</a:t>
            </a:r>
            <a:endParaRPr lang="en-US" sz="1700" dirty="0"/>
          </a:p>
        </p:txBody>
      </p:sp>
      <p:sp>
        <p:nvSpPr>
          <p:cNvPr id="23" name="Text 21"/>
          <p:cNvSpPr txBox="1"/>
          <p:nvPr/>
        </p:nvSpPr>
        <p:spPr>
          <a:xfrm>
            <a:off x="1389888" y="5001768"/>
            <a:ext cx="4521708" cy="457200"/>
          </a:xfrm>
          <a:prstGeom prst="rect">
            <a:avLst/>
          </a:prstGeom>
          <a:noFill/>
          <a:ln/>
        </p:spPr>
        <p:txBody>
          <a:bodyPr wrap="square" lIns="0" tIns="0" rIns="0" bIns="0" rtlCol="0" anchor="ctr"/>
          <a:lstStyle/>
          <a:p>
            <a:pPr marL="0" indent="0">
              <a:buNone/>
            </a:pPr>
            <a:r>
              <a:rPr lang="en-US" sz="1250" dirty="0">
                <a:solidFill>
                  <a:srgbClr val="7A756E"/>
                </a:solidFill>
                <a:latin typeface="Calibri" pitchFamily="34" charset="0"/>
                <a:ea typeface="Calibri" pitchFamily="34" charset="-122"/>
                <a:cs typeface="Calibri" pitchFamily="34" charset="-120"/>
              </a:rPr>
              <a:t>Docker, VPS y 29 pruebas automatizadas</a:t>
            </a:r>
            <a:endParaRPr lang="en-US" sz="1250" dirty="0"/>
          </a:p>
        </p:txBody>
      </p:sp>
      <p:sp>
        <p:nvSpPr>
          <p:cNvPr id="24" name="Shape 22"/>
          <p:cNvSpPr/>
          <p:nvPr/>
        </p:nvSpPr>
        <p:spPr>
          <a:xfrm>
            <a:off x="6277356" y="4617720"/>
            <a:ext cx="566928" cy="566928"/>
          </a:xfrm>
          <a:prstGeom prst="ellipse">
            <a:avLst/>
          </a:prstGeom>
          <a:solidFill>
            <a:srgbClr val="B85042"/>
          </a:solidFill>
          <a:ln w="12700">
            <a:solidFill>
              <a:srgbClr val="B85042"/>
            </a:solidFill>
            <a:prstDash val="solid"/>
          </a:ln>
        </p:spPr>
      </p:sp>
      <p:sp>
        <p:nvSpPr>
          <p:cNvPr id="25" name="Text 23"/>
          <p:cNvSpPr txBox="1"/>
          <p:nvPr/>
        </p:nvSpPr>
        <p:spPr>
          <a:xfrm>
            <a:off x="6277356" y="461772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26" name="Text 24"/>
          <p:cNvSpPr txBox="1"/>
          <p:nvPr/>
        </p:nvSpPr>
        <p:spPr>
          <a:xfrm>
            <a:off x="7027164" y="4636008"/>
            <a:ext cx="4521708" cy="329184"/>
          </a:xfrm>
          <a:prstGeom prst="rect">
            <a:avLst/>
          </a:prstGeom>
          <a:noFill/>
          <a:ln/>
        </p:spPr>
        <p:txBody>
          <a:bodyPr wrap="square" lIns="0" tIns="0" rIns="0" bIns="0" rtlCol="0" anchor="ctr"/>
          <a:lstStyle/>
          <a:p>
            <a:pPr marL="0" indent="0">
              <a:buNone/>
            </a:pPr>
            <a:r>
              <a:rPr lang="en-US" sz="1700" b="1" dirty="0">
                <a:solidFill>
                  <a:srgbClr val="33302B"/>
                </a:solidFill>
                <a:latin typeface="Calibri" pitchFamily="34" charset="0"/>
                <a:ea typeface="Calibri" pitchFamily="34" charset="-122"/>
                <a:cs typeface="Calibri" pitchFamily="34" charset="-120"/>
              </a:rPr>
              <a:t>Limitaciones y conclusiones</a:t>
            </a:r>
            <a:endParaRPr lang="en-US" sz="1700" dirty="0"/>
          </a:p>
        </p:txBody>
      </p:sp>
      <p:sp>
        <p:nvSpPr>
          <p:cNvPr id="27" name="Text 25"/>
          <p:cNvSpPr txBox="1"/>
          <p:nvPr/>
        </p:nvSpPr>
        <p:spPr>
          <a:xfrm>
            <a:off x="7027164" y="5001768"/>
            <a:ext cx="4521708" cy="457200"/>
          </a:xfrm>
          <a:prstGeom prst="rect">
            <a:avLst/>
          </a:prstGeom>
          <a:noFill/>
          <a:ln/>
        </p:spPr>
        <p:txBody>
          <a:bodyPr wrap="square" lIns="0" tIns="0" rIns="0" bIns="0" rtlCol="0" anchor="ctr"/>
          <a:lstStyle/>
          <a:p>
            <a:pPr marL="0" indent="0">
              <a:buNone/>
            </a:pPr>
            <a:r>
              <a:rPr lang="en-US" sz="1250" dirty="0">
                <a:solidFill>
                  <a:srgbClr val="7A756E"/>
                </a:solidFill>
                <a:latin typeface="Calibri" pitchFamily="34" charset="0"/>
                <a:ea typeface="Calibri" pitchFamily="34" charset="-122"/>
                <a:cs typeface="Calibri" pitchFamily="34" charset="-120"/>
              </a:rPr>
              <a:t>Qué se puede afirmar y qué no</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Introducción</a:t>
            </a:r>
            <a:endParaRPr lang="en-US" sz="3000" dirty="0"/>
          </a:p>
        </p:txBody>
      </p:sp>
      <p:sp>
        <p:nvSpPr>
          <p:cNvPr id="3" name="Text 1"/>
          <p:cNvSpPr txBox="1"/>
          <p:nvPr/>
        </p:nvSpPr>
        <p:spPr>
          <a:xfrm>
            <a:off x="640080" y="1078992"/>
            <a:ext cx="10908792" cy="384048"/>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La mayoría de los emprendimientos no sobrevive</a:t>
            </a:r>
            <a:endParaRPr lang="en-US" sz="1400" dirty="0"/>
          </a:p>
        </p:txBody>
      </p:sp>
      <p:sp>
        <p:nvSpPr>
          <p:cNvPr id="4" name="Shape 2"/>
          <p:cNvSpPr/>
          <p:nvPr/>
        </p:nvSpPr>
        <p:spPr>
          <a:xfrm>
            <a:off x="640080" y="1737360"/>
            <a:ext cx="10908792" cy="1051560"/>
          </a:xfrm>
          <a:prstGeom prst="roundRect">
            <a:avLst>
              <a:gd name="adj" fmla="val 6957"/>
            </a:avLst>
          </a:prstGeom>
          <a:solidFill>
            <a:srgbClr val="E7E8D1"/>
          </a:solidFill>
          <a:ln w="12700">
            <a:solidFill>
              <a:srgbClr val="E7E8D1"/>
            </a:solidFill>
            <a:prstDash val="solid"/>
          </a:ln>
        </p:spPr>
      </p:sp>
      <p:sp>
        <p:nvSpPr>
          <p:cNvPr id="5" name="Text 3"/>
          <p:cNvSpPr txBox="1"/>
          <p:nvPr/>
        </p:nvSpPr>
        <p:spPr>
          <a:xfrm>
            <a:off x="914400" y="1874520"/>
            <a:ext cx="10360152" cy="777240"/>
          </a:xfrm>
          <a:prstGeom prst="rect">
            <a:avLst/>
          </a:prstGeom>
          <a:noFill/>
          <a:ln/>
        </p:spPr>
        <p:txBody>
          <a:bodyPr wrap="square" lIns="0" tIns="0" rIns="0" bIns="0" rtlCol="0" anchor="ctr"/>
          <a:lstStyle/>
          <a:p>
            <a:pPr marL="0" indent="0">
              <a:buNone/>
            </a:pPr>
            <a:r>
              <a:rPr lang="en-US" sz="2100" b="1" dirty="0">
                <a:solidFill>
                  <a:srgbClr val="B85042"/>
                </a:solidFill>
                <a:latin typeface="Cambria" pitchFamily="34" charset="0"/>
                <a:ea typeface="Cambria" pitchFamily="34" charset="-122"/>
                <a:cs typeface="Cambria" pitchFamily="34" charset="-120"/>
              </a:rPr>
              <a:t>¿Qué características permiten anticipar qué emprendimiento tiene mayor probabilidad de sobrevivir?</a:t>
            </a:r>
            <a:endParaRPr lang="en-US" sz="2100" dirty="0"/>
          </a:p>
        </p:txBody>
      </p:sp>
      <p:sp>
        <p:nvSpPr>
          <p:cNvPr id="6" name="Text 4"/>
          <p:cNvSpPr txBox="1"/>
          <p:nvPr/>
        </p:nvSpPr>
        <p:spPr>
          <a:xfrm>
            <a:off x="640080" y="3063240"/>
            <a:ext cx="10908792" cy="2926080"/>
          </a:xfrm>
          <a:prstGeom prst="rect">
            <a:avLst/>
          </a:prstGeom>
          <a:noFill/>
          <a:ln/>
        </p:spPr>
        <p:txBody>
          <a:bodyPr wrap="square" lIns="0" tIns="0" rIns="0" bIns="0" rtlCol="0" anchor="ctr"/>
          <a:lstStyle/>
          <a:p>
            <a:pPr marL="342900" indent="-342900">
              <a:lnSpc>
                <a:spcPts val="2200"/>
              </a:lnSpc>
              <a:spcAft>
                <a:spcPts val="1000"/>
              </a:spcAft>
              <a:buSzPct val="100000"/>
              <a:buChar char="•"/>
            </a:pPr>
            <a:r>
              <a:rPr lang="en-US" sz="1500" dirty="0">
                <a:solidFill>
                  <a:srgbClr val="3A3A38"/>
                </a:solidFill>
                <a:latin typeface="Calibri" pitchFamily="34" charset="0"/>
                <a:ea typeface="Calibri" pitchFamily="34" charset="-122"/>
                <a:cs typeface="Calibri" pitchFamily="34" charset="-120"/>
              </a:rPr>
              <a:t>Incubadoras, aceleradoras e inversionistas deciden a diario a qué proyectos asignar recursos escasos.</a:t>
            </a:r>
            <a:endParaRPr lang="en-US" sz="1500" dirty="0"/>
          </a:p>
          <a:p>
            <a:pPr marL="342900" indent="-342900">
              <a:lnSpc>
                <a:spcPts val="2200"/>
              </a:lnSpc>
              <a:spcAft>
                <a:spcPts val="1000"/>
              </a:spcAft>
              <a:buSzPct val="100000"/>
              <a:buChar char="•"/>
            </a:pPr>
            <a:r>
              <a:rPr lang="en-US" sz="1500" dirty="0">
                <a:solidFill>
                  <a:srgbClr val="3A3A38"/>
                </a:solidFill>
                <a:latin typeface="Calibri" pitchFamily="34" charset="0"/>
                <a:ea typeface="Calibri" pitchFamily="34" charset="-122"/>
                <a:cs typeface="Calibri" pitchFamily="34" charset="-120"/>
              </a:rPr>
              <a:t>La aplicación estima la probabilidad de supervivencia usando solo información disponible al momento de la fundación.</a:t>
            </a:r>
            <a:endParaRPr lang="en-US" sz="1500" dirty="0"/>
          </a:p>
          <a:p>
            <a:pPr marL="342900" indent="-342900">
              <a:lnSpc>
                <a:spcPts val="2200"/>
              </a:lnSpc>
              <a:spcAft>
                <a:spcPts val="1000"/>
              </a:spcAft>
              <a:buSzPct val="100000"/>
              <a:buChar char="•"/>
            </a:pPr>
            <a:r>
              <a:rPr lang="en-US" sz="1500" dirty="0">
                <a:solidFill>
                  <a:srgbClr val="3A3A38"/>
                </a:solidFill>
                <a:latin typeface="Calibri" pitchFamily="34" charset="0"/>
                <a:ea typeface="Calibri" pitchFamily="34" charset="-122"/>
                <a:cs typeface="Calibri" pitchFamily="34" charset="-120"/>
              </a:rPr>
              <a:t>El entrenamiento no se limita a ajustar un modelo: mide de forma explícita cuánto aporta cada grupo de variables.</a:t>
            </a:r>
            <a:endParaRPr lang="en-US" sz="1500" dirty="0"/>
          </a:p>
          <a:p>
            <a:pPr marL="342900" indent="-342900">
              <a:lnSpc>
                <a:spcPts val="2200"/>
              </a:lnSpc>
              <a:spcAft>
                <a:spcPts val="1000"/>
              </a:spcAft>
              <a:buSzPct val="100000"/>
              <a:buChar char="•"/>
            </a:pPr>
            <a:r>
              <a:rPr lang="en-US" sz="1500" dirty="0">
                <a:solidFill>
                  <a:srgbClr val="3A3A38"/>
                </a:solidFill>
                <a:latin typeface="Calibri" pitchFamily="34" charset="0"/>
                <a:ea typeface="Calibri" pitchFamily="34" charset="-122"/>
                <a:cs typeface="Calibri" pitchFamily="34" charset="-120"/>
              </a:rPr>
              <a:t>Siguiendo a Sculley et al. (2015), el código de machine learning es una fracción mínima de un sistema real, así que se construyó un producto completo: dos interfaces, una API documentada, 29 pruebas y despliegue contenerizado.</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Método · Conjunto de datos</a:t>
            </a:r>
            <a:endParaRPr lang="en-US" sz="3000" dirty="0"/>
          </a:p>
        </p:txBody>
      </p:sp>
      <p:sp>
        <p:nvSpPr>
          <p:cNvPr id="3" name="Text 1"/>
          <p:cNvSpPr txBox="1"/>
          <p:nvPr/>
        </p:nvSpPr>
        <p:spPr>
          <a:xfrm>
            <a:off x="640080" y="1078992"/>
            <a:ext cx="10908792" cy="384048"/>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startup_survival_master</a:t>
            </a:r>
            <a:endParaRPr lang="en-US" sz="1400" dirty="0"/>
          </a:p>
        </p:txBody>
      </p:sp>
      <p:sp>
        <p:nvSpPr>
          <p:cNvPr id="4" name="Text 2"/>
          <p:cNvSpPr txBox="1"/>
          <p:nvPr/>
        </p:nvSpPr>
        <p:spPr>
          <a:xfrm>
            <a:off x="640080" y="1783080"/>
            <a:ext cx="2727198" cy="822960"/>
          </a:xfrm>
          <a:prstGeom prst="rect">
            <a:avLst/>
          </a:prstGeom>
          <a:noFill/>
          <a:ln/>
        </p:spPr>
        <p:txBody>
          <a:bodyPr wrap="square" lIns="0" tIns="0" rIns="0" bIns="0" rtlCol="0" anchor="ctr"/>
          <a:lstStyle/>
          <a:p>
            <a:pPr marL="0" indent="0" algn="ctr">
              <a:buNone/>
            </a:pPr>
            <a:r>
              <a:rPr lang="en-US" sz="4400" b="1" dirty="0">
                <a:solidFill>
                  <a:srgbClr val="B85042"/>
                </a:solidFill>
                <a:latin typeface="Cambria" pitchFamily="34" charset="0"/>
                <a:ea typeface="Cambria" pitchFamily="34" charset="-122"/>
                <a:cs typeface="Cambria" pitchFamily="34" charset="-120"/>
              </a:rPr>
              <a:t>48 000</a:t>
            </a:r>
            <a:endParaRPr lang="en-US" sz="4400" dirty="0"/>
          </a:p>
        </p:txBody>
      </p:sp>
      <p:sp>
        <p:nvSpPr>
          <p:cNvPr id="5" name="Text 3"/>
          <p:cNvSpPr txBox="1"/>
          <p:nvPr/>
        </p:nvSpPr>
        <p:spPr>
          <a:xfrm>
            <a:off x="640080" y="2624328"/>
            <a:ext cx="2727198"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emprendimientos</a:t>
            </a:r>
            <a:endParaRPr lang="en-US" sz="1250" dirty="0"/>
          </a:p>
        </p:txBody>
      </p:sp>
      <p:sp>
        <p:nvSpPr>
          <p:cNvPr id="6" name="Text 4"/>
          <p:cNvSpPr txBox="1"/>
          <p:nvPr/>
        </p:nvSpPr>
        <p:spPr>
          <a:xfrm>
            <a:off x="3367278" y="1783080"/>
            <a:ext cx="2727198" cy="822960"/>
          </a:xfrm>
          <a:prstGeom prst="rect">
            <a:avLst/>
          </a:prstGeom>
          <a:noFill/>
          <a:ln/>
        </p:spPr>
        <p:txBody>
          <a:bodyPr wrap="square" lIns="0" tIns="0" rIns="0" bIns="0" rtlCol="0" anchor="ctr"/>
          <a:lstStyle/>
          <a:p>
            <a:pPr marL="0" indent="0" algn="ctr">
              <a:buNone/>
            </a:pPr>
            <a:r>
              <a:rPr lang="en-US" sz="4400" b="1" dirty="0">
                <a:solidFill>
                  <a:srgbClr val="B85042"/>
                </a:solidFill>
                <a:latin typeface="Cambria" pitchFamily="34" charset="0"/>
                <a:ea typeface="Cambria" pitchFamily="34" charset="-122"/>
                <a:cs typeface="Cambria" pitchFamily="34" charset="-120"/>
              </a:rPr>
              <a:t>30</a:t>
            </a:r>
            <a:endParaRPr lang="en-US" sz="4400" dirty="0"/>
          </a:p>
        </p:txBody>
      </p:sp>
      <p:sp>
        <p:nvSpPr>
          <p:cNvPr id="7" name="Text 5"/>
          <p:cNvSpPr txBox="1"/>
          <p:nvPr/>
        </p:nvSpPr>
        <p:spPr>
          <a:xfrm>
            <a:off x="3367278" y="2624328"/>
            <a:ext cx="2727198"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variables disponibles</a:t>
            </a:r>
            <a:endParaRPr lang="en-US" sz="1250" dirty="0"/>
          </a:p>
        </p:txBody>
      </p:sp>
      <p:sp>
        <p:nvSpPr>
          <p:cNvPr id="8" name="Text 6"/>
          <p:cNvSpPr txBox="1"/>
          <p:nvPr/>
        </p:nvSpPr>
        <p:spPr>
          <a:xfrm>
            <a:off x="6094476" y="1783080"/>
            <a:ext cx="2727198" cy="822960"/>
          </a:xfrm>
          <a:prstGeom prst="rect">
            <a:avLst/>
          </a:prstGeom>
          <a:noFill/>
          <a:ln/>
        </p:spPr>
        <p:txBody>
          <a:bodyPr wrap="square" lIns="0" tIns="0" rIns="0" bIns="0" rtlCol="0" anchor="ctr"/>
          <a:lstStyle/>
          <a:p>
            <a:pPr marL="0" indent="0" algn="ctr">
              <a:buNone/>
            </a:pPr>
            <a:r>
              <a:rPr lang="en-US" sz="4400" b="1" dirty="0">
                <a:solidFill>
                  <a:srgbClr val="B85042"/>
                </a:solidFill>
                <a:latin typeface="Cambria" pitchFamily="34" charset="0"/>
                <a:ea typeface="Cambria" pitchFamily="34" charset="-122"/>
                <a:cs typeface="Cambria" pitchFamily="34" charset="-120"/>
              </a:rPr>
              <a:t>17</a:t>
            </a:r>
            <a:endParaRPr lang="en-US" sz="4400" dirty="0"/>
          </a:p>
        </p:txBody>
      </p:sp>
      <p:sp>
        <p:nvSpPr>
          <p:cNvPr id="9" name="Text 7"/>
          <p:cNvSpPr txBox="1"/>
          <p:nvPr/>
        </p:nvSpPr>
        <p:spPr>
          <a:xfrm>
            <a:off x="6094476" y="2624328"/>
            <a:ext cx="2727198"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variables retenidas</a:t>
            </a:r>
            <a:endParaRPr lang="en-US" sz="1250" dirty="0"/>
          </a:p>
        </p:txBody>
      </p:sp>
      <p:sp>
        <p:nvSpPr>
          <p:cNvPr id="10" name="Text 8"/>
          <p:cNvSpPr txBox="1"/>
          <p:nvPr/>
        </p:nvSpPr>
        <p:spPr>
          <a:xfrm>
            <a:off x="8821674" y="1783080"/>
            <a:ext cx="2727198" cy="822960"/>
          </a:xfrm>
          <a:prstGeom prst="rect">
            <a:avLst/>
          </a:prstGeom>
          <a:noFill/>
          <a:ln/>
        </p:spPr>
        <p:txBody>
          <a:bodyPr wrap="square" lIns="0" tIns="0" rIns="0" bIns="0" rtlCol="0" anchor="ctr"/>
          <a:lstStyle/>
          <a:p>
            <a:pPr marL="0" indent="0" algn="ctr">
              <a:buNone/>
            </a:pPr>
            <a:r>
              <a:rPr lang="en-US" sz="4400" b="1" dirty="0">
                <a:solidFill>
                  <a:srgbClr val="B85042"/>
                </a:solidFill>
                <a:latin typeface="Cambria" pitchFamily="34" charset="0"/>
                <a:ea typeface="Cambria" pitchFamily="34" charset="-122"/>
                <a:cs typeface="Cambria" pitchFamily="34" charset="-120"/>
              </a:rPr>
              <a:t>65.8 %</a:t>
            </a:r>
            <a:endParaRPr lang="en-US" sz="4400" dirty="0"/>
          </a:p>
        </p:txBody>
      </p:sp>
      <p:sp>
        <p:nvSpPr>
          <p:cNvPr id="11" name="Text 9"/>
          <p:cNvSpPr txBox="1"/>
          <p:nvPr/>
        </p:nvSpPr>
        <p:spPr>
          <a:xfrm>
            <a:off x="8821674" y="2624328"/>
            <a:ext cx="2727198"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tasa global de fracaso</a:t>
            </a:r>
            <a:endParaRPr lang="en-US" sz="1250" dirty="0"/>
          </a:p>
        </p:txBody>
      </p:sp>
      <p:sp>
        <p:nvSpPr>
          <p:cNvPr id="12" name="Text 10"/>
          <p:cNvSpPr txBox="1"/>
          <p:nvPr/>
        </p:nvSpPr>
        <p:spPr>
          <a:xfrm>
            <a:off x="640080" y="3337560"/>
            <a:ext cx="10908792" cy="2651760"/>
          </a:xfrm>
          <a:prstGeom prst="rect">
            <a:avLst/>
          </a:prstGeom>
          <a:noFill/>
          <a:ln/>
        </p:spPr>
        <p:txBody>
          <a:bodyPr wrap="square" lIns="0" tIns="0" rIns="0" bIns="0" rtlCol="0" anchor="ctr"/>
          <a:lstStyle/>
          <a:p>
            <a:pPr marL="342900" indent="-342900">
              <a:lnSpc>
                <a:spcPts val="2200"/>
              </a:lnSpc>
              <a:spcAft>
                <a:spcPts val="1000"/>
              </a:spcAft>
              <a:buSzPct val="100000"/>
              <a:buChar char="•"/>
            </a:pPr>
            <a:r>
              <a:rPr lang="en-US" sz="1500" dirty="0">
                <a:solidFill>
                  <a:srgbClr val="3A3A38"/>
                </a:solidFill>
                <a:latin typeface="Calibri" pitchFamily="34" charset="0"/>
                <a:ea typeface="Calibri" pitchFamily="34" charset="-122"/>
                <a:cs typeface="Calibri" pitchFamily="34" charset="-120"/>
              </a:rPr>
              <a:t>El diccionario agrupa las variables en cuatro categorías: </a:t>
            </a:r>
            <a:r>
              <a:rPr lang="en-US" sz="1500" b="1" dirty="0">
                <a:solidFill>
                  <a:srgbClr val="3A3A38"/>
                </a:solidFill>
                <a:latin typeface="Calibri" pitchFamily="34" charset="0"/>
                <a:ea typeface="Calibri" pitchFamily="34" charset="-122"/>
                <a:cs typeface="Calibri" pitchFamily="34" charset="-120"/>
              </a:rPr>
              <a:t>circunstancia o azar, perfil del fundador, equipo fundador y ejecución.</a:t>
            </a:r>
            <a:endParaRPr lang="en-US" sz="1500" b="1" dirty="0"/>
          </a:p>
          <a:p>
            <a:pPr marL="342900" indent="-342900">
              <a:lnSpc>
                <a:spcPts val="2200"/>
              </a:lnSpc>
              <a:spcAft>
                <a:spcPts val="1000"/>
              </a:spcAft>
              <a:buSzPct val="100000"/>
              <a:buChar char="•"/>
            </a:pPr>
            <a:r>
              <a:rPr lang="en-US" sz="1500" dirty="0">
                <a:solidFill>
                  <a:srgbClr val="3A3A38"/>
                </a:solidFill>
                <a:latin typeface="Calibri" pitchFamily="34" charset="0"/>
                <a:ea typeface="Calibri" pitchFamily="34" charset="-122"/>
                <a:cs typeface="Calibri" pitchFamily="34" charset="-120"/>
              </a:rPr>
              <a:t>Este trabajo añade dos agrupaciones propias: financiamiento y caja, y contexto sectorial.</a:t>
            </a:r>
            <a:endParaRPr lang="en-US" sz="1500" dirty="0"/>
          </a:p>
          <a:p>
            <a:pPr marL="342900" indent="-342900">
              <a:lnSpc>
                <a:spcPts val="2200"/>
              </a:lnSpc>
              <a:spcAft>
                <a:spcPts val="1000"/>
              </a:spcAft>
              <a:buSzPct val="100000"/>
              <a:buChar char="•"/>
            </a:pPr>
            <a:r>
              <a:rPr lang="en-US" sz="1500" dirty="0">
                <a:solidFill>
                  <a:srgbClr val="3A3A38"/>
                </a:solidFill>
                <a:latin typeface="Calibri" pitchFamily="34" charset="0"/>
                <a:ea typeface="Calibri" pitchFamily="34" charset="-122"/>
                <a:cs typeface="Calibri" pitchFamily="34" charset="-120"/>
              </a:rPr>
              <a:t>Esa agrupación terminó siendo el eje del análisis.</a:t>
            </a:r>
            <a:endParaRPr lang="en-US" sz="1500" dirty="0"/>
          </a:p>
          <a:p>
            <a:pPr marL="342900" indent="-342900">
              <a:lnSpc>
                <a:spcPts val="2200"/>
              </a:lnSpc>
              <a:spcAft>
                <a:spcPts val="1000"/>
              </a:spcAft>
              <a:buSzPct val="100000"/>
              <a:buChar char="•"/>
            </a:pPr>
            <a:r>
              <a:rPr lang="en-US" sz="1500" dirty="0">
                <a:solidFill>
                  <a:srgbClr val="3A3A38"/>
                </a:solidFill>
                <a:latin typeface="Calibri" pitchFamily="34" charset="0"/>
                <a:ea typeface="Calibri" pitchFamily="34" charset="-122"/>
                <a:cs typeface="Calibri" pitchFamily="34" charset="-120"/>
              </a:rPr>
              <a:t>El conjunto es una simulación calibrada sobre la literatura de fracaso de emprendimientos, no empresas reales, y así se declara.</a:t>
            </a:r>
            <a:endParaRPr lang="en-US" sz="1500" dirty="0"/>
          </a:p>
        </p:txBody>
      </p:sp>
      <p:pic>
        <p:nvPicPr>
          <p:cNvPr id="13" name="Imagen 12" descr="Archivo:Kaggle logo.png - Wikipedia, la enciclopedia libre">
            <a:extLst>
              <a:ext uri="{FF2B5EF4-FFF2-40B4-BE49-F238E27FC236}">
                <a16:creationId xmlns:a16="http://schemas.microsoft.com/office/drawing/2014/main" id="{B289876A-CEAA-DBFA-A070-DF9556770E3E}"/>
              </a:ext>
            </a:extLst>
          </p:cNvPr>
          <p:cNvPicPr>
            <a:picLocks noChangeAspect="1"/>
          </p:cNvPicPr>
          <p:nvPr/>
        </p:nvPicPr>
        <p:blipFill>
          <a:blip r:embed="rId3"/>
          <a:stretch>
            <a:fillRect/>
          </a:stretch>
        </p:blipFill>
        <p:spPr>
          <a:xfrm>
            <a:off x="2651928" y="1088136"/>
            <a:ext cx="1018032" cy="39319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¿Es un problema real o un dataset trucado?</a:t>
            </a:r>
            <a:endParaRPr lang="en-US" sz="3000" dirty="0"/>
          </a:p>
        </p:txBody>
      </p:sp>
      <p:sp>
        <p:nvSpPr>
          <p:cNvPr id="3" name="Text 1"/>
          <p:cNvSpPr txBox="1"/>
          <p:nvPr/>
        </p:nvSpPr>
        <p:spPr>
          <a:xfrm>
            <a:off x="640080" y="1078992"/>
            <a:ext cx="10908792" cy="384048"/>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Prueba de separabilidad lineal antes de modelar</a:t>
            </a:r>
            <a:endParaRPr lang="en-US" sz="1400" dirty="0"/>
          </a:p>
        </p:txBody>
      </p:sp>
      <p:sp>
        <p:nvSpPr>
          <p:cNvPr id="4" name="Text 2"/>
          <p:cNvSpPr txBox="1"/>
          <p:nvPr/>
        </p:nvSpPr>
        <p:spPr>
          <a:xfrm>
            <a:off x="640080" y="1737360"/>
            <a:ext cx="10908792" cy="914400"/>
          </a:xfrm>
          <a:prstGeom prst="rect">
            <a:avLst/>
          </a:prstGeom>
          <a:noFill/>
          <a:ln/>
        </p:spPr>
        <p:txBody>
          <a:bodyPr wrap="square" lIns="0" tIns="0" rIns="0" bIns="0" rtlCol="0" anchor="ctr"/>
          <a:lstStyle/>
          <a:p>
            <a:pPr marL="342900" indent="-342900">
              <a:lnSpc>
                <a:spcPts val="2200"/>
              </a:lnSpc>
              <a:spcAft>
                <a:spcPts val="1000"/>
              </a:spcAft>
              <a:buSzPct val="100000"/>
              <a:buChar char="•"/>
            </a:pPr>
            <a:r>
              <a:rPr lang="en-US" sz="1500" dirty="0">
                <a:solidFill>
                  <a:srgbClr val="3A3A38"/>
                </a:solidFill>
                <a:latin typeface="Calibri" pitchFamily="34" charset="0"/>
                <a:ea typeface="Calibri" pitchFamily="34" charset="-122"/>
                <a:cs typeface="Calibri" pitchFamily="34" charset="-120"/>
              </a:rPr>
              <a:t>Un conjunto sintético mal construido puede esconder una regla determinista que vuelve trivial el problema.</a:t>
            </a:r>
            <a:endParaRPr lang="en-US" sz="1500" dirty="0"/>
          </a:p>
          <a:p>
            <a:pPr marL="342900" indent="-342900">
              <a:lnSpc>
                <a:spcPts val="2200"/>
              </a:lnSpc>
              <a:spcAft>
                <a:spcPts val="1000"/>
              </a:spcAft>
              <a:buSzPct val="100000"/>
              <a:buChar char="•"/>
            </a:pPr>
            <a:r>
              <a:rPr lang="en-US" sz="1500" dirty="0">
                <a:solidFill>
                  <a:srgbClr val="3A3A38"/>
                </a:solidFill>
                <a:latin typeface="Calibri" pitchFamily="34" charset="0"/>
                <a:ea typeface="Calibri" pitchFamily="34" charset="-122"/>
                <a:cs typeface="Calibri" pitchFamily="34" charset="-120"/>
              </a:rPr>
              <a:t>Se ajustó un modelo lineal sobre las 48 000 observaciones completas para ver si podía recuperar esa regla.</a:t>
            </a:r>
            <a:endParaRPr lang="en-US" sz="1500" dirty="0"/>
          </a:p>
        </p:txBody>
      </p:sp>
      <p:sp>
        <p:nvSpPr>
          <p:cNvPr id="5" name="Shape 3"/>
          <p:cNvSpPr/>
          <p:nvPr/>
        </p:nvSpPr>
        <p:spPr>
          <a:xfrm>
            <a:off x="640080" y="2788920"/>
            <a:ext cx="5317236" cy="1554480"/>
          </a:xfrm>
          <a:prstGeom prst="roundRect">
            <a:avLst>
              <a:gd name="adj" fmla="val 4706"/>
            </a:avLst>
          </a:prstGeom>
          <a:solidFill>
            <a:srgbClr val="E7E8D1"/>
          </a:solidFill>
          <a:ln w="12700">
            <a:solidFill>
              <a:srgbClr val="E7E8D1"/>
            </a:solidFill>
            <a:prstDash val="solid"/>
          </a:ln>
        </p:spPr>
      </p:sp>
      <p:sp>
        <p:nvSpPr>
          <p:cNvPr id="6" name="Text 4"/>
          <p:cNvSpPr txBox="1"/>
          <p:nvPr/>
        </p:nvSpPr>
        <p:spPr>
          <a:xfrm>
            <a:off x="868680" y="2953512"/>
            <a:ext cx="4860036" cy="310896"/>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Dataset descartado</a:t>
            </a:r>
            <a:endParaRPr lang="en-US" sz="1400" dirty="0"/>
          </a:p>
        </p:txBody>
      </p:sp>
      <p:sp>
        <p:nvSpPr>
          <p:cNvPr id="7" name="Text 5"/>
          <p:cNvSpPr txBox="1"/>
          <p:nvPr/>
        </p:nvSpPr>
        <p:spPr>
          <a:xfrm>
            <a:off x="868680" y="3300984"/>
            <a:ext cx="4860036" cy="877824"/>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El primer candidato daba AUC de 0.9999 y cero errores en las 2 100 filas. Habia una formula oculta: no servia.</a:t>
            </a:r>
            <a:endParaRPr lang="en-US" sz="1250" dirty="0"/>
          </a:p>
        </p:txBody>
      </p:sp>
      <p:sp>
        <p:nvSpPr>
          <p:cNvPr id="8" name="Shape 6"/>
          <p:cNvSpPr/>
          <p:nvPr/>
        </p:nvSpPr>
        <p:spPr>
          <a:xfrm>
            <a:off x="6231636" y="2788920"/>
            <a:ext cx="5317236" cy="1554480"/>
          </a:xfrm>
          <a:prstGeom prst="roundRect">
            <a:avLst>
              <a:gd name="adj" fmla="val 4706"/>
            </a:avLst>
          </a:prstGeom>
          <a:solidFill>
            <a:srgbClr val="E7E8D1"/>
          </a:solidFill>
          <a:ln w="12700">
            <a:solidFill>
              <a:srgbClr val="E7E8D1"/>
            </a:solidFill>
            <a:prstDash val="solid"/>
          </a:ln>
        </p:spPr>
      </p:sp>
      <p:sp>
        <p:nvSpPr>
          <p:cNvPr id="9" name="Text 7"/>
          <p:cNvSpPr txBox="1"/>
          <p:nvPr/>
        </p:nvSpPr>
        <p:spPr>
          <a:xfrm>
            <a:off x="6460236" y="2953512"/>
            <a:ext cx="4860036" cy="310896"/>
          </a:xfrm>
          <a:prstGeom prst="rect">
            <a:avLst/>
          </a:prstGeom>
          <a:noFill/>
          <a:ln/>
        </p:spPr>
        <p:txBody>
          <a:bodyPr wrap="square" lIns="0" tIns="0" rIns="0" bIns="0" rtlCol="0" anchor="ctr"/>
          <a:lstStyle/>
          <a:p>
            <a:pPr marL="0" indent="0">
              <a:buNone/>
            </a:pPr>
            <a:r>
              <a:rPr lang="en-US" sz="1400" b="1" dirty="0">
                <a:solidFill>
                  <a:srgbClr val="5F7F6E"/>
                </a:solidFill>
                <a:latin typeface="Calibri" pitchFamily="34" charset="0"/>
                <a:ea typeface="Calibri" pitchFamily="34" charset="-122"/>
                <a:cs typeface="Calibri" pitchFamily="34" charset="-120"/>
              </a:rPr>
              <a:t>Dataset adoptado</a:t>
            </a:r>
            <a:endParaRPr lang="en-US" sz="1400" dirty="0"/>
          </a:p>
        </p:txBody>
      </p:sp>
      <p:sp>
        <p:nvSpPr>
          <p:cNvPr id="10" name="Text 8"/>
          <p:cNvSpPr txBox="1"/>
          <p:nvPr/>
        </p:nvSpPr>
        <p:spPr>
          <a:xfrm>
            <a:off x="6460236" y="3300984"/>
            <a:ext cx="4860036" cy="877824"/>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13 842 errores con el modelo lineal y clases que se solapan. Hay ruido genuino, el problema de modelado es real.</a:t>
            </a:r>
            <a:endParaRPr lang="en-US" sz="1250" dirty="0"/>
          </a:p>
        </p:txBody>
      </p:sp>
      <p:sp>
        <p:nvSpPr>
          <p:cNvPr id="11" name="Text 9"/>
          <p:cNvSpPr txBox="1"/>
          <p:nvPr/>
        </p:nvSpPr>
        <p:spPr>
          <a:xfrm>
            <a:off x="640080" y="4663440"/>
            <a:ext cx="10908792" cy="731520"/>
          </a:xfrm>
          <a:prstGeom prst="rect">
            <a:avLst/>
          </a:prstGeom>
          <a:noFill/>
          <a:ln/>
        </p:spPr>
        <p:txBody>
          <a:bodyPr wrap="square" lIns="0" tIns="0" rIns="0" bIns="0" rtlCol="0" anchor="ctr"/>
          <a:lstStyle/>
          <a:p>
            <a:pPr marL="0" indent="0">
              <a:buNone/>
            </a:pPr>
            <a:r>
              <a:rPr lang="en-US" sz="1400" i="1" dirty="0">
                <a:solidFill>
                  <a:srgbClr val="3A3A38"/>
                </a:solidFill>
                <a:latin typeface="Calibri" pitchFamily="34" charset="0"/>
                <a:ea typeface="Calibri" pitchFamily="34" charset="-122"/>
                <a:cs typeface="Calibri" pitchFamily="34" charset="-120"/>
              </a:rPr>
              <a:t>Consecuencia interpretativa: los hallazgos describen la estructura del conjunto de datos y su coincidencia con la literatura, y no constituyen evidencia empírica nueva sobre emprendimientos reales.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Tabla 1 · Variables empleadas por el modelo</a:t>
            </a:r>
            <a:endParaRPr lang="en-US" sz="3000" dirty="0"/>
          </a:p>
        </p:txBody>
      </p:sp>
      <p:sp>
        <p:nvSpPr>
          <p:cNvPr id="3" name="Text 1"/>
          <p:cNvSpPr txBox="1"/>
          <p:nvPr/>
        </p:nvSpPr>
        <p:spPr>
          <a:xfrm>
            <a:off x="640080" y="1078992"/>
            <a:ext cx="10908792" cy="384048"/>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Según grupo</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0908792" cy="3520440"/>
        </p:xfrm>
        <a:graphic>
          <a:graphicData uri="http://schemas.openxmlformats.org/drawingml/2006/table">
            <a:tbl>
              <a:tblPr/>
              <a:tblGrid>
                <a:gridCol w="2743200">
                  <a:extLst>
                    <a:ext uri="{9D8B030D-6E8A-4147-A177-3AD203B41FA5}">
                      <a16:colId xmlns:a16="http://schemas.microsoft.com/office/drawing/2014/main" val="20000"/>
                    </a:ext>
                  </a:extLst>
                </a:gridCol>
                <a:gridCol w="8165592">
                  <a:extLst>
                    <a:ext uri="{9D8B030D-6E8A-4147-A177-3AD203B41FA5}">
                      <a16:colId xmlns:a16="http://schemas.microsoft.com/office/drawing/2014/main" val="20001"/>
                    </a:ext>
                  </a:extLst>
                </a:gridCol>
              </a:tblGrid>
              <a:tr h="502920">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Grupo</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Variables</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extLst>
                  <a:ext uri="{0D108BD9-81ED-4DB2-BD59-A6C34878D82A}">
                    <a16:rowId xmlns:a16="http://schemas.microsoft.com/office/drawing/2014/main" val="10000"/>
                  </a:ext>
                </a:extLst>
              </a:tr>
              <a:tr h="502920">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Circunstancia y azar</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dirty="0">
                          <a:solidFill>
                            <a:srgbClr val="3A3A38"/>
                          </a:solidFill>
                          <a:latin typeface="Calibri" pitchFamily="34" charset="0"/>
                          <a:ea typeface="Calibri" pitchFamily="34" charset="-122"/>
                          <a:cs typeface="Calibri" pitchFamily="34" charset="-120"/>
                        </a:rPr>
                        <a:t>macro_climate, market_size_score, competition_intensity</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Perfil del fundador</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50" dirty="0">
                          <a:solidFill>
                            <a:srgbClr val="3A3A38"/>
                          </a:solidFill>
                          <a:latin typeface="Calibri" pitchFamily="34" charset="0"/>
                          <a:ea typeface="Calibri" pitchFamily="34" charset="-122"/>
                          <a:cs typeface="Calibri" pitchFamily="34" charset="-120"/>
                        </a:rPr>
                        <a:t>founder_prior_exits, domain_experience_years</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2"/>
                  </a:ext>
                </a:extLst>
              </a:tr>
              <a:tr h="502920">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Equipo fundador</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dirty="0">
                          <a:solidFill>
                            <a:srgbClr val="3A3A38"/>
                          </a:solidFill>
                          <a:latin typeface="Calibri" pitchFamily="34" charset="0"/>
                          <a:ea typeface="Calibri" pitchFamily="34" charset="-122"/>
                          <a:cs typeface="Calibri" pitchFamily="34" charset="-120"/>
                        </a:rPr>
                        <a:t>cofounder_conflict, team_completeness</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Ejecución</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50" dirty="0">
                          <a:solidFill>
                            <a:srgbClr val="3A3A38"/>
                          </a:solidFill>
                          <a:latin typeface="Calibri" pitchFamily="34" charset="0"/>
                          <a:ea typeface="Calibri" pitchFamily="34" charset="-122"/>
                          <a:cs typeface="Calibri" pitchFamily="34" charset="-120"/>
                        </a:rPr>
                        <a:t>product_market_fit_score, did_customer_validation, premature_scaling, unit_economics_score, marketing_effectiveness</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4"/>
                  </a:ext>
                </a:extLst>
              </a:tr>
              <a:tr h="502920">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Financiamiento y caja</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dirty="0">
                          <a:solidFill>
                            <a:srgbClr val="3A3A38"/>
                          </a:solidFill>
                          <a:latin typeface="Calibri" pitchFamily="34" charset="0"/>
                          <a:ea typeface="Calibri" pitchFamily="34" charset="-122"/>
                          <a:cs typeface="Calibri" pitchFamily="34" charset="-120"/>
                        </a:rPr>
                        <a:t>funding_path, total_raised_usd, monthly_burn_rate, runway_months</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Contexto sectorial</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50" dirty="0">
                          <a:solidFill>
                            <a:srgbClr val="3A3A38"/>
                          </a:solidFill>
                          <a:latin typeface="Calibri" pitchFamily="34" charset="0"/>
                          <a:ea typeface="Calibri" pitchFamily="34" charset="-122"/>
                          <a:cs typeface="Calibri" pitchFamily="34" charset="-120"/>
                        </a:rPr>
                        <a:t>industry</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6"/>
                  </a:ext>
                </a:extLst>
              </a:tr>
            </a:tbl>
          </a:graphicData>
        </a:graphic>
      </p:graphicFrame>
      <p:sp>
        <p:nvSpPr>
          <p:cNvPr id="5" name="Text 2"/>
          <p:cNvSpPr txBox="1"/>
          <p:nvPr/>
        </p:nvSpPr>
        <p:spPr>
          <a:xfrm>
            <a:off x="640080" y="6080760"/>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Diecisiete variables en total. La agrupación proviene del diccionario del conjunto de datos, ampliada con las categorías de financiamiento y contexto definidas en este trabajo.</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Tabla 2 · Estadísticos descriptivos</a:t>
            </a:r>
            <a:endParaRPr lang="en-US" sz="3000" dirty="0"/>
          </a:p>
        </p:txBody>
      </p:sp>
      <p:sp>
        <p:nvSpPr>
          <p:cNvPr id="3" name="Text 1"/>
          <p:cNvSpPr txBox="1"/>
          <p:nvPr/>
        </p:nvSpPr>
        <p:spPr>
          <a:xfrm>
            <a:off x="640080" y="1078992"/>
            <a:ext cx="10908792" cy="384048"/>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Variables numéricas principales</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908792" cy="3456432"/>
        </p:xfrm>
        <a:graphic>
          <a:graphicData uri="http://schemas.openxmlformats.org/drawingml/2006/table">
            <a:tbl>
              <a:tblPr/>
              <a:tblGrid>
                <a:gridCol w="329184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399032">
                  <a:extLst>
                    <a:ext uri="{9D8B030D-6E8A-4147-A177-3AD203B41FA5}">
                      <a16:colId xmlns:a16="http://schemas.microsoft.com/office/drawing/2014/main" val="20005"/>
                    </a:ext>
                  </a:extLst>
                </a:gridCol>
              </a:tblGrid>
              <a:tr h="384048">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Variable</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DE</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Mdn</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Mín.</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Máx.</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extLst>
                  <a:ext uri="{0D108BD9-81ED-4DB2-BD59-A6C34878D82A}">
                    <a16:rowId xmlns:a16="http://schemas.microsoft.com/office/drawing/2014/main" val="10000"/>
                  </a:ext>
                </a:extLst>
              </a:tr>
              <a:tr h="384048">
                <a:tc>
                  <a:txBody>
                    <a:bodyPr/>
                    <a:lstStyle/>
                    <a:p>
                      <a:pPr marL="0" indent="0" algn="l">
                        <a:buNone/>
                      </a:pPr>
                      <a:r>
                        <a:rPr lang="en-US" sz="1200" dirty="0">
                          <a:solidFill>
                            <a:srgbClr val="3A3A38"/>
                          </a:solidFill>
                          <a:latin typeface="Calibri" pitchFamily="34" charset="0"/>
                          <a:ea typeface="Calibri" pitchFamily="34" charset="-122"/>
                          <a:cs typeface="Calibri" pitchFamily="34" charset="-120"/>
                        </a:rPr>
                        <a:t>product_market_fit_score</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4.61</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2.24</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4.60</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0.0</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200" dirty="0">
                          <a:solidFill>
                            <a:srgbClr val="3A3A38"/>
                          </a:solidFill>
                          <a:latin typeface="Calibri" pitchFamily="34" charset="0"/>
                          <a:ea typeface="Calibri" pitchFamily="34" charset="-122"/>
                          <a:cs typeface="Calibri" pitchFamily="34" charset="-120"/>
                        </a:rPr>
                        <a:t>runway_months</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18.88</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8.14</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18.80</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50.0</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2"/>
                  </a:ext>
                </a:extLst>
              </a:tr>
              <a:tr h="384048">
                <a:tc>
                  <a:txBody>
                    <a:bodyPr/>
                    <a:lstStyle/>
                    <a:p>
                      <a:pPr marL="0" indent="0" algn="l">
                        <a:buNone/>
                      </a:pPr>
                      <a:r>
                        <a:rPr lang="en-US" sz="1200" dirty="0">
                          <a:solidFill>
                            <a:srgbClr val="3A3A38"/>
                          </a:solidFill>
                          <a:latin typeface="Calibri" pitchFamily="34" charset="0"/>
                          <a:ea typeface="Calibri" pitchFamily="34" charset="-122"/>
                          <a:cs typeface="Calibri" pitchFamily="34" charset="-120"/>
                        </a:rPr>
                        <a:t>cofounder_conflict</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4.08</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2.22</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4.00</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0.0</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200" dirty="0">
                          <a:solidFill>
                            <a:srgbClr val="3A3A38"/>
                          </a:solidFill>
                          <a:latin typeface="Calibri" pitchFamily="34" charset="0"/>
                          <a:ea typeface="Calibri" pitchFamily="34" charset="-122"/>
                          <a:cs typeface="Calibri" pitchFamily="34" charset="-120"/>
                        </a:rPr>
                        <a:t>team_completeness</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5.33</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2.16</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5.30</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0.0</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4"/>
                  </a:ext>
                </a:extLst>
              </a:tr>
              <a:tr h="384048">
                <a:tc>
                  <a:txBody>
                    <a:bodyPr/>
                    <a:lstStyle/>
                    <a:p>
                      <a:pPr marL="0" indent="0" algn="l">
                        <a:buNone/>
                      </a:pPr>
                      <a:r>
                        <a:rPr lang="en-US" sz="1200" dirty="0">
                          <a:solidFill>
                            <a:srgbClr val="3A3A38"/>
                          </a:solidFill>
                          <a:latin typeface="Calibri" pitchFamily="34" charset="0"/>
                          <a:ea typeface="Calibri" pitchFamily="34" charset="-122"/>
                          <a:cs typeface="Calibri" pitchFamily="34" charset="-120"/>
                        </a:rPr>
                        <a:t>macro_climate</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5.01</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1.98</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5.00</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0.0</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200" dirty="0">
                          <a:solidFill>
                            <a:srgbClr val="3A3A38"/>
                          </a:solidFill>
                          <a:latin typeface="Calibri" pitchFamily="34" charset="0"/>
                          <a:ea typeface="Calibri" pitchFamily="34" charset="-122"/>
                          <a:cs typeface="Calibri" pitchFamily="34" charset="-120"/>
                        </a:rPr>
                        <a:t>domain_experience_years</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5.43</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4.03</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4.40</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0.0</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30.0</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6"/>
                  </a:ext>
                </a:extLst>
              </a:tr>
              <a:tr h="384048">
                <a:tc>
                  <a:txBody>
                    <a:bodyPr/>
                    <a:lstStyle/>
                    <a:p>
                      <a:pPr marL="0" indent="0" algn="l">
                        <a:buNone/>
                      </a:pPr>
                      <a:r>
                        <a:rPr lang="en-US" sz="1200" dirty="0">
                          <a:solidFill>
                            <a:srgbClr val="3A3A38"/>
                          </a:solidFill>
                          <a:latin typeface="Calibri" pitchFamily="34" charset="0"/>
                          <a:ea typeface="Calibri" pitchFamily="34" charset="-122"/>
                          <a:cs typeface="Calibri" pitchFamily="34" charset="-120"/>
                        </a:rPr>
                        <a:t>monthly_burn_rate (USD)</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99 068</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280 513</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6 300</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500</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3 000 000</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7"/>
                  </a:ext>
                </a:extLst>
              </a:tr>
              <a:tr h="384048">
                <a:tc>
                  <a:txBody>
                    <a:bodyPr/>
                    <a:lstStyle/>
                    <a:p>
                      <a:pPr marL="0" indent="0" algn="l">
                        <a:buNone/>
                      </a:pPr>
                      <a:r>
                        <a:rPr lang="en-US" sz="1200" dirty="0">
                          <a:solidFill>
                            <a:srgbClr val="3A3A38"/>
                          </a:solidFill>
                          <a:latin typeface="Calibri" pitchFamily="34" charset="0"/>
                          <a:ea typeface="Calibri" pitchFamily="34" charset="-122"/>
                          <a:cs typeface="Calibri" pitchFamily="34" charset="-120"/>
                        </a:rPr>
                        <a:t>total_raised_usd (USD)</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1 607 581</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3 972 697</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111 000</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52 171 000</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8"/>
                  </a:ext>
                </a:extLst>
              </a:tr>
            </a:tbl>
          </a:graphicData>
        </a:graphic>
      </p:graphicFrame>
      <p:sp>
        <p:nvSpPr>
          <p:cNvPr id="5" name="Text 2"/>
          <p:cNvSpPr txBox="1"/>
          <p:nvPr/>
        </p:nvSpPr>
        <p:spPr>
          <a:xfrm>
            <a:off x="640080" y="6080760"/>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N = 48 000. Las magnitudes monetarias son muy asimétricas: la mediana del capital levantado es 111 000 dólares y la media 1 607 581.</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Figura 1 · Distribución de la variable objetivo</a:t>
            </a:r>
            <a:endParaRPr lang="en-US" sz="3000" dirty="0"/>
          </a:p>
        </p:txBody>
      </p:sp>
      <p:pic>
        <p:nvPicPr>
          <p:cNvPr id="3" name="Image 0" descr="docs/figuras/01_balance_de_clases.png"/>
          <p:cNvPicPr>
            <a:picLocks noChangeAspect="1"/>
          </p:cNvPicPr>
          <p:nvPr/>
        </p:nvPicPr>
        <p:blipFill>
          <a:blip r:embed="rId3"/>
          <a:stretch>
            <a:fillRect/>
          </a:stretch>
        </p:blipFill>
        <p:spPr>
          <a:xfrm>
            <a:off x="3305556" y="1508760"/>
            <a:ext cx="5577840" cy="3868128"/>
          </a:xfrm>
          <a:prstGeom prst="rect">
            <a:avLst/>
          </a:prstGeom>
        </p:spPr>
      </p:pic>
      <p:sp>
        <p:nvSpPr>
          <p:cNvPr id="4" name="Text 1"/>
          <p:cNvSpPr txBox="1"/>
          <p:nvPr/>
        </p:nvSpPr>
        <p:spPr>
          <a:xfrm>
            <a:off x="640080" y="6080760"/>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N = 48 000. El desbalance hacia el fracaso condiciona la elección de métricas de evaluación.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Selección de variables</a:t>
            </a:r>
            <a:endParaRPr lang="en-US" sz="3000" dirty="0"/>
          </a:p>
        </p:txBody>
      </p:sp>
      <p:sp>
        <p:nvSpPr>
          <p:cNvPr id="3" name="Text 1"/>
          <p:cNvSpPr txBox="1"/>
          <p:nvPr/>
        </p:nvSpPr>
        <p:spPr>
          <a:xfrm>
            <a:off x="640080" y="1078992"/>
            <a:ext cx="10908792" cy="384048"/>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De 30 columnas disponibles se usaron 17</a:t>
            </a:r>
            <a:endParaRPr lang="en-US" sz="1400" dirty="0"/>
          </a:p>
        </p:txBody>
      </p:sp>
      <p:sp>
        <p:nvSpPr>
          <p:cNvPr id="4" name="Shape 2"/>
          <p:cNvSpPr/>
          <p:nvPr/>
        </p:nvSpPr>
        <p:spPr>
          <a:xfrm>
            <a:off x="640080" y="1737360"/>
            <a:ext cx="5317236" cy="2286000"/>
          </a:xfrm>
          <a:prstGeom prst="roundRect">
            <a:avLst>
              <a:gd name="adj" fmla="val 3200"/>
            </a:avLst>
          </a:prstGeom>
          <a:solidFill>
            <a:srgbClr val="E7E8D1"/>
          </a:solidFill>
          <a:ln w="12700">
            <a:solidFill>
              <a:srgbClr val="E7E8D1"/>
            </a:solidFill>
            <a:prstDash val="solid"/>
          </a:ln>
        </p:spPr>
      </p:sp>
      <p:sp>
        <p:nvSpPr>
          <p:cNvPr id="5" name="Text 3"/>
          <p:cNvSpPr txBox="1"/>
          <p:nvPr/>
        </p:nvSpPr>
        <p:spPr>
          <a:xfrm>
            <a:off x="868680" y="1901952"/>
            <a:ext cx="4860036" cy="310896"/>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6 columnas con fuga de información</a:t>
            </a:r>
            <a:endParaRPr lang="en-US" sz="1400" dirty="0"/>
          </a:p>
        </p:txBody>
      </p:sp>
      <p:sp>
        <p:nvSpPr>
          <p:cNvPr id="6" name="Text 4"/>
          <p:cNvSpPr txBox="1"/>
          <p:nvPr/>
        </p:nvSpPr>
        <p:spPr>
          <a:xfrm>
            <a:off x="868680" y="2249424"/>
            <a:ext cx="4860036" cy="1609344"/>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outcome, failure_reason, years_to_outcome, survived_5y y las derivadas solo se conocen cuando el emprendimiento ya fracaso o sobrevivio. Incluirlas inflaria las metricas y daria un modelo inutil en produccion. Una prueba automatizada verifica que ninguna entre al modelo.</a:t>
            </a:r>
            <a:endParaRPr lang="en-US" sz="1250" dirty="0"/>
          </a:p>
        </p:txBody>
      </p:sp>
      <p:sp>
        <p:nvSpPr>
          <p:cNvPr id="7" name="Shape 5"/>
          <p:cNvSpPr/>
          <p:nvPr/>
        </p:nvSpPr>
        <p:spPr>
          <a:xfrm>
            <a:off x="6231636" y="1737360"/>
            <a:ext cx="5317236" cy="2286000"/>
          </a:xfrm>
          <a:prstGeom prst="roundRect">
            <a:avLst>
              <a:gd name="adj" fmla="val 3200"/>
            </a:avLst>
          </a:prstGeom>
          <a:solidFill>
            <a:srgbClr val="E7E8D1"/>
          </a:solidFill>
          <a:ln w="12700">
            <a:solidFill>
              <a:srgbClr val="E7E8D1"/>
            </a:solidFill>
            <a:prstDash val="solid"/>
          </a:ln>
        </p:spPr>
      </p:sp>
      <p:sp>
        <p:nvSpPr>
          <p:cNvPr id="8" name="Text 6"/>
          <p:cNvSpPr txBox="1"/>
          <p:nvPr/>
        </p:nvSpPr>
        <p:spPr>
          <a:xfrm>
            <a:off x="6460236" y="1901952"/>
            <a:ext cx="4860036" cy="310896"/>
          </a:xfrm>
          <a:prstGeom prst="rect">
            <a:avLst/>
          </a:prstGeom>
          <a:noFill/>
          <a:ln/>
        </p:spPr>
        <p:txBody>
          <a:bodyPr wrap="square" lIns="0" tIns="0" rIns="0" bIns="0" rtlCol="0" anchor="ctr"/>
          <a:lstStyle/>
          <a:p>
            <a:pPr marL="0" indent="0">
              <a:buNone/>
            </a:pPr>
            <a:r>
              <a:rPr lang="en-US" sz="1400" b="1" dirty="0">
                <a:solidFill>
                  <a:srgbClr val="5F7F6E"/>
                </a:solidFill>
                <a:latin typeface="Calibri" pitchFamily="34" charset="0"/>
                <a:ea typeface="Calibri" pitchFamily="34" charset="-122"/>
                <a:cs typeface="Calibri" pitchFamily="34" charset="-120"/>
              </a:rPr>
              <a:t>7 columnas sin aporte</a:t>
            </a:r>
            <a:endParaRPr lang="en-US" sz="1400" dirty="0"/>
          </a:p>
        </p:txBody>
      </p:sp>
      <p:sp>
        <p:nvSpPr>
          <p:cNvPr id="9" name="Text 7"/>
          <p:cNvSpPr txBox="1"/>
          <p:nvPr/>
        </p:nvSpPr>
        <p:spPr>
          <a:xfrm>
            <a:off x="6460236" y="2249424"/>
            <a:ext cx="4860036" cy="1609344"/>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pivots, technical_cofounder, prior_failures, weekly_hours, founding_year, n_cofounders y age_of_founder no producen caida medible del AUC al ser permutadas.</a:t>
            </a:r>
            <a:endParaRPr lang="en-US" sz="1250" dirty="0"/>
          </a:p>
        </p:txBody>
      </p:sp>
      <p:sp>
        <p:nvSpPr>
          <p:cNvPr id="10" name="Text 8"/>
          <p:cNvSpPr txBox="1"/>
          <p:nvPr/>
        </p:nvSpPr>
        <p:spPr>
          <a:xfrm>
            <a:off x="640080" y="4343400"/>
            <a:ext cx="3636264" cy="822960"/>
          </a:xfrm>
          <a:prstGeom prst="rect">
            <a:avLst/>
          </a:prstGeom>
          <a:noFill/>
          <a:ln/>
        </p:spPr>
        <p:txBody>
          <a:bodyPr wrap="square" lIns="0" tIns="0" rIns="0" bIns="0" rtlCol="0" anchor="ctr"/>
          <a:lstStyle/>
          <a:p>
            <a:pPr marL="0" indent="0" algn="ctr">
              <a:buNone/>
            </a:pPr>
            <a:r>
              <a:rPr lang="en-US" sz="4400" b="1" dirty="0">
                <a:solidFill>
                  <a:srgbClr val="B85042"/>
                </a:solidFill>
                <a:latin typeface="Cambria" pitchFamily="34" charset="0"/>
                <a:ea typeface="Cambria" pitchFamily="34" charset="-122"/>
                <a:cs typeface="Cambria" pitchFamily="34" charset="-120"/>
              </a:rPr>
              <a:t>0.7420</a:t>
            </a:r>
            <a:endParaRPr lang="en-US" sz="4400" dirty="0"/>
          </a:p>
        </p:txBody>
      </p:sp>
      <p:sp>
        <p:nvSpPr>
          <p:cNvPr id="11" name="Text 9"/>
          <p:cNvSpPr txBox="1"/>
          <p:nvPr/>
        </p:nvSpPr>
        <p:spPr>
          <a:xfrm>
            <a:off x="640080" y="5184648"/>
            <a:ext cx="3636264"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AUC con 24 variables</a:t>
            </a:r>
            <a:endParaRPr lang="en-US" sz="1250" dirty="0"/>
          </a:p>
        </p:txBody>
      </p:sp>
      <p:sp>
        <p:nvSpPr>
          <p:cNvPr id="12" name="Text 10"/>
          <p:cNvSpPr txBox="1"/>
          <p:nvPr/>
        </p:nvSpPr>
        <p:spPr>
          <a:xfrm>
            <a:off x="4276344" y="4343400"/>
            <a:ext cx="3636264" cy="822960"/>
          </a:xfrm>
          <a:prstGeom prst="rect">
            <a:avLst/>
          </a:prstGeom>
          <a:noFill/>
          <a:ln/>
        </p:spPr>
        <p:txBody>
          <a:bodyPr wrap="square" lIns="0" tIns="0" rIns="0" bIns="0" rtlCol="0" anchor="ctr"/>
          <a:lstStyle/>
          <a:p>
            <a:pPr marL="0" indent="0" algn="ctr">
              <a:buNone/>
            </a:pPr>
            <a:r>
              <a:rPr lang="en-US" sz="4400" b="1" dirty="0">
                <a:solidFill>
                  <a:srgbClr val="5F7F6E"/>
                </a:solidFill>
                <a:latin typeface="Cambria" pitchFamily="34" charset="0"/>
                <a:ea typeface="Cambria" pitchFamily="34" charset="-122"/>
                <a:cs typeface="Cambria" pitchFamily="34" charset="-120"/>
              </a:rPr>
              <a:t>0.7422</a:t>
            </a:r>
            <a:endParaRPr lang="en-US" sz="4400" dirty="0"/>
          </a:p>
        </p:txBody>
      </p:sp>
      <p:sp>
        <p:nvSpPr>
          <p:cNvPr id="13" name="Text 11"/>
          <p:cNvSpPr txBox="1"/>
          <p:nvPr/>
        </p:nvSpPr>
        <p:spPr>
          <a:xfrm>
            <a:off x="4276344" y="5184648"/>
            <a:ext cx="3636264"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AUC con 17 variables</a:t>
            </a:r>
            <a:endParaRPr lang="en-US" sz="1250" dirty="0"/>
          </a:p>
        </p:txBody>
      </p:sp>
      <p:sp>
        <p:nvSpPr>
          <p:cNvPr id="14" name="Text 12"/>
          <p:cNvSpPr txBox="1"/>
          <p:nvPr/>
        </p:nvSpPr>
        <p:spPr>
          <a:xfrm>
            <a:off x="7912608" y="4343400"/>
            <a:ext cx="3636264" cy="822960"/>
          </a:xfrm>
          <a:prstGeom prst="rect">
            <a:avLst/>
          </a:prstGeom>
          <a:noFill/>
          <a:ln/>
        </p:spPr>
        <p:txBody>
          <a:bodyPr wrap="square" lIns="0" tIns="0" rIns="0" bIns="0" rtlCol="0" anchor="ctr"/>
          <a:lstStyle/>
          <a:p>
            <a:pPr marL="0" indent="0" algn="ctr">
              <a:buNone/>
            </a:pPr>
            <a:r>
              <a:rPr lang="en-US" sz="4400" b="1" dirty="0">
                <a:solidFill>
                  <a:srgbClr val="B85042"/>
                </a:solidFill>
                <a:latin typeface="Cambria" pitchFamily="34" charset="0"/>
                <a:ea typeface="Cambria" pitchFamily="34" charset="-122"/>
                <a:cs typeface="Cambria" pitchFamily="34" charset="-120"/>
              </a:rPr>
              <a:t>17</a:t>
            </a:r>
            <a:endParaRPr lang="en-US" sz="4400" dirty="0"/>
          </a:p>
        </p:txBody>
      </p:sp>
      <p:sp>
        <p:nvSpPr>
          <p:cNvPr id="15" name="Text 13"/>
          <p:cNvSpPr txBox="1"/>
          <p:nvPr/>
        </p:nvSpPr>
        <p:spPr>
          <a:xfrm>
            <a:off x="7912608" y="5184648"/>
            <a:ext cx="3636264"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variables finales</a:t>
            </a:r>
            <a:endParaRPr lang="en-US" sz="1250" dirty="0"/>
          </a:p>
        </p:txBody>
      </p:sp>
      <p:sp>
        <p:nvSpPr>
          <p:cNvPr id="16" name="Text 14"/>
          <p:cNvSpPr txBox="1"/>
          <p:nvPr/>
        </p:nvSpPr>
        <p:spPr>
          <a:xfrm>
            <a:off x="640080" y="6080760"/>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Sin perdida de desempeño se prefirió el modelo más parsimonioso, que además pide menos datos al usuario.</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Preprocesamiento</a:t>
            </a:r>
            <a:endParaRPr lang="en-US" sz="3000" dirty="0"/>
          </a:p>
        </p:txBody>
      </p:sp>
      <p:sp>
        <p:nvSpPr>
          <p:cNvPr id="3" name="Text 1"/>
          <p:cNvSpPr txBox="1"/>
          <p:nvPr/>
        </p:nvSpPr>
        <p:spPr>
          <a:xfrm>
            <a:off x="640080" y="1078992"/>
            <a:ext cx="10908792" cy="384048"/>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Un Pipeline de scikit-learn con dos ramas</a:t>
            </a:r>
            <a:endParaRPr lang="en-US" sz="1400" dirty="0"/>
          </a:p>
        </p:txBody>
      </p:sp>
      <p:sp>
        <p:nvSpPr>
          <p:cNvPr id="4" name="Shape 2"/>
          <p:cNvSpPr/>
          <p:nvPr/>
        </p:nvSpPr>
        <p:spPr>
          <a:xfrm>
            <a:off x="640080" y="1783080"/>
            <a:ext cx="5317236" cy="2103120"/>
          </a:xfrm>
          <a:prstGeom prst="roundRect">
            <a:avLst>
              <a:gd name="adj" fmla="val 3478"/>
            </a:avLst>
          </a:prstGeom>
          <a:solidFill>
            <a:srgbClr val="E7E8D1"/>
          </a:solidFill>
          <a:ln w="12700">
            <a:solidFill>
              <a:srgbClr val="E7E8D1"/>
            </a:solidFill>
            <a:prstDash val="solid"/>
          </a:ln>
        </p:spPr>
      </p:sp>
      <p:sp>
        <p:nvSpPr>
          <p:cNvPr id="5" name="Text 3"/>
          <p:cNvSpPr txBox="1"/>
          <p:nvPr/>
        </p:nvSpPr>
        <p:spPr>
          <a:xfrm>
            <a:off x="868680" y="1947672"/>
            <a:ext cx="4860036" cy="310896"/>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2 variables categóricas</a:t>
            </a:r>
            <a:endParaRPr lang="en-US" sz="1400" dirty="0"/>
          </a:p>
        </p:txBody>
      </p:sp>
      <p:sp>
        <p:nvSpPr>
          <p:cNvPr id="6" name="Text 4"/>
          <p:cNvSpPr txBox="1"/>
          <p:nvPr/>
        </p:nvSpPr>
        <p:spPr>
          <a:xfrm>
            <a:off x="868680" y="2295144"/>
            <a:ext cx="4860036" cy="1426464"/>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industry y funding_path se codifican uno-en-N. handle_unknown se configura en ignore: en produccion van a aparecer sectores que no existian al entrenar, y el servicio debe seguir respondiendo en vez de cortarse. Una prueba envia un sector inexistente a proposito.</a:t>
            </a:r>
            <a:endParaRPr lang="en-US" sz="1250" dirty="0"/>
          </a:p>
        </p:txBody>
      </p:sp>
      <p:sp>
        <p:nvSpPr>
          <p:cNvPr id="7" name="Shape 5"/>
          <p:cNvSpPr/>
          <p:nvPr/>
        </p:nvSpPr>
        <p:spPr>
          <a:xfrm>
            <a:off x="6231636" y="1783080"/>
            <a:ext cx="5317236" cy="2103120"/>
          </a:xfrm>
          <a:prstGeom prst="roundRect">
            <a:avLst>
              <a:gd name="adj" fmla="val 3478"/>
            </a:avLst>
          </a:prstGeom>
          <a:solidFill>
            <a:srgbClr val="E7E8D1"/>
          </a:solidFill>
          <a:ln w="12700">
            <a:solidFill>
              <a:srgbClr val="E7E8D1"/>
            </a:solidFill>
            <a:prstDash val="solid"/>
          </a:ln>
        </p:spPr>
      </p:sp>
      <p:sp>
        <p:nvSpPr>
          <p:cNvPr id="8" name="Text 6"/>
          <p:cNvSpPr txBox="1"/>
          <p:nvPr/>
        </p:nvSpPr>
        <p:spPr>
          <a:xfrm>
            <a:off x="6460236" y="1947672"/>
            <a:ext cx="4860036" cy="310896"/>
          </a:xfrm>
          <a:prstGeom prst="rect">
            <a:avLst/>
          </a:prstGeom>
          <a:noFill/>
          <a:ln/>
        </p:spPr>
        <p:txBody>
          <a:bodyPr wrap="square" lIns="0" tIns="0" rIns="0" bIns="0" rtlCol="0" anchor="ctr"/>
          <a:lstStyle/>
          <a:p>
            <a:pPr marL="0" indent="0">
              <a:buNone/>
            </a:pPr>
            <a:r>
              <a:rPr lang="en-US" sz="1400" b="1" dirty="0">
                <a:solidFill>
                  <a:srgbClr val="5F7F6E"/>
                </a:solidFill>
                <a:latin typeface="Calibri" pitchFamily="34" charset="0"/>
                <a:ea typeface="Calibri" pitchFamily="34" charset="-122"/>
                <a:cs typeface="Calibri" pitchFamily="34" charset="-120"/>
              </a:rPr>
              <a:t>15 variables numéricas</a:t>
            </a:r>
            <a:endParaRPr lang="en-US" sz="1400" dirty="0"/>
          </a:p>
        </p:txBody>
      </p:sp>
      <p:sp>
        <p:nvSpPr>
          <p:cNvPr id="9" name="Text 7"/>
          <p:cNvSpPr txBox="1"/>
          <p:nvPr/>
        </p:nvSpPr>
        <p:spPr>
          <a:xfrm>
            <a:off x="6460236" y="2295144"/>
            <a:ext cx="4860036" cy="1426464"/>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Se estandarizan porque sus escalas difieren en varios ordenes de magnitud: total_raised_usd llega a 52 millones de dolares y product_market_fit_score va de 0 a 10. Sin estandarizar, la regresion logistica le daria un peso desproporcionado a la primera.</a:t>
            </a:r>
            <a:endParaRPr lang="en-US" sz="1250" dirty="0"/>
          </a:p>
        </p:txBody>
      </p:sp>
      <p:sp>
        <p:nvSpPr>
          <p:cNvPr id="10" name="Text 8"/>
          <p:cNvSpPr txBox="1"/>
          <p:nvPr/>
        </p:nvSpPr>
        <p:spPr>
          <a:xfrm>
            <a:off x="640080" y="4206240"/>
            <a:ext cx="10908792" cy="731520"/>
          </a:xfrm>
          <a:prstGeom prst="rect">
            <a:avLst/>
          </a:prstGeom>
          <a:noFill/>
          <a:ln/>
        </p:spPr>
        <p:txBody>
          <a:bodyPr wrap="square" lIns="0" tIns="0" rIns="0" bIns="0" rtlCol="0" anchor="ctr"/>
          <a:lstStyle/>
          <a:p>
            <a:pPr marL="0" indent="0">
              <a:buNone/>
            </a:pPr>
            <a:r>
              <a:rPr lang="en-US" sz="1450" dirty="0">
                <a:solidFill>
                  <a:srgbClr val="3A3A38"/>
                </a:solidFill>
                <a:latin typeface="Calibri" pitchFamily="34" charset="0"/>
                <a:ea typeface="Calibri" pitchFamily="34" charset="-122"/>
                <a:cs typeface="Calibri" pitchFamily="34" charset="-120"/>
              </a:rPr>
              <a:t>Todo el preprocesamiento vive dentro del Pipeline, así que se ajusta solo con los datos de entrenamiento y viaja junto al modelo dentro del artefacto serializado.</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Partición de los datos</a:t>
            </a:r>
            <a:endParaRPr lang="en-US" sz="3000" dirty="0"/>
          </a:p>
        </p:txBody>
      </p:sp>
      <p:sp>
        <p:nvSpPr>
          <p:cNvPr id="3" name="Text 1"/>
          <p:cNvSpPr txBox="1"/>
          <p:nvPr/>
        </p:nvSpPr>
        <p:spPr>
          <a:xfrm>
            <a:off x="640080" y="1078992"/>
            <a:ext cx="10908792" cy="384048"/>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Tres particiones estratificadas, no dos</a:t>
            </a:r>
            <a:endParaRPr lang="en-US" sz="1400" dirty="0"/>
          </a:p>
        </p:txBody>
      </p:sp>
      <p:sp>
        <p:nvSpPr>
          <p:cNvPr id="4" name="Text 2"/>
          <p:cNvSpPr txBox="1"/>
          <p:nvPr/>
        </p:nvSpPr>
        <p:spPr>
          <a:xfrm>
            <a:off x="640080" y="1920240"/>
            <a:ext cx="3636264" cy="822960"/>
          </a:xfrm>
          <a:prstGeom prst="rect">
            <a:avLst/>
          </a:prstGeom>
          <a:noFill/>
          <a:ln/>
        </p:spPr>
        <p:txBody>
          <a:bodyPr wrap="square" lIns="0" tIns="0" rIns="0" bIns="0" rtlCol="0" anchor="ctr"/>
          <a:lstStyle/>
          <a:p>
            <a:pPr marL="0" indent="0" algn="ctr">
              <a:buNone/>
            </a:pPr>
            <a:r>
              <a:rPr lang="en-US" sz="4400" b="1" dirty="0">
                <a:solidFill>
                  <a:srgbClr val="B85042"/>
                </a:solidFill>
                <a:latin typeface="Cambria" pitchFamily="34" charset="0"/>
                <a:ea typeface="Cambria" pitchFamily="34" charset="-122"/>
                <a:cs typeface="Cambria" pitchFamily="34" charset="-120"/>
              </a:rPr>
              <a:t>28 800</a:t>
            </a:r>
            <a:endParaRPr lang="en-US" sz="4400" dirty="0"/>
          </a:p>
        </p:txBody>
      </p:sp>
      <p:sp>
        <p:nvSpPr>
          <p:cNvPr id="5" name="Text 3"/>
          <p:cNvSpPr txBox="1"/>
          <p:nvPr/>
        </p:nvSpPr>
        <p:spPr>
          <a:xfrm>
            <a:off x="640080" y="2761488"/>
            <a:ext cx="3636264"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entrenamiento (60 %)</a:t>
            </a:r>
            <a:endParaRPr lang="en-US" sz="1250" dirty="0"/>
          </a:p>
        </p:txBody>
      </p:sp>
      <p:sp>
        <p:nvSpPr>
          <p:cNvPr id="6" name="Text 4"/>
          <p:cNvSpPr txBox="1"/>
          <p:nvPr/>
        </p:nvSpPr>
        <p:spPr>
          <a:xfrm>
            <a:off x="4276344" y="1920240"/>
            <a:ext cx="3636264" cy="822960"/>
          </a:xfrm>
          <a:prstGeom prst="rect">
            <a:avLst/>
          </a:prstGeom>
          <a:noFill/>
          <a:ln/>
        </p:spPr>
        <p:txBody>
          <a:bodyPr wrap="square" lIns="0" tIns="0" rIns="0" bIns="0" rtlCol="0" anchor="ctr"/>
          <a:lstStyle/>
          <a:p>
            <a:pPr marL="0" indent="0" algn="ctr">
              <a:buNone/>
            </a:pPr>
            <a:r>
              <a:rPr lang="en-US" sz="4400" b="1" dirty="0">
                <a:solidFill>
                  <a:srgbClr val="5F7F6E"/>
                </a:solidFill>
                <a:latin typeface="Cambria" pitchFamily="34" charset="0"/>
                <a:ea typeface="Cambria" pitchFamily="34" charset="-122"/>
                <a:cs typeface="Cambria" pitchFamily="34" charset="-120"/>
              </a:rPr>
              <a:t>9 600</a:t>
            </a:r>
            <a:endParaRPr lang="en-US" sz="4400" dirty="0"/>
          </a:p>
        </p:txBody>
      </p:sp>
      <p:sp>
        <p:nvSpPr>
          <p:cNvPr id="7" name="Text 5"/>
          <p:cNvSpPr txBox="1"/>
          <p:nvPr/>
        </p:nvSpPr>
        <p:spPr>
          <a:xfrm>
            <a:off x="4276344" y="2761488"/>
            <a:ext cx="3636264"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validación (20 %)</a:t>
            </a:r>
            <a:endParaRPr lang="en-US" sz="1250" dirty="0"/>
          </a:p>
        </p:txBody>
      </p:sp>
      <p:sp>
        <p:nvSpPr>
          <p:cNvPr id="8" name="Text 6"/>
          <p:cNvSpPr txBox="1"/>
          <p:nvPr/>
        </p:nvSpPr>
        <p:spPr>
          <a:xfrm>
            <a:off x="7912608" y="1920240"/>
            <a:ext cx="3636264" cy="822960"/>
          </a:xfrm>
          <a:prstGeom prst="rect">
            <a:avLst/>
          </a:prstGeom>
          <a:noFill/>
          <a:ln/>
        </p:spPr>
        <p:txBody>
          <a:bodyPr wrap="square" lIns="0" tIns="0" rIns="0" bIns="0" rtlCol="0" anchor="ctr"/>
          <a:lstStyle/>
          <a:p>
            <a:pPr marL="0" indent="0" algn="ctr">
              <a:buNone/>
            </a:pPr>
            <a:r>
              <a:rPr lang="en-US" sz="4400" b="1" dirty="0">
                <a:solidFill>
                  <a:srgbClr val="7A756E"/>
                </a:solidFill>
                <a:latin typeface="Cambria" pitchFamily="34" charset="0"/>
                <a:ea typeface="Cambria" pitchFamily="34" charset="-122"/>
                <a:cs typeface="Cambria" pitchFamily="34" charset="-120"/>
              </a:rPr>
              <a:t>9 600</a:t>
            </a:r>
            <a:endParaRPr lang="en-US" sz="4400" dirty="0"/>
          </a:p>
        </p:txBody>
      </p:sp>
      <p:sp>
        <p:nvSpPr>
          <p:cNvPr id="9" name="Text 7"/>
          <p:cNvSpPr txBox="1"/>
          <p:nvPr/>
        </p:nvSpPr>
        <p:spPr>
          <a:xfrm>
            <a:off x="7912608" y="2761488"/>
            <a:ext cx="3636264"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prueba (20 %)</a:t>
            </a:r>
            <a:endParaRPr lang="en-US" sz="1250" dirty="0"/>
          </a:p>
        </p:txBody>
      </p:sp>
      <p:sp>
        <p:nvSpPr>
          <p:cNvPr id="10" name="Text 8"/>
          <p:cNvSpPr txBox="1"/>
          <p:nvPr/>
        </p:nvSpPr>
        <p:spPr>
          <a:xfrm>
            <a:off x="640080" y="3566160"/>
            <a:ext cx="10908792" cy="2377440"/>
          </a:xfrm>
          <a:prstGeom prst="rect">
            <a:avLst/>
          </a:prstGeom>
          <a:noFill/>
          <a:ln/>
        </p:spPr>
        <p:txBody>
          <a:bodyPr wrap="square" lIns="0" tIns="0" rIns="0" bIns="0" rtlCol="0" anchor="ctr"/>
          <a:lstStyle/>
          <a:p>
            <a:pPr marL="342900" indent="-342900">
              <a:lnSpc>
                <a:spcPts val="2200"/>
              </a:lnSpc>
              <a:spcAft>
                <a:spcPts val="1000"/>
              </a:spcAft>
              <a:buSzPct val="100000"/>
              <a:buChar char="•"/>
            </a:pPr>
            <a:r>
              <a:rPr lang="en-US" sz="1500" dirty="0">
                <a:solidFill>
                  <a:srgbClr val="3A3A38"/>
                </a:solidFill>
                <a:latin typeface="Calibri" pitchFamily="34" charset="0"/>
                <a:ea typeface="Calibri" pitchFamily="34" charset="-122"/>
                <a:cs typeface="Calibri" pitchFamily="34" charset="-120"/>
              </a:rPr>
              <a:t>La búsqueda de hiperparámetros se hace con validación cruzada sobre el conjunto de entrenamiento.</a:t>
            </a:r>
            <a:endParaRPr lang="en-US" sz="1500" dirty="0"/>
          </a:p>
          <a:p>
            <a:pPr marL="342900" indent="-342900">
              <a:lnSpc>
                <a:spcPts val="2200"/>
              </a:lnSpc>
              <a:spcAft>
                <a:spcPts val="1000"/>
              </a:spcAft>
              <a:buSzPct val="100000"/>
              <a:buChar char="•"/>
            </a:pPr>
            <a:r>
              <a:rPr lang="en-US" sz="1500" dirty="0">
                <a:solidFill>
                  <a:srgbClr val="3A3A38"/>
                </a:solidFill>
                <a:latin typeface="Calibri" pitchFamily="34" charset="0"/>
                <a:ea typeface="Calibri" pitchFamily="34" charset="-122"/>
                <a:cs typeface="Calibri" pitchFamily="34" charset="-120"/>
              </a:rPr>
              <a:t>La selección del umbral de decisión usa el conjunto de validación.</a:t>
            </a:r>
            <a:endParaRPr lang="en-US" sz="1500" dirty="0"/>
          </a:p>
          <a:p>
            <a:pPr marL="342900" indent="-342900">
              <a:lnSpc>
                <a:spcPts val="2200"/>
              </a:lnSpc>
              <a:spcAft>
                <a:spcPts val="1000"/>
              </a:spcAft>
              <a:buSzPct val="100000"/>
              <a:buChar char="•"/>
            </a:pPr>
            <a:r>
              <a:rPr lang="en-US" sz="1500" dirty="0">
                <a:solidFill>
                  <a:srgbClr val="3A3A38"/>
                </a:solidFill>
                <a:latin typeface="Calibri" pitchFamily="34" charset="0"/>
                <a:ea typeface="Calibri" pitchFamily="34" charset="-122"/>
                <a:cs typeface="Calibri" pitchFamily="34" charset="-120"/>
              </a:rPr>
              <a:t>Son dos decisiones distintas y no pueden compartir los mismos datos, por eso la partición es en tres.</a:t>
            </a:r>
            <a:endParaRPr lang="en-US" sz="1500" dirty="0"/>
          </a:p>
          <a:p>
            <a:pPr marL="342900" indent="-342900">
              <a:lnSpc>
                <a:spcPts val="2200"/>
              </a:lnSpc>
              <a:spcAft>
                <a:spcPts val="1000"/>
              </a:spcAft>
              <a:buSzPct val="100000"/>
              <a:buChar char="•"/>
            </a:pPr>
            <a:r>
              <a:rPr lang="en-US" sz="1500" dirty="0">
                <a:solidFill>
                  <a:srgbClr val="3A3A38"/>
                </a:solidFill>
                <a:latin typeface="Calibri" pitchFamily="34" charset="0"/>
                <a:ea typeface="Calibri" pitchFamily="34" charset="-122"/>
                <a:cs typeface="Calibri" pitchFamily="34" charset="-120"/>
              </a:rPr>
              <a:t>El conjunto de prueba no interviene en ninguna decisión de modelado y se reserva íntegro para la evaluación final.</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Comparación de algoritmos</a:t>
            </a:r>
            <a:endParaRPr lang="en-US" sz="3000" dirty="0"/>
          </a:p>
        </p:txBody>
      </p:sp>
      <p:sp>
        <p:nvSpPr>
          <p:cNvPr id="3" name="Text 1"/>
          <p:cNvSpPr txBox="1"/>
          <p:nvPr/>
        </p:nvSpPr>
        <p:spPr>
          <a:xfrm>
            <a:off x="640080" y="1078992"/>
            <a:ext cx="10908792" cy="384048"/>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Tres familias distintas, búsqueda aleatoria de hiperparámetros</a:t>
            </a:r>
            <a:endParaRPr lang="en-US" sz="1400" dirty="0"/>
          </a:p>
        </p:txBody>
      </p:sp>
      <p:sp>
        <p:nvSpPr>
          <p:cNvPr id="4" name="Shape 2"/>
          <p:cNvSpPr/>
          <p:nvPr/>
        </p:nvSpPr>
        <p:spPr>
          <a:xfrm>
            <a:off x="640080" y="1783080"/>
            <a:ext cx="3544824" cy="1783080"/>
          </a:xfrm>
          <a:prstGeom prst="roundRect">
            <a:avLst>
              <a:gd name="adj" fmla="val 4103"/>
            </a:avLst>
          </a:prstGeom>
          <a:solidFill>
            <a:srgbClr val="E7E8D1"/>
          </a:solidFill>
          <a:ln w="12700">
            <a:solidFill>
              <a:srgbClr val="E7E8D1"/>
            </a:solidFill>
            <a:prstDash val="solid"/>
          </a:ln>
        </p:spPr>
      </p:sp>
      <p:sp>
        <p:nvSpPr>
          <p:cNvPr id="5" name="Text 3"/>
          <p:cNvSpPr txBox="1"/>
          <p:nvPr/>
        </p:nvSpPr>
        <p:spPr>
          <a:xfrm>
            <a:off x="868680" y="1947672"/>
            <a:ext cx="3087624" cy="310896"/>
          </a:xfrm>
          <a:prstGeom prst="rect">
            <a:avLst/>
          </a:prstGeom>
          <a:noFill/>
          <a:ln/>
        </p:spPr>
        <p:txBody>
          <a:bodyPr wrap="square" lIns="0" tIns="0" rIns="0" bIns="0" rtlCol="0" anchor="ctr"/>
          <a:lstStyle/>
          <a:p>
            <a:pPr marL="0" indent="0">
              <a:buNone/>
            </a:pPr>
            <a:r>
              <a:rPr lang="en-US" sz="1400" b="1" dirty="0">
                <a:solidFill>
                  <a:srgbClr val="5F7F6E"/>
                </a:solidFill>
                <a:latin typeface="Calibri" pitchFamily="34" charset="0"/>
                <a:ea typeface="Calibri" pitchFamily="34" charset="-122"/>
                <a:cs typeface="Calibri" pitchFamily="34" charset="-120"/>
              </a:rPr>
              <a:t>Regresión logística</a:t>
            </a:r>
            <a:endParaRPr lang="en-US" sz="1400" dirty="0"/>
          </a:p>
        </p:txBody>
      </p:sp>
      <p:sp>
        <p:nvSpPr>
          <p:cNvPr id="6" name="Text 4"/>
          <p:cNvSpPr txBox="1"/>
          <p:nvPr/>
        </p:nvSpPr>
        <p:spPr>
          <a:xfrm>
            <a:off x="868680" y="2295144"/>
            <a:ext cx="3087624" cy="1106424"/>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Modelo lineal. Se explora el parámetro de regularización C.</a:t>
            </a:r>
            <a:endParaRPr lang="en-US" sz="1250" dirty="0"/>
          </a:p>
        </p:txBody>
      </p:sp>
      <p:sp>
        <p:nvSpPr>
          <p:cNvPr id="7" name="Shape 5"/>
          <p:cNvSpPr/>
          <p:nvPr/>
        </p:nvSpPr>
        <p:spPr>
          <a:xfrm>
            <a:off x="4322064" y="1783080"/>
            <a:ext cx="3544824" cy="1783080"/>
          </a:xfrm>
          <a:prstGeom prst="roundRect">
            <a:avLst>
              <a:gd name="adj" fmla="val 4103"/>
            </a:avLst>
          </a:prstGeom>
          <a:solidFill>
            <a:srgbClr val="E7E8D1"/>
          </a:solidFill>
          <a:ln w="12700">
            <a:solidFill>
              <a:srgbClr val="E7E8D1"/>
            </a:solidFill>
            <a:prstDash val="solid"/>
          </a:ln>
        </p:spPr>
      </p:sp>
      <p:sp>
        <p:nvSpPr>
          <p:cNvPr id="8" name="Text 6"/>
          <p:cNvSpPr txBox="1"/>
          <p:nvPr/>
        </p:nvSpPr>
        <p:spPr>
          <a:xfrm>
            <a:off x="4550664" y="1947672"/>
            <a:ext cx="3087624" cy="310896"/>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Bosque aleatorio</a:t>
            </a:r>
            <a:endParaRPr lang="en-US" sz="1400" dirty="0"/>
          </a:p>
        </p:txBody>
      </p:sp>
      <p:sp>
        <p:nvSpPr>
          <p:cNvPr id="9" name="Text 7"/>
          <p:cNvSpPr txBox="1"/>
          <p:nvPr/>
        </p:nvSpPr>
        <p:spPr>
          <a:xfrm>
            <a:off x="4550664" y="2295144"/>
            <a:ext cx="3087624" cy="1106424"/>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Ensamble de árboles. Número de árboles, profundidad máxima y mínimo de muestras por hoja.</a:t>
            </a:r>
            <a:endParaRPr lang="en-US" sz="1250" dirty="0"/>
          </a:p>
        </p:txBody>
      </p:sp>
      <p:sp>
        <p:nvSpPr>
          <p:cNvPr id="10" name="Shape 8"/>
          <p:cNvSpPr/>
          <p:nvPr/>
        </p:nvSpPr>
        <p:spPr>
          <a:xfrm>
            <a:off x="8004048" y="1783080"/>
            <a:ext cx="3544824" cy="1783080"/>
          </a:xfrm>
          <a:prstGeom prst="roundRect">
            <a:avLst>
              <a:gd name="adj" fmla="val 4103"/>
            </a:avLst>
          </a:prstGeom>
          <a:solidFill>
            <a:srgbClr val="E7E8D1"/>
          </a:solidFill>
          <a:ln w="12700">
            <a:solidFill>
              <a:srgbClr val="E7E8D1"/>
            </a:solidFill>
            <a:prstDash val="solid"/>
          </a:ln>
        </p:spPr>
      </p:sp>
      <p:sp>
        <p:nvSpPr>
          <p:cNvPr id="11" name="Text 9"/>
          <p:cNvSpPr txBox="1"/>
          <p:nvPr/>
        </p:nvSpPr>
        <p:spPr>
          <a:xfrm>
            <a:off x="8232648" y="1947672"/>
            <a:ext cx="3087624" cy="310896"/>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Potenciación de gradiente</a:t>
            </a:r>
            <a:endParaRPr lang="en-US" sz="1400" dirty="0"/>
          </a:p>
        </p:txBody>
      </p:sp>
      <p:sp>
        <p:nvSpPr>
          <p:cNvPr id="12" name="Text 10"/>
          <p:cNvSpPr txBox="1"/>
          <p:nvPr/>
        </p:nvSpPr>
        <p:spPr>
          <a:xfrm>
            <a:off x="8232648" y="2295144"/>
            <a:ext cx="3087624" cy="1106424"/>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Basado en el enfoque de Ke et al. (2017). Profundidad, tasa de aprendizaje, iteraciones y hojas.</a:t>
            </a:r>
            <a:endParaRPr lang="en-US" sz="1250" dirty="0"/>
          </a:p>
        </p:txBody>
      </p:sp>
      <p:sp>
        <p:nvSpPr>
          <p:cNvPr id="13" name="Text 11"/>
          <p:cNvSpPr txBox="1"/>
          <p:nvPr/>
        </p:nvSpPr>
        <p:spPr>
          <a:xfrm>
            <a:off x="640080" y="3840480"/>
            <a:ext cx="10908792" cy="2103120"/>
          </a:xfrm>
          <a:prstGeom prst="rect">
            <a:avLst/>
          </a:prstGeom>
          <a:noFill/>
          <a:ln/>
        </p:spPr>
        <p:txBody>
          <a:bodyPr wrap="square" lIns="0" tIns="0" rIns="0" bIns="0" rtlCol="0" anchor="ctr"/>
          <a:lstStyle/>
          <a:p>
            <a:pPr marL="342900" indent="-342900">
              <a:lnSpc>
                <a:spcPts val="2200"/>
              </a:lnSpc>
              <a:spcAft>
                <a:spcPts val="1000"/>
              </a:spcAft>
              <a:buSzPct val="100000"/>
              <a:buChar char="•"/>
            </a:pPr>
            <a:r>
              <a:rPr lang="en-US" sz="1500" dirty="0">
                <a:solidFill>
                  <a:srgbClr val="3A3A38"/>
                </a:solidFill>
                <a:latin typeface="Calibri" pitchFamily="34" charset="0"/>
                <a:ea typeface="Calibri" pitchFamily="34" charset="-122"/>
                <a:cs typeface="Calibri" pitchFamily="34" charset="-120"/>
              </a:rPr>
              <a:t>Validación cruzada estratificada de cinco pliegues, con ROC-AUC como criterio de selección.</a:t>
            </a:r>
            <a:endParaRPr lang="en-US" sz="1500" dirty="0"/>
          </a:p>
          <a:p>
            <a:pPr marL="342900" indent="-342900">
              <a:lnSpc>
                <a:spcPts val="2200"/>
              </a:lnSpc>
              <a:spcAft>
                <a:spcPts val="1000"/>
              </a:spcAft>
              <a:buSzPct val="100000"/>
              <a:buChar char="•"/>
            </a:pPr>
            <a:r>
              <a:rPr lang="en-US" sz="1500" dirty="0">
                <a:solidFill>
                  <a:srgbClr val="3A3A38"/>
                </a:solidFill>
                <a:latin typeface="Calibri" pitchFamily="34" charset="0"/>
                <a:ea typeface="Calibri" pitchFamily="34" charset="-122"/>
                <a:cs typeface="Calibri" pitchFamily="34" charset="-120"/>
              </a:rPr>
              <a:t>Se prefirió la búsqueda aleatoria a la exhaustiva porque, como muestran Bergstra y Bengio (2012), explora el espacio de forma más eficiente cuando solo algunos hiperparámetros son determinantes.</a:t>
            </a:r>
            <a:endParaRPr lang="en-US" sz="1500" dirty="0"/>
          </a:p>
          <a:p>
            <a:pPr marL="342900" indent="-342900">
              <a:lnSpc>
                <a:spcPts val="2200"/>
              </a:lnSpc>
              <a:spcAft>
                <a:spcPts val="1000"/>
              </a:spcAft>
              <a:buSzPct val="100000"/>
              <a:buChar char="•"/>
            </a:pPr>
            <a:r>
              <a:rPr lang="en-US" sz="1500" dirty="0">
                <a:solidFill>
                  <a:srgbClr val="3A3A38"/>
                </a:solidFill>
                <a:latin typeface="Calibri" pitchFamily="34" charset="0"/>
                <a:ea typeface="Calibri" pitchFamily="34" charset="-122"/>
                <a:cs typeface="Calibri" pitchFamily="34" charset="-120"/>
              </a:rPr>
              <a:t>Las implementaciones provienen de scikit-learn (Pedregosa et al., 2011).</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Selección del umbral de decisión</a:t>
            </a:r>
            <a:endParaRPr lang="en-US" sz="3000" dirty="0"/>
          </a:p>
        </p:txBody>
      </p:sp>
      <p:sp>
        <p:nvSpPr>
          <p:cNvPr id="3" name="Text 1"/>
          <p:cNvSpPr txBox="1"/>
          <p:nvPr/>
        </p:nvSpPr>
        <p:spPr>
          <a:xfrm>
            <a:off x="640080" y="1078992"/>
            <a:ext cx="10908792" cy="384048"/>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El hallazgo metodológico del trabajo</a:t>
            </a:r>
            <a:endParaRPr lang="en-US" sz="1400" dirty="0"/>
          </a:p>
        </p:txBody>
      </p:sp>
      <p:sp>
        <p:nvSpPr>
          <p:cNvPr id="4" name="Text 2"/>
          <p:cNvSpPr txBox="1"/>
          <p:nvPr/>
        </p:nvSpPr>
        <p:spPr>
          <a:xfrm>
            <a:off x="640080" y="1691640"/>
            <a:ext cx="10908792" cy="548640"/>
          </a:xfrm>
          <a:prstGeom prst="rect">
            <a:avLst/>
          </a:prstGeom>
          <a:noFill/>
          <a:ln/>
        </p:spPr>
        <p:txBody>
          <a:bodyPr wrap="square" lIns="0" tIns="0" rIns="0" bIns="0" rtlCol="0" anchor="ctr"/>
          <a:lstStyle/>
          <a:p>
            <a:pPr marL="0" indent="0">
              <a:buNone/>
            </a:pPr>
            <a:r>
              <a:rPr lang="en-US" sz="1500" dirty="0">
                <a:solidFill>
                  <a:srgbClr val="3A3A38"/>
                </a:solidFill>
                <a:latin typeface="Calibri" pitchFamily="34" charset="0"/>
                <a:ea typeface="Calibri" pitchFamily="34" charset="-122"/>
                <a:cs typeface="Calibri" pitchFamily="34" charset="-120"/>
              </a:rPr>
              <a:t>Un clasificador probabilístico necesita un punto de corte. El valor predeterminado de 0.5 rara vez es el adecuado, y aquí resultó particularmente inapropiado.</a:t>
            </a:r>
            <a:endParaRPr lang="en-US" sz="1500" dirty="0"/>
          </a:p>
        </p:txBody>
      </p:sp>
      <p:sp>
        <p:nvSpPr>
          <p:cNvPr id="5" name="Shape 3"/>
          <p:cNvSpPr/>
          <p:nvPr/>
        </p:nvSpPr>
        <p:spPr>
          <a:xfrm>
            <a:off x="640080" y="2377440"/>
            <a:ext cx="5317236" cy="1920240"/>
          </a:xfrm>
          <a:prstGeom prst="roundRect">
            <a:avLst>
              <a:gd name="adj" fmla="val 3810"/>
            </a:avLst>
          </a:prstGeom>
          <a:solidFill>
            <a:srgbClr val="E7E8D1"/>
          </a:solidFill>
          <a:ln w="12700">
            <a:solidFill>
              <a:srgbClr val="E7E8D1"/>
            </a:solidFill>
            <a:prstDash val="solid"/>
          </a:ln>
        </p:spPr>
      </p:sp>
      <p:sp>
        <p:nvSpPr>
          <p:cNvPr id="6" name="Text 4"/>
          <p:cNvSpPr txBox="1"/>
          <p:nvPr/>
        </p:nvSpPr>
        <p:spPr>
          <a:xfrm>
            <a:off x="868680" y="2542032"/>
            <a:ext cx="4860036" cy="310896"/>
          </a:xfrm>
          <a:prstGeom prst="rect">
            <a:avLst/>
          </a:prstGeom>
          <a:noFill/>
          <a:ln/>
        </p:spPr>
        <p:txBody>
          <a:bodyPr wrap="square" lIns="0" tIns="0" rIns="0" bIns="0" rtlCol="0" anchor="ctr"/>
          <a:lstStyle/>
          <a:p>
            <a:pPr marL="0" indent="0">
              <a:buNone/>
            </a:pPr>
            <a:r>
              <a:rPr lang="en-US" sz="1400" b="1" dirty="0">
                <a:solidFill>
                  <a:srgbClr val="7A756E"/>
                </a:solidFill>
                <a:latin typeface="Calibri" pitchFamily="34" charset="0"/>
                <a:ea typeface="Calibri" pitchFamily="34" charset="-122"/>
                <a:cs typeface="Calibri" pitchFamily="34" charset="-120"/>
              </a:rPr>
              <a:t>Lo que parecía funcionar</a:t>
            </a:r>
            <a:endParaRPr lang="en-US" sz="1400" dirty="0"/>
          </a:p>
        </p:txBody>
      </p:sp>
      <p:sp>
        <p:nvSpPr>
          <p:cNvPr id="7" name="Text 5"/>
          <p:cNvSpPr txBox="1"/>
          <p:nvPr/>
        </p:nvSpPr>
        <p:spPr>
          <a:xfrm>
            <a:off x="868680" y="2889504"/>
            <a:ext cx="4860036" cy="1243584"/>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Maximizando F1 el umbral quedo en 0.37. Con ese corte el modelo marcaba el 90.7 % de los casos y daba F1 de 0.8084. Suena bien.</a:t>
            </a:r>
            <a:endParaRPr lang="en-US" sz="1250" dirty="0"/>
          </a:p>
        </p:txBody>
      </p:sp>
      <p:sp>
        <p:nvSpPr>
          <p:cNvPr id="8" name="Shape 6"/>
          <p:cNvSpPr/>
          <p:nvPr/>
        </p:nvSpPr>
        <p:spPr>
          <a:xfrm>
            <a:off x="6231636" y="2377440"/>
            <a:ext cx="5317236" cy="1920240"/>
          </a:xfrm>
          <a:prstGeom prst="roundRect">
            <a:avLst>
              <a:gd name="adj" fmla="val 3810"/>
            </a:avLst>
          </a:prstGeom>
          <a:solidFill>
            <a:srgbClr val="E7E8D1"/>
          </a:solidFill>
          <a:ln w="12700">
            <a:solidFill>
              <a:srgbClr val="E7E8D1"/>
            </a:solidFill>
            <a:prstDash val="solid"/>
          </a:ln>
        </p:spPr>
      </p:sp>
      <p:sp>
        <p:nvSpPr>
          <p:cNvPr id="9" name="Text 7"/>
          <p:cNvSpPr txBox="1"/>
          <p:nvPr/>
        </p:nvSpPr>
        <p:spPr>
          <a:xfrm>
            <a:off x="6460236" y="2542032"/>
            <a:ext cx="4860036" cy="310896"/>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Lo que descubrimos</a:t>
            </a:r>
            <a:endParaRPr lang="en-US" sz="1400" dirty="0"/>
          </a:p>
        </p:txBody>
      </p:sp>
      <p:sp>
        <p:nvSpPr>
          <p:cNvPr id="10" name="Text 8"/>
          <p:cNvSpPr txBox="1"/>
          <p:nvPr/>
        </p:nvSpPr>
        <p:spPr>
          <a:xfrm>
            <a:off x="6460236" y="2889504"/>
            <a:ext cx="4860036" cy="1243584"/>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Decir "todas fracasan", sin ningun modelo, ya da F1 de 0.7937. La mejora real era de 0.0146, o sea practicamente nula.</a:t>
            </a:r>
            <a:endParaRPr lang="en-US" sz="1250" dirty="0"/>
          </a:p>
        </p:txBody>
      </p:sp>
      <p:sp>
        <p:nvSpPr>
          <p:cNvPr id="11" name="Text 9"/>
          <p:cNvSpPr txBox="1"/>
          <p:nvPr/>
        </p:nvSpPr>
        <p:spPr>
          <a:xfrm>
            <a:off x="640080" y="4572000"/>
            <a:ext cx="10908792" cy="822960"/>
          </a:xfrm>
          <a:prstGeom prst="rect">
            <a:avLst/>
          </a:prstGeom>
          <a:noFill/>
          <a:ln/>
        </p:spPr>
        <p:txBody>
          <a:bodyPr wrap="square" lIns="0" tIns="0" rIns="0" bIns="0" rtlCol="0" anchor="ctr"/>
          <a:lstStyle/>
          <a:p>
            <a:pPr marL="0" indent="0">
              <a:buNone/>
            </a:pPr>
            <a:r>
              <a:rPr lang="en-US" sz="1400" i="1" dirty="0">
                <a:solidFill>
                  <a:srgbClr val="3A3A38"/>
                </a:solidFill>
                <a:latin typeface="Calibri" pitchFamily="34" charset="0"/>
                <a:ea typeface="Calibri" pitchFamily="34" charset="-122"/>
                <a:cs typeface="Calibri" pitchFamily="34" charset="-120"/>
              </a:rPr>
              <a:t>Saito y Rehmsmeier (2015) advierten que las métricas convencionales son engañosas con clases desbalanceadas: reflejan la proporción de clases y no la capacidad discriminante del modelo.</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Tabla 3 · Comparación de criterios para fijar el umbral</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10908792" cy="2286000"/>
        </p:xfrm>
        <a:graphic>
          <a:graphicData uri="http://schemas.openxmlformats.org/drawingml/2006/table">
            <a:tbl>
              <a:tblPr/>
              <a:tblGrid>
                <a:gridCol w="30175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gridCol w="1325880">
                  <a:extLst>
                    <a:ext uri="{9D8B030D-6E8A-4147-A177-3AD203B41FA5}">
                      <a16:colId xmlns:a16="http://schemas.microsoft.com/office/drawing/2014/main" val="20006"/>
                    </a:ext>
                  </a:extLst>
                </a:gridCol>
              </a:tblGrid>
              <a:tr h="45720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Criterio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Umbral</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Precisión</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Sensib.</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Exact. bal.</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Señalados</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extLst>
                  <a:ext uri="{0D108BD9-81ED-4DB2-BD59-A6C34878D82A}">
                    <a16:rowId xmlns:a16="http://schemas.microsoft.com/office/drawing/2014/main" val="10000"/>
                  </a:ext>
                </a:extLst>
              </a:tr>
              <a:tr h="45720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Predeterminado (0.5)</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0.50</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0.7391</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0.8756</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0.8016</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0.6405</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77.9 %</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Maximizar F1</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0.37</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0.6975</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0.9612</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0.8084</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0.5795</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90.7 %</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2"/>
                  </a:ext>
                </a:extLst>
              </a:tr>
              <a:tr h="457200">
                <a:tc>
                  <a:txBody>
                    <a:bodyPr/>
                    <a:lstStyle/>
                    <a:p>
                      <a:pPr marL="0" indent="0" algn="l">
                        <a:buNone/>
                      </a:pPr>
                      <a:r>
                        <a:rPr lang="en-US" sz="1300" b="1" dirty="0">
                          <a:solidFill>
                            <a:srgbClr val="B85042"/>
                          </a:solidFill>
                          <a:latin typeface="Calibri" pitchFamily="34" charset="0"/>
                          <a:ea typeface="Calibri" pitchFamily="34" charset="-122"/>
                          <a:cs typeface="Calibri" pitchFamily="34" charset="-120"/>
                        </a:rPr>
                        <a:t>J de Youden (adoptado)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b="1" dirty="0">
                          <a:solidFill>
                            <a:srgbClr val="B85042"/>
                          </a:solidFill>
                          <a:latin typeface="Calibri" pitchFamily="34" charset="0"/>
                          <a:ea typeface="Calibri" pitchFamily="34" charset="-122"/>
                          <a:cs typeface="Calibri" pitchFamily="34" charset="-120"/>
                        </a:rPr>
                        <a:t>0.64</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b="1" dirty="0">
                          <a:solidFill>
                            <a:srgbClr val="B85042"/>
                          </a:solidFill>
                          <a:latin typeface="Calibri" pitchFamily="34" charset="0"/>
                          <a:ea typeface="Calibri" pitchFamily="34" charset="-122"/>
                          <a:cs typeface="Calibri" pitchFamily="34" charset="-120"/>
                        </a:rPr>
                        <a:t>0.7977</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b="1" dirty="0">
                          <a:solidFill>
                            <a:srgbClr val="B85042"/>
                          </a:solidFill>
                          <a:latin typeface="Calibri" pitchFamily="34" charset="0"/>
                          <a:ea typeface="Calibri" pitchFamily="34" charset="-122"/>
                          <a:cs typeface="Calibri" pitchFamily="34" charset="-120"/>
                        </a:rPr>
                        <a:t>0.6965</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b="1" dirty="0">
                          <a:solidFill>
                            <a:srgbClr val="B85042"/>
                          </a:solidFill>
                          <a:latin typeface="Calibri" pitchFamily="34" charset="0"/>
                          <a:ea typeface="Calibri" pitchFamily="34" charset="-122"/>
                          <a:cs typeface="Calibri" pitchFamily="34" charset="-120"/>
                        </a:rPr>
                        <a:t>0.7437</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b="1" dirty="0">
                          <a:solidFill>
                            <a:srgbClr val="B85042"/>
                          </a:solidFill>
                          <a:latin typeface="Calibri" pitchFamily="34" charset="0"/>
                          <a:ea typeface="Calibri" pitchFamily="34" charset="-122"/>
                          <a:cs typeface="Calibri" pitchFamily="34" charset="-120"/>
                        </a:rPr>
                        <a:t>0.6783</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b="1" dirty="0">
                          <a:solidFill>
                            <a:srgbClr val="B85042"/>
                          </a:solidFill>
                          <a:latin typeface="Calibri" pitchFamily="34" charset="0"/>
                          <a:ea typeface="Calibri" pitchFamily="34" charset="-122"/>
                          <a:cs typeface="Calibri" pitchFamily="34" charset="-120"/>
                        </a:rPr>
                        <a:t>57.5 %</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Sin modelo (todos fracasan)</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0.6580</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0.7937</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0.5000</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100 %</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4"/>
                  </a:ext>
                </a:extLst>
              </a:tr>
            </a:tbl>
          </a:graphicData>
        </a:graphic>
      </p:graphicFrame>
      <p:sp>
        <p:nvSpPr>
          <p:cNvPr id="4" name="Text 1"/>
          <p:cNvSpPr txBox="1"/>
          <p:nvPr/>
        </p:nvSpPr>
        <p:spPr>
          <a:xfrm>
            <a:off x="640080" y="4206240"/>
            <a:ext cx="10908792" cy="548640"/>
          </a:xfrm>
          <a:prstGeom prst="rect">
            <a:avLst/>
          </a:prstGeom>
          <a:noFill/>
          <a:ln/>
        </p:spPr>
        <p:txBody>
          <a:bodyPr wrap="square" lIns="0" tIns="0" rIns="0" bIns="0" rtlCol="0" anchor="ctr"/>
          <a:lstStyle/>
          <a:p>
            <a:pPr marL="0" indent="0">
              <a:buNone/>
            </a:pPr>
            <a:r>
              <a:rPr lang="en-US" sz="1500" i="1" dirty="0">
                <a:solidFill>
                  <a:srgbClr val="B85042"/>
                </a:solidFill>
                <a:latin typeface="Calibri" pitchFamily="34" charset="0"/>
                <a:ea typeface="Calibri" pitchFamily="34" charset="-122"/>
                <a:cs typeface="Calibri" pitchFamily="34" charset="-120"/>
              </a:rPr>
              <a:t>El criterio de F1 produce el mayor valor de esa métrica y, al mismo tiempo, la menor exactitud balanceada de los tres.</a:t>
            </a:r>
            <a:endParaRPr lang="en-US" sz="1500" dirty="0"/>
          </a:p>
        </p:txBody>
      </p:sp>
      <p:sp>
        <p:nvSpPr>
          <p:cNvPr id="5" name="Text 2"/>
          <p:cNvSpPr txBox="1"/>
          <p:nvPr/>
        </p:nvSpPr>
        <p:spPr>
          <a:xfrm>
            <a:off x="640080" y="6080760"/>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Umbral seleccionado sobre la partición de validación y métricas evaluadas sobre la de prueba.</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El estadístico J de Youden</a:t>
            </a:r>
            <a:endParaRPr lang="en-US" sz="3000" dirty="0"/>
          </a:p>
        </p:txBody>
      </p:sp>
      <p:sp>
        <p:nvSpPr>
          <p:cNvPr id="3" name="Text 1"/>
          <p:cNvSpPr txBox="1"/>
          <p:nvPr/>
        </p:nvSpPr>
        <p:spPr>
          <a:xfrm>
            <a:off x="640080" y="1078992"/>
            <a:ext cx="10908792" cy="384048"/>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Sensibilidad + especificidad − 1</a:t>
            </a:r>
            <a:endParaRPr lang="en-US" sz="1400" dirty="0"/>
          </a:p>
        </p:txBody>
      </p:sp>
      <p:sp>
        <p:nvSpPr>
          <p:cNvPr id="4" name="Shape 2"/>
          <p:cNvSpPr/>
          <p:nvPr/>
        </p:nvSpPr>
        <p:spPr>
          <a:xfrm>
            <a:off x="640080" y="1737360"/>
            <a:ext cx="10908792" cy="914400"/>
          </a:xfrm>
          <a:prstGeom prst="roundRect">
            <a:avLst>
              <a:gd name="adj" fmla="val 8000"/>
            </a:avLst>
          </a:prstGeom>
          <a:solidFill>
            <a:srgbClr val="E7E8D1"/>
          </a:solidFill>
          <a:ln w="12700">
            <a:solidFill>
              <a:srgbClr val="E7E8D1"/>
            </a:solidFill>
            <a:prstDash val="solid"/>
          </a:ln>
        </p:spPr>
      </p:sp>
      <p:sp>
        <p:nvSpPr>
          <p:cNvPr id="5" name="Text 3"/>
          <p:cNvSpPr txBox="1"/>
          <p:nvPr/>
        </p:nvSpPr>
        <p:spPr>
          <a:xfrm>
            <a:off x="640080" y="1737360"/>
            <a:ext cx="10908792" cy="914400"/>
          </a:xfrm>
          <a:prstGeom prst="rect">
            <a:avLst/>
          </a:prstGeom>
          <a:noFill/>
          <a:ln/>
        </p:spPr>
        <p:txBody>
          <a:bodyPr wrap="square" lIns="0" tIns="0" rIns="0" bIns="0" rtlCol="0" anchor="ctr"/>
          <a:lstStyle/>
          <a:p>
            <a:pPr marL="0" indent="0" algn="ctr">
              <a:buNone/>
            </a:pPr>
            <a:r>
              <a:rPr lang="en-US" sz="2400" b="1" dirty="0">
                <a:solidFill>
                  <a:srgbClr val="33302B"/>
                </a:solidFill>
                <a:latin typeface="Cambria" pitchFamily="34" charset="0"/>
                <a:ea typeface="Cambria" pitchFamily="34" charset="-122"/>
                <a:cs typeface="Cambria" pitchFamily="34" charset="-120"/>
              </a:rPr>
              <a:t>J = sensibilidad + especificidad − 1   (Youden, 1950)</a:t>
            </a:r>
            <a:endParaRPr lang="en-US" sz="2400" dirty="0"/>
          </a:p>
        </p:txBody>
      </p:sp>
      <p:sp>
        <p:nvSpPr>
          <p:cNvPr id="6" name="Text 4"/>
          <p:cNvSpPr txBox="1"/>
          <p:nvPr/>
        </p:nvSpPr>
        <p:spPr>
          <a:xfrm>
            <a:off x="640080" y="2834640"/>
            <a:ext cx="10908792" cy="548640"/>
          </a:xfrm>
          <a:prstGeom prst="rect">
            <a:avLst/>
          </a:prstGeom>
          <a:noFill/>
          <a:ln/>
        </p:spPr>
        <p:txBody>
          <a:bodyPr wrap="square" lIns="0" tIns="0" rIns="0" bIns="0" rtlCol="0" anchor="ctr"/>
          <a:lstStyle/>
          <a:p>
            <a:pPr marL="0" indent="0">
              <a:buNone/>
            </a:pPr>
            <a:r>
              <a:rPr lang="en-US" sz="1500" dirty="0">
                <a:solidFill>
                  <a:srgbClr val="3A3A38"/>
                </a:solidFill>
                <a:latin typeface="Calibri" pitchFamily="34" charset="0"/>
                <a:ea typeface="Calibri" pitchFamily="34" charset="-122"/>
                <a:cs typeface="Calibri" pitchFamily="34" charset="-120"/>
              </a:rPr>
              <a:t>Exige acertar en las dos clases al mismo tiempo, así que no admite la estrategia degenerada de predecir siempre la clase mayoritaria.</a:t>
            </a:r>
            <a:endParaRPr lang="en-US" sz="1500" dirty="0"/>
          </a:p>
        </p:txBody>
      </p:sp>
      <p:sp>
        <p:nvSpPr>
          <p:cNvPr id="7" name="Text 5"/>
          <p:cNvSpPr txBox="1"/>
          <p:nvPr/>
        </p:nvSpPr>
        <p:spPr>
          <a:xfrm>
            <a:off x="640080" y="3657600"/>
            <a:ext cx="3636264" cy="822960"/>
          </a:xfrm>
          <a:prstGeom prst="rect">
            <a:avLst/>
          </a:prstGeom>
          <a:noFill/>
          <a:ln/>
        </p:spPr>
        <p:txBody>
          <a:bodyPr wrap="square" lIns="0" tIns="0" rIns="0" bIns="0" rtlCol="0" anchor="ctr"/>
          <a:lstStyle/>
          <a:p>
            <a:pPr marL="0" indent="0" algn="ctr">
              <a:buNone/>
            </a:pPr>
            <a:r>
              <a:rPr lang="en-US" sz="3200" b="1" dirty="0">
                <a:solidFill>
                  <a:srgbClr val="B85042"/>
                </a:solidFill>
                <a:latin typeface="Cambria" pitchFamily="34" charset="0"/>
                <a:ea typeface="Cambria" pitchFamily="34" charset="-122"/>
                <a:cs typeface="Cambria" pitchFamily="34" charset="-120"/>
              </a:rPr>
              <a:t>0.37 → 0.64</a:t>
            </a:r>
            <a:endParaRPr lang="en-US" sz="3200" dirty="0"/>
          </a:p>
        </p:txBody>
      </p:sp>
      <p:sp>
        <p:nvSpPr>
          <p:cNvPr id="8" name="Text 6"/>
          <p:cNvSpPr txBox="1"/>
          <p:nvPr/>
        </p:nvSpPr>
        <p:spPr>
          <a:xfrm>
            <a:off x="640080" y="4498848"/>
            <a:ext cx="3636264"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umbral de decisión</a:t>
            </a:r>
            <a:endParaRPr lang="en-US" sz="1250" dirty="0"/>
          </a:p>
        </p:txBody>
      </p:sp>
      <p:sp>
        <p:nvSpPr>
          <p:cNvPr id="9" name="Text 7"/>
          <p:cNvSpPr txBox="1"/>
          <p:nvPr/>
        </p:nvSpPr>
        <p:spPr>
          <a:xfrm>
            <a:off x="4276344" y="3657600"/>
            <a:ext cx="3636264" cy="822960"/>
          </a:xfrm>
          <a:prstGeom prst="rect">
            <a:avLst/>
          </a:prstGeom>
          <a:noFill/>
          <a:ln/>
        </p:spPr>
        <p:txBody>
          <a:bodyPr wrap="square" lIns="0" tIns="0" rIns="0" bIns="0" rtlCol="0" anchor="ctr"/>
          <a:lstStyle/>
          <a:p>
            <a:pPr marL="0" indent="0" algn="ctr">
              <a:buNone/>
            </a:pPr>
            <a:r>
              <a:rPr lang="en-US" sz="2500" b="1" dirty="0">
                <a:solidFill>
                  <a:srgbClr val="5F7F6E"/>
                </a:solidFill>
                <a:latin typeface="Cambria" pitchFamily="34" charset="0"/>
                <a:ea typeface="Cambria" pitchFamily="34" charset="-122"/>
                <a:cs typeface="Cambria" pitchFamily="34" charset="-120"/>
              </a:rPr>
              <a:t>90.7 % → 57.5 %</a:t>
            </a:r>
            <a:endParaRPr lang="en-US" sz="2500" dirty="0"/>
          </a:p>
        </p:txBody>
      </p:sp>
      <p:sp>
        <p:nvSpPr>
          <p:cNvPr id="10" name="Text 8"/>
          <p:cNvSpPr txBox="1"/>
          <p:nvPr/>
        </p:nvSpPr>
        <p:spPr>
          <a:xfrm>
            <a:off x="4276344" y="4498848"/>
            <a:ext cx="3636264"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casos señalados</a:t>
            </a:r>
            <a:endParaRPr lang="en-US" sz="1250" dirty="0"/>
          </a:p>
        </p:txBody>
      </p:sp>
      <p:sp>
        <p:nvSpPr>
          <p:cNvPr id="11" name="Text 9"/>
          <p:cNvSpPr txBox="1"/>
          <p:nvPr/>
        </p:nvSpPr>
        <p:spPr>
          <a:xfrm>
            <a:off x="7912608" y="3657600"/>
            <a:ext cx="3636264" cy="822960"/>
          </a:xfrm>
          <a:prstGeom prst="rect">
            <a:avLst/>
          </a:prstGeom>
          <a:noFill/>
          <a:ln/>
        </p:spPr>
        <p:txBody>
          <a:bodyPr wrap="square" lIns="0" tIns="0" rIns="0" bIns="0" rtlCol="0" anchor="ctr"/>
          <a:lstStyle/>
          <a:p>
            <a:pPr marL="0" indent="0" algn="ctr">
              <a:buNone/>
            </a:pPr>
            <a:r>
              <a:rPr lang="en-US" sz="2500" b="1" dirty="0">
                <a:solidFill>
                  <a:srgbClr val="5F7F6E"/>
                </a:solidFill>
                <a:latin typeface="Cambria" pitchFamily="34" charset="0"/>
                <a:ea typeface="Cambria" pitchFamily="34" charset="-122"/>
                <a:cs typeface="Cambria" pitchFamily="34" charset="-120"/>
              </a:rPr>
              <a:t>0.5795 → 0.6783</a:t>
            </a:r>
            <a:endParaRPr lang="en-US" sz="2500" dirty="0"/>
          </a:p>
        </p:txBody>
      </p:sp>
      <p:sp>
        <p:nvSpPr>
          <p:cNvPr id="12" name="Text 10"/>
          <p:cNvSpPr txBox="1"/>
          <p:nvPr/>
        </p:nvSpPr>
        <p:spPr>
          <a:xfrm>
            <a:off x="7912608" y="4498848"/>
            <a:ext cx="3636264"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exactitud balanceada</a:t>
            </a:r>
            <a:endParaRPr lang="en-US" sz="1250" dirty="0"/>
          </a:p>
        </p:txBody>
      </p:sp>
      <p:sp>
        <p:nvSpPr>
          <p:cNvPr id="13" name="Text 11"/>
          <p:cNvSpPr txBox="1"/>
          <p:nvPr/>
        </p:nvSpPr>
        <p:spPr>
          <a:xfrm>
            <a:off x="640080" y="6080760"/>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Mismo modelo, mismo entrenamiento: lo único que cambió fue el criterio con que se elige el punto de corte.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9E54071-EED3-0832-AAE3-FE8578C8D02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A4B41CA-E35B-6F5B-B39B-CF5C28E91CA5}"/>
              </a:ext>
            </a:extLst>
          </p:cNvPr>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El estadístico J de Youden</a:t>
            </a:r>
            <a:endParaRPr lang="en-US" sz="3000" dirty="0"/>
          </a:p>
        </p:txBody>
      </p:sp>
      <p:sp>
        <p:nvSpPr>
          <p:cNvPr id="3" name="Text 1">
            <a:extLst>
              <a:ext uri="{FF2B5EF4-FFF2-40B4-BE49-F238E27FC236}">
                <a16:creationId xmlns:a16="http://schemas.microsoft.com/office/drawing/2014/main" id="{22164053-A963-634F-DE23-277AC9DD9B7D}"/>
              </a:ext>
            </a:extLst>
          </p:cNvPr>
          <p:cNvSpPr txBox="1"/>
          <p:nvPr/>
        </p:nvSpPr>
        <p:spPr>
          <a:xfrm>
            <a:off x="640080" y="1078992"/>
            <a:ext cx="10908792" cy="384048"/>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Sensibilidad + especificidad − 1</a:t>
            </a:r>
            <a:endParaRPr lang="en-US" sz="1400" dirty="0"/>
          </a:p>
        </p:txBody>
      </p:sp>
      <p:sp>
        <p:nvSpPr>
          <p:cNvPr id="4" name="Shape 2">
            <a:extLst>
              <a:ext uri="{FF2B5EF4-FFF2-40B4-BE49-F238E27FC236}">
                <a16:creationId xmlns:a16="http://schemas.microsoft.com/office/drawing/2014/main" id="{1D236D13-EDC2-8654-2B94-04E02916F2D0}"/>
              </a:ext>
            </a:extLst>
          </p:cNvPr>
          <p:cNvSpPr/>
          <p:nvPr/>
        </p:nvSpPr>
        <p:spPr>
          <a:xfrm>
            <a:off x="640080" y="1737360"/>
            <a:ext cx="10908792" cy="914400"/>
          </a:xfrm>
          <a:prstGeom prst="roundRect">
            <a:avLst>
              <a:gd name="adj" fmla="val 8000"/>
            </a:avLst>
          </a:prstGeom>
          <a:solidFill>
            <a:srgbClr val="E7E8D1"/>
          </a:solidFill>
          <a:ln w="12700">
            <a:solidFill>
              <a:srgbClr val="E7E8D1"/>
            </a:solidFill>
            <a:prstDash val="solid"/>
          </a:ln>
        </p:spPr>
      </p:sp>
      <p:sp>
        <p:nvSpPr>
          <p:cNvPr id="5" name="Text 3">
            <a:extLst>
              <a:ext uri="{FF2B5EF4-FFF2-40B4-BE49-F238E27FC236}">
                <a16:creationId xmlns:a16="http://schemas.microsoft.com/office/drawing/2014/main" id="{BAB2F78D-EF80-2C46-78D9-890E881996F3}"/>
              </a:ext>
            </a:extLst>
          </p:cNvPr>
          <p:cNvSpPr txBox="1"/>
          <p:nvPr/>
        </p:nvSpPr>
        <p:spPr>
          <a:xfrm>
            <a:off x="2039814" y="1737360"/>
            <a:ext cx="9509057" cy="914400"/>
          </a:xfrm>
          <a:prstGeom prst="rect">
            <a:avLst/>
          </a:prstGeom>
          <a:noFill/>
          <a:ln/>
        </p:spPr>
        <p:txBody>
          <a:bodyPr wrap="square" lIns="0" tIns="0" rIns="0" bIns="0" rtlCol="0" anchor="ctr"/>
          <a:lstStyle/>
          <a:p>
            <a:pPr marL="0" indent="0" algn="ctr">
              <a:buNone/>
            </a:pPr>
            <a:r>
              <a:rPr lang="en-US" sz="2400" b="1" dirty="0">
                <a:solidFill>
                  <a:srgbClr val="33302B"/>
                </a:solidFill>
                <a:latin typeface="Cambria" pitchFamily="34" charset="0"/>
                <a:ea typeface="Cambria" pitchFamily="34" charset="-122"/>
                <a:cs typeface="Cambria" pitchFamily="34" charset="-120"/>
              </a:rPr>
              <a:t>J = sensibilidad + especificidad − 1   (Youden, 1950)</a:t>
            </a:r>
            <a:endParaRPr lang="en-US" sz="2400" dirty="0"/>
          </a:p>
        </p:txBody>
      </p:sp>
      <p:sp>
        <p:nvSpPr>
          <p:cNvPr id="6" name="Text 4">
            <a:extLst>
              <a:ext uri="{FF2B5EF4-FFF2-40B4-BE49-F238E27FC236}">
                <a16:creationId xmlns:a16="http://schemas.microsoft.com/office/drawing/2014/main" id="{B9726A51-017B-9E42-1BCB-6257FAD05BA2}"/>
              </a:ext>
            </a:extLst>
          </p:cNvPr>
          <p:cNvSpPr txBox="1"/>
          <p:nvPr/>
        </p:nvSpPr>
        <p:spPr>
          <a:xfrm>
            <a:off x="640080" y="2834640"/>
            <a:ext cx="10908792" cy="548640"/>
          </a:xfrm>
          <a:prstGeom prst="rect">
            <a:avLst/>
          </a:prstGeom>
          <a:noFill/>
          <a:ln/>
        </p:spPr>
        <p:txBody>
          <a:bodyPr wrap="square" lIns="0" tIns="0" rIns="0" bIns="0" rtlCol="0" anchor="ctr"/>
          <a:lstStyle/>
          <a:p>
            <a:pPr marL="0" indent="0">
              <a:buNone/>
            </a:pPr>
            <a:r>
              <a:rPr lang="en-US" sz="1500" dirty="0">
                <a:solidFill>
                  <a:srgbClr val="3A3A38"/>
                </a:solidFill>
                <a:latin typeface="Calibri" pitchFamily="34" charset="0"/>
                <a:ea typeface="Calibri" pitchFamily="34" charset="-122"/>
                <a:cs typeface="Calibri" pitchFamily="34" charset="-120"/>
              </a:rPr>
              <a:t>Exige acertar en las dos clases al mismo tiempo, así que no admite la estrategia degenerada de predecir siempre la clase mayoritaria.</a:t>
            </a:r>
            <a:endParaRPr lang="en-US" sz="1500" dirty="0"/>
          </a:p>
        </p:txBody>
      </p:sp>
      <p:sp>
        <p:nvSpPr>
          <p:cNvPr id="7" name="Text 5">
            <a:extLst>
              <a:ext uri="{FF2B5EF4-FFF2-40B4-BE49-F238E27FC236}">
                <a16:creationId xmlns:a16="http://schemas.microsoft.com/office/drawing/2014/main" id="{A5402F20-6C94-3A38-8BDF-B29068EC3A96}"/>
              </a:ext>
            </a:extLst>
          </p:cNvPr>
          <p:cNvSpPr txBox="1"/>
          <p:nvPr/>
        </p:nvSpPr>
        <p:spPr>
          <a:xfrm>
            <a:off x="640080" y="3657600"/>
            <a:ext cx="3636264" cy="822960"/>
          </a:xfrm>
          <a:prstGeom prst="rect">
            <a:avLst/>
          </a:prstGeom>
          <a:noFill/>
          <a:ln/>
        </p:spPr>
        <p:txBody>
          <a:bodyPr wrap="square" lIns="0" tIns="0" rIns="0" bIns="0" rtlCol="0" anchor="ctr"/>
          <a:lstStyle/>
          <a:p>
            <a:pPr marL="0" indent="0" algn="ctr">
              <a:buNone/>
            </a:pPr>
            <a:r>
              <a:rPr lang="en-US" sz="3200" b="1" dirty="0">
                <a:solidFill>
                  <a:srgbClr val="B85042"/>
                </a:solidFill>
                <a:latin typeface="Cambria" pitchFamily="34" charset="0"/>
                <a:ea typeface="Cambria" pitchFamily="34" charset="-122"/>
                <a:cs typeface="Cambria" pitchFamily="34" charset="-120"/>
              </a:rPr>
              <a:t>0.37 → 0.64</a:t>
            </a:r>
            <a:endParaRPr lang="en-US" sz="3200" dirty="0"/>
          </a:p>
        </p:txBody>
      </p:sp>
      <p:sp>
        <p:nvSpPr>
          <p:cNvPr id="8" name="Text 6">
            <a:extLst>
              <a:ext uri="{FF2B5EF4-FFF2-40B4-BE49-F238E27FC236}">
                <a16:creationId xmlns:a16="http://schemas.microsoft.com/office/drawing/2014/main" id="{D9F06089-87ED-9260-D388-114D1DCC2C64}"/>
              </a:ext>
            </a:extLst>
          </p:cNvPr>
          <p:cNvSpPr txBox="1"/>
          <p:nvPr/>
        </p:nvSpPr>
        <p:spPr>
          <a:xfrm>
            <a:off x="640080" y="4498848"/>
            <a:ext cx="3636264"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umbral de decisión</a:t>
            </a:r>
            <a:endParaRPr lang="en-US" sz="1250" dirty="0"/>
          </a:p>
        </p:txBody>
      </p:sp>
      <p:sp>
        <p:nvSpPr>
          <p:cNvPr id="9" name="Text 7">
            <a:extLst>
              <a:ext uri="{FF2B5EF4-FFF2-40B4-BE49-F238E27FC236}">
                <a16:creationId xmlns:a16="http://schemas.microsoft.com/office/drawing/2014/main" id="{A33BB149-8E46-EFBE-93A6-18B363454316}"/>
              </a:ext>
            </a:extLst>
          </p:cNvPr>
          <p:cNvSpPr txBox="1"/>
          <p:nvPr/>
        </p:nvSpPr>
        <p:spPr>
          <a:xfrm>
            <a:off x="4276344" y="3657600"/>
            <a:ext cx="3636264" cy="822960"/>
          </a:xfrm>
          <a:prstGeom prst="rect">
            <a:avLst/>
          </a:prstGeom>
          <a:noFill/>
          <a:ln/>
        </p:spPr>
        <p:txBody>
          <a:bodyPr wrap="square" lIns="0" tIns="0" rIns="0" bIns="0" rtlCol="0" anchor="ctr"/>
          <a:lstStyle/>
          <a:p>
            <a:pPr marL="0" indent="0" algn="ctr">
              <a:buNone/>
            </a:pPr>
            <a:r>
              <a:rPr lang="en-US" sz="2500" b="1" dirty="0">
                <a:solidFill>
                  <a:srgbClr val="5F7F6E"/>
                </a:solidFill>
                <a:latin typeface="Cambria" pitchFamily="34" charset="0"/>
                <a:ea typeface="Cambria" pitchFamily="34" charset="-122"/>
                <a:cs typeface="Cambria" pitchFamily="34" charset="-120"/>
              </a:rPr>
              <a:t>90.7 % → 57.5 %</a:t>
            </a:r>
            <a:endParaRPr lang="en-US" sz="2500" dirty="0"/>
          </a:p>
        </p:txBody>
      </p:sp>
      <p:sp>
        <p:nvSpPr>
          <p:cNvPr id="10" name="Text 8">
            <a:extLst>
              <a:ext uri="{FF2B5EF4-FFF2-40B4-BE49-F238E27FC236}">
                <a16:creationId xmlns:a16="http://schemas.microsoft.com/office/drawing/2014/main" id="{7D34357B-233F-6996-C399-DC38613B3E32}"/>
              </a:ext>
            </a:extLst>
          </p:cNvPr>
          <p:cNvSpPr txBox="1"/>
          <p:nvPr/>
        </p:nvSpPr>
        <p:spPr>
          <a:xfrm>
            <a:off x="4276344" y="4498848"/>
            <a:ext cx="3636264"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casos señalados</a:t>
            </a:r>
            <a:endParaRPr lang="en-US" sz="1250" dirty="0"/>
          </a:p>
        </p:txBody>
      </p:sp>
      <p:sp>
        <p:nvSpPr>
          <p:cNvPr id="11" name="Text 9">
            <a:extLst>
              <a:ext uri="{FF2B5EF4-FFF2-40B4-BE49-F238E27FC236}">
                <a16:creationId xmlns:a16="http://schemas.microsoft.com/office/drawing/2014/main" id="{FE5B799C-BC84-E5EE-D9F2-702FF8E69183}"/>
              </a:ext>
            </a:extLst>
          </p:cNvPr>
          <p:cNvSpPr txBox="1"/>
          <p:nvPr/>
        </p:nvSpPr>
        <p:spPr>
          <a:xfrm>
            <a:off x="7912608" y="3657600"/>
            <a:ext cx="3636264" cy="822960"/>
          </a:xfrm>
          <a:prstGeom prst="rect">
            <a:avLst/>
          </a:prstGeom>
          <a:noFill/>
          <a:ln/>
        </p:spPr>
        <p:txBody>
          <a:bodyPr wrap="square" lIns="0" tIns="0" rIns="0" bIns="0" rtlCol="0" anchor="ctr"/>
          <a:lstStyle/>
          <a:p>
            <a:pPr marL="0" indent="0" algn="ctr">
              <a:buNone/>
            </a:pPr>
            <a:r>
              <a:rPr lang="en-US" sz="2500" b="1" dirty="0">
                <a:solidFill>
                  <a:srgbClr val="5F7F6E"/>
                </a:solidFill>
                <a:latin typeface="Cambria" pitchFamily="34" charset="0"/>
                <a:ea typeface="Cambria" pitchFamily="34" charset="-122"/>
                <a:cs typeface="Cambria" pitchFamily="34" charset="-120"/>
              </a:rPr>
              <a:t>0.5795 → 0.6783</a:t>
            </a:r>
            <a:endParaRPr lang="en-US" sz="2500" dirty="0"/>
          </a:p>
        </p:txBody>
      </p:sp>
      <p:sp>
        <p:nvSpPr>
          <p:cNvPr id="13" name="Text 11">
            <a:extLst>
              <a:ext uri="{FF2B5EF4-FFF2-40B4-BE49-F238E27FC236}">
                <a16:creationId xmlns:a16="http://schemas.microsoft.com/office/drawing/2014/main" id="{62B59441-B38A-0BDB-D994-54C1C441CEE7}"/>
              </a:ext>
            </a:extLst>
          </p:cNvPr>
          <p:cNvSpPr txBox="1"/>
          <p:nvPr/>
        </p:nvSpPr>
        <p:spPr>
          <a:xfrm>
            <a:off x="640080" y="6080760"/>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Mismo modelo, mismo entrenamiento: lo único que cambió fue el criterio con que se elige el punto de corte.</a:t>
            </a:r>
            <a:endParaRPr lang="en-US" sz="1050" dirty="0"/>
          </a:p>
        </p:txBody>
      </p:sp>
      <p:sp>
        <p:nvSpPr>
          <p:cNvPr id="14" name="Text 3">
            <a:extLst>
              <a:ext uri="{FF2B5EF4-FFF2-40B4-BE49-F238E27FC236}">
                <a16:creationId xmlns:a16="http://schemas.microsoft.com/office/drawing/2014/main" id="{D273209D-BD7E-6C7C-AFA8-A8B14D1B4221}"/>
              </a:ext>
            </a:extLst>
          </p:cNvPr>
          <p:cNvSpPr txBox="1"/>
          <p:nvPr/>
        </p:nvSpPr>
        <p:spPr>
          <a:xfrm>
            <a:off x="792480" y="1889760"/>
            <a:ext cx="10908792" cy="914400"/>
          </a:xfrm>
          <a:prstGeom prst="rect">
            <a:avLst/>
          </a:prstGeom>
          <a:noFill/>
          <a:ln/>
        </p:spPr>
        <p:txBody>
          <a:bodyPr wrap="square" lIns="0" tIns="0" rIns="0" bIns="0" rtlCol="0" anchor="ctr"/>
          <a:lstStyle/>
          <a:p>
            <a:pPr marL="0" indent="0" algn="ctr">
              <a:buNone/>
            </a:pPr>
            <a:r>
              <a:rPr lang="en-US" sz="2400" b="1" dirty="0">
                <a:solidFill>
                  <a:srgbClr val="33302B"/>
                </a:solidFill>
                <a:latin typeface="Cambria" pitchFamily="34" charset="0"/>
                <a:ea typeface="Cambria" pitchFamily="34" charset="-122"/>
                <a:cs typeface="Cambria" pitchFamily="34" charset="-120"/>
              </a:rPr>
              <a:t>J = sensibilidad + especificidad − 1   (Youden, 1950)</a:t>
            </a:r>
            <a:endParaRPr lang="en-US" sz="2400" dirty="0"/>
          </a:p>
        </p:txBody>
      </p:sp>
      <p:sp>
        <p:nvSpPr>
          <p:cNvPr id="15" name="Text 3">
            <a:extLst>
              <a:ext uri="{FF2B5EF4-FFF2-40B4-BE49-F238E27FC236}">
                <a16:creationId xmlns:a16="http://schemas.microsoft.com/office/drawing/2014/main" id="{18C6D0ED-0AE9-1AD2-F584-17B55DF21B50}"/>
              </a:ext>
            </a:extLst>
          </p:cNvPr>
          <p:cNvSpPr txBox="1"/>
          <p:nvPr/>
        </p:nvSpPr>
        <p:spPr>
          <a:xfrm>
            <a:off x="944880" y="2042160"/>
            <a:ext cx="10908792" cy="914400"/>
          </a:xfrm>
          <a:prstGeom prst="rect">
            <a:avLst/>
          </a:prstGeom>
          <a:noFill/>
          <a:ln/>
        </p:spPr>
        <p:txBody>
          <a:bodyPr wrap="square" lIns="0" tIns="0" rIns="0" bIns="0" rtlCol="0" anchor="ctr"/>
          <a:lstStyle/>
          <a:p>
            <a:pPr marL="0" indent="0" algn="ctr">
              <a:buNone/>
            </a:pPr>
            <a:r>
              <a:rPr lang="en-US" sz="2400" b="1" dirty="0">
                <a:solidFill>
                  <a:srgbClr val="33302B"/>
                </a:solidFill>
                <a:latin typeface="Cambria" pitchFamily="34" charset="0"/>
                <a:ea typeface="Cambria" pitchFamily="34" charset="-122"/>
                <a:cs typeface="Cambria" pitchFamily="34" charset="-120"/>
              </a:rPr>
              <a:t>J = sensibilidad + especificidad − 1   (Youden, 1950)</a:t>
            </a:r>
            <a:endParaRPr lang="en-US" sz="2400" dirty="0"/>
          </a:p>
        </p:txBody>
      </p:sp>
    </p:spTree>
    <p:extLst>
      <p:ext uri="{BB962C8B-B14F-4D97-AF65-F5344CB8AC3E}">
        <p14:creationId xmlns:p14="http://schemas.microsoft.com/office/powerpoint/2010/main" val="2989540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Estudio de aporte por grupo de variables</a:t>
            </a:r>
            <a:endParaRPr lang="en-US" sz="3000" dirty="0"/>
          </a:p>
        </p:txBody>
      </p:sp>
      <p:sp>
        <p:nvSpPr>
          <p:cNvPr id="3" name="Text 1"/>
          <p:cNvSpPr txBox="1"/>
          <p:nvPr/>
        </p:nvSpPr>
        <p:spPr>
          <a:xfrm>
            <a:off x="640080" y="1078992"/>
            <a:ext cx="10908792" cy="384048"/>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Dos mediciones complementarias sobre cada uno de los seis grupos</a:t>
            </a:r>
            <a:endParaRPr lang="en-US" sz="1400" dirty="0"/>
          </a:p>
        </p:txBody>
      </p:sp>
      <p:sp>
        <p:nvSpPr>
          <p:cNvPr id="4" name="Shape 2"/>
          <p:cNvSpPr/>
          <p:nvPr/>
        </p:nvSpPr>
        <p:spPr>
          <a:xfrm>
            <a:off x="640080" y="1828800"/>
            <a:ext cx="5317236" cy="1920240"/>
          </a:xfrm>
          <a:prstGeom prst="roundRect">
            <a:avLst>
              <a:gd name="adj" fmla="val 3810"/>
            </a:avLst>
          </a:prstGeom>
          <a:solidFill>
            <a:srgbClr val="E7E8D1"/>
          </a:solidFill>
          <a:ln w="12700">
            <a:solidFill>
              <a:srgbClr val="E7E8D1"/>
            </a:solidFill>
            <a:prstDash val="solid"/>
          </a:ln>
        </p:spPr>
      </p:sp>
      <p:sp>
        <p:nvSpPr>
          <p:cNvPr id="5" name="Text 3"/>
          <p:cNvSpPr txBox="1"/>
          <p:nvPr/>
        </p:nvSpPr>
        <p:spPr>
          <a:xfrm>
            <a:off x="868680" y="1993392"/>
            <a:ext cx="4860036" cy="310896"/>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Solo el grupo</a:t>
            </a:r>
            <a:endParaRPr lang="en-US" sz="1400" dirty="0"/>
          </a:p>
        </p:txBody>
      </p:sp>
      <p:sp>
        <p:nvSpPr>
          <p:cNvPr id="6" name="Text 4"/>
          <p:cNvSpPr txBox="1"/>
          <p:nvPr/>
        </p:nvSpPr>
        <p:spPr>
          <a:xfrm>
            <a:off x="868680" y="2340864"/>
            <a:ext cx="4860036" cy="1243584"/>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Se entrena un modelo unicamente con las variables de ese grupo. Dice cuanto predice el grupo por si solo.</a:t>
            </a:r>
            <a:endParaRPr lang="en-US" sz="1250" dirty="0"/>
          </a:p>
        </p:txBody>
      </p:sp>
      <p:sp>
        <p:nvSpPr>
          <p:cNvPr id="7" name="Shape 5"/>
          <p:cNvSpPr/>
          <p:nvPr/>
        </p:nvSpPr>
        <p:spPr>
          <a:xfrm>
            <a:off x="6231636" y="1828800"/>
            <a:ext cx="5317236" cy="1920240"/>
          </a:xfrm>
          <a:prstGeom prst="roundRect">
            <a:avLst>
              <a:gd name="adj" fmla="val 3810"/>
            </a:avLst>
          </a:prstGeom>
          <a:solidFill>
            <a:srgbClr val="E7E8D1"/>
          </a:solidFill>
          <a:ln w="12700">
            <a:solidFill>
              <a:srgbClr val="E7E8D1"/>
            </a:solidFill>
            <a:prstDash val="solid"/>
          </a:ln>
        </p:spPr>
      </p:sp>
      <p:sp>
        <p:nvSpPr>
          <p:cNvPr id="8" name="Text 6"/>
          <p:cNvSpPr txBox="1"/>
          <p:nvPr/>
        </p:nvSpPr>
        <p:spPr>
          <a:xfrm>
            <a:off x="6460236" y="1993392"/>
            <a:ext cx="4860036" cy="310896"/>
          </a:xfrm>
          <a:prstGeom prst="rect">
            <a:avLst/>
          </a:prstGeom>
          <a:noFill/>
          <a:ln/>
        </p:spPr>
        <p:txBody>
          <a:bodyPr wrap="square" lIns="0" tIns="0" rIns="0" bIns="0" rtlCol="0" anchor="ctr"/>
          <a:lstStyle/>
          <a:p>
            <a:pPr marL="0" indent="0">
              <a:buNone/>
            </a:pPr>
            <a:r>
              <a:rPr lang="en-US" sz="1400" b="1" dirty="0">
                <a:solidFill>
                  <a:srgbClr val="5F7F6E"/>
                </a:solidFill>
                <a:latin typeface="Calibri" pitchFamily="34" charset="0"/>
                <a:ea typeface="Calibri" pitchFamily="34" charset="-122"/>
                <a:cs typeface="Calibri" pitchFamily="34" charset="-120"/>
              </a:rPr>
              <a:t>Todo menos el grupo</a:t>
            </a:r>
            <a:endParaRPr lang="en-US" sz="1400" dirty="0"/>
          </a:p>
        </p:txBody>
      </p:sp>
      <p:sp>
        <p:nvSpPr>
          <p:cNvPr id="9" name="Text 7"/>
          <p:cNvSpPr txBox="1"/>
          <p:nvPr/>
        </p:nvSpPr>
        <p:spPr>
          <a:xfrm>
            <a:off x="6460236" y="2340864"/>
            <a:ext cx="4860036" cy="1243584"/>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Se entrena con todas las variables excepto las de ese grupo. La caida respecto del modelo completo dice cuanta informacion aportaba que no estuviera ya en los demas.</a:t>
            </a:r>
            <a:endParaRPr lang="en-US" sz="1250" dirty="0"/>
          </a:p>
        </p:txBody>
      </p:sp>
      <p:sp>
        <p:nvSpPr>
          <p:cNvPr id="10" name="Text 8"/>
          <p:cNvSpPr txBox="1"/>
          <p:nvPr/>
        </p:nvSpPr>
        <p:spPr>
          <a:xfrm>
            <a:off x="640080" y="4023360"/>
            <a:ext cx="10908792" cy="1920240"/>
          </a:xfrm>
          <a:prstGeom prst="rect">
            <a:avLst/>
          </a:prstGeom>
          <a:noFill/>
          <a:ln/>
        </p:spPr>
        <p:txBody>
          <a:bodyPr wrap="square" lIns="0" tIns="0" rIns="0" bIns="0" rtlCol="0" anchor="ctr"/>
          <a:lstStyle/>
          <a:p>
            <a:pPr marL="342900" indent="-342900">
              <a:lnSpc>
                <a:spcPts val="2200"/>
              </a:lnSpc>
              <a:spcAft>
                <a:spcPts val="1000"/>
              </a:spcAft>
              <a:buSzPct val="100000"/>
              <a:buChar char="•"/>
            </a:pPr>
            <a:r>
              <a:rPr lang="en-US" sz="1500" dirty="0">
                <a:solidFill>
                  <a:srgbClr val="3A3A38"/>
                </a:solidFill>
                <a:latin typeface="Calibri" pitchFamily="34" charset="0"/>
                <a:ea typeface="Calibri" pitchFamily="34" charset="-122"/>
                <a:cs typeface="Calibri" pitchFamily="34" charset="-120"/>
              </a:rPr>
              <a:t>Las dos mediciones son necesarias porque responden preguntas distintas.</a:t>
            </a:r>
            <a:endParaRPr lang="en-US" sz="1500" dirty="0"/>
          </a:p>
          <a:p>
            <a:pPr marL="342900" indent="-342900">
              <a:lnSpc>
                <a:spcPts val="2200"/>
              </a:lnSpc>
              <a:spcAft>
                <a:spcPts val="1000"/>
              </a:spcAft>
              <a:buSzPct val="100000"/>
              <a:buChar char="•"/>
            </a:pPr>
            <a:r>
              <a:rPr lang="en-US" sz="1500" dirty="0">
                <a:solidFill>
                  <a:srgbClr val="3A3A38"/>
                </a:solidFill>
                <a:latin typeface="Calibri" pitchFamily="34" charset="0"/>
                <a:ea typeface="Calibri" pitchFamily="34" charset="-122"/>
                <a:cs typeface="Calibri" pitchFamily="34" charset="-120"/>
              </a:rPr>
              <a:t>Un grupo puede predecir aceptablemente por sí solo y aun así resultar prescindible, si su información ya está duplicada en otros grupos.</a:t>
            </a:r>
            <a:endParaRPr lang="en-US" sz="1500" dirty="0"/>
          </a:p>
          <a:p>
            <a:pPr marL="342900" indent="-342900">
              <a:lnSpc>
                <a:spcPts val="2200"/>
              </a:lnSpc>
              <a:spcAft>
                <a:spcPts val="1000"/>
              </a:spcAft>
              <a:buSzPct val="100000"/>
              <a:buChar char="•"/>
            </a:pPr>
            <a:r>
              <a:rPr lang="en-US" sz="1500" dirty="0">
                <a:solidFill>
                  <a:srgbClr val="3A3A38"/>
                </a:solidFill>
                <a:latin typeface="Calibri" pitchFamily="34" charset="0"/>
                <a:ea typeface="Calibri" pitchFamily="34" charset="-122"/>
                <a:cs typeface="Calibri" pitchFamily="34" charset="-120"/>
              </a:rPr>
              <a:t>Este estudio es la respuesta directa a la pregunta de investigación.</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Figura 2 · Tasa de fracaso por sector de actividad</a:t>
            </a:r>
            <a:endParaRPr lang="en-US" sz="3000" dirty="0"/>
          </a:p>
        </p:txBody>
      </p:sp>
      <p:pic>
        <p:nvPicPr>
          <p:cNvPr id="3" name="Image 0" descr="docs/figuras/02_fracaso_por_industria.png"/>
          <p:cNvPicPr>
            <a:picLocks noChangeAspect="1"/>
          </p:cNvPicPr>
          <p:nvPr/>
        </p:nvPicPr>
        <p:blipFill>
          <a:blip r:embed="rId3"/>
          <a:stretch>
            <a:fillRect/>
          </a:stretch>
        </p:blipFill>
        <p:spPr>
          <a:xfrm>
            <a:off x="2253996" y="1554480"/>
            <a:ext cx="7680960" cy="4337075"/>
          </a:xfrm>
          <a:prstGeom prst="rect">
            <a:avLst/>
          </a:prstGeom>
        </p:spPr>
      </p:pic>
      <p:sp>
        <p:nvSpPr>
          <p:cNvPr id="4" name="Text 1"/>
          <p:cNvSpPr txBox="1"/>
          <p:nvPr/>
        </p:nvSpPr>
        <p:spPr>
          <a:xfrm>
            <a:off x="640080" y="6080760"/>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La línea discontinua señala la tasa global de 65.8 %. El rango entre sectores es de solo 10.4 puntos porcentuales.</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Tabla 4 · Tasa de fracaso por sector de actividad</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196596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947672">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gridCol w="1508760">
                  <a:extLst>
                    <a:ext uri="{9D8B030D-6E8A-4147-A177-3AD203B41FA5}">
                      <a16:colId xmlns:a16="http://schemas.microsoft.com/office/drawing/2014/main" val="20004"/>
                    </a:ext>
                  </a:extLst>
                </a:gridCol>
                <a:gridCol w="2011680">
                  <a:extLst>
                    <a:ext uri="{9D8B030D-6E8A-4147-A177-3AD203B41FA5}">
                      <a16:colId xmlns:a16="http://schemas.microsoft.com/office/drawing/2014/main" val="20005"/>
                    </a:ext>
                  </a:extLst>
                </a:gridCol>
              </a:tblGrid>
              <a:tr h="41148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Sector</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Fracaso (%)</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Sector</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Fracaso (%)</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extLst>
                  <a:ext uri="{0D108BD9-81ED-4DB2-BD59-A6C34878D82A}">
                    <a16:rowId xmlns:a16="http://schemas.microsoft.com/office/drawing/2014/main" val="10000"/>
                  </a:ext>
                </a:extLst>
              </a:tr>
              <a:tr h="41148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agriculture</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2 341</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59.6</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biotech</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2 403</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66.2</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services</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5 564</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60.4</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tech_saas</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7 709</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66.7</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2"/>
                  </a:ext>
                </a:extLst>
              </a:tr>
              <a:tr h="41148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healthtech</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3 817</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63.6</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marketplace</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4 249</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67.2</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fintech</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4 315</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64.4</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hardware</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2 951</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67.9</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4"/>
                  </a:ext>
                </a:extLst>
              </a:tr>
              <a:tr h="41148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food_bev</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3 922</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65.7</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consumer_app</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4 830</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69.0</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r h="411480">
                <a:tc>
                  <a:txBody>
                    <a:bodyPr/>
                    <a:lstStyle/>
                    <a:p>
                      <a:pPr marL="0" indent="0" algn="l">
                        <a:buNone/>
                      </a:pP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ecommerce</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5 899</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69.9</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640080" y="6080760"/>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N = 48 000. La tasa global de fracaso asciende a 65.8 %. La diferencia entre el sector de menor y mayor riesgo es de 10.4 puntos.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Figura 3 · Tasa de fracaso según cuartil</a:t>
            </a:r>
            <a:endParaRPr lang="en-US" sz="3000" dirty="0"/>
          </a:p>
        </p:txBody>
      </p:sp>
      <p:sp>
        <p:nvSpPr>
          <p:cNvPr id="3" name="Text 1"/>
          <p:cNvSpPr txBox="1"/>
          <p:nvPr/>
        </p:nvSpPr>
        <p:spPr>
          <a:xfrm>
            <a:off x="640080" y="1078992"/>
            <a:ext cx="10908792" cy="384048"/>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Cuatro variables relevantes</a:t>
            </a:r>
            <a:endParaRPr lang="en-US" sz="1400" dirty="0"/>
          </a:p>
        </p:txBody>
      </p:sp>
      <p:pic>
        <p:nvPicPr>
          <p:cNvPr id="4" name="Image 0" descr="docs/figuras/03_variables_importantes.png"/>
          <p:cNvPicPr>
            <a:picLocks noChangeAspect="1"/>
          </p:cNvPicPr>
          <p:nvPr/>
        </p:nvPicPr>
        <p:blipFill>
          <a:blip r:embed="rId3"/>
          <a:stretch>
            <a:fillRect/>
          </a:stretch>
        </p:blipFill>
        <p:spPr>
          <a:xfrm>
            <a:off x="2619756" y="1508760"/>
            <a:ext cx="6949440" cy="4163835"/>
          </a:xfrm>
          <a:prstGeom prst="rect">
            <a:avLst/>
          </a:prstGeom>
        </p:spPr>
      </p:pic>
      <p:sp>
        <p:nvSpPr>
          <p:cNvPr id="5" name="Text 2"/>
          <p:cNvSpPr txBox="1"/>
          <p:nvPr/>
        </p:nvSpPr>
        <p:spPr>
          <a:xfrm>
            <a:off x="640080" y="6080760"/>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Cada variable se dividió en cuatro grupos de igual tamaño. Las tres primeras muestran una relación descendente y la última ascendente, tal como se espera desde el dominio.</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Figura 4 · Variables sin efecto sobre el fracaso</a:t>
            </a:r>
            <a:endParaRPr lang="en-US" sz="3000" dirty="0"/>
          </a:p>
        </p:txBody>
      </p:sp>
      <p:pic>
        <p:nvPicPr>
          <p:cNvPr id="3" name="Image 0" descr="docs/figuras/04_variables_sin_efecto.png"/>
          <p:cNvPicPr>
            <a:picLocks noChangeAspect="1"/>
          </p:cNvPicPr>
          <p:nvPr/>
        </p:nvPicPr>
        <p:blipFill>
          <a:blip r:embed="rId3"/>
          <a:stretch>
            <a:fillRect/>
          </a:stretch>
        </p:blipFill>
        <p:spPr>
          <a:xfrm>
            <a:off x="1065276" y="2103120"/>
            <a:ext cx="10058400" cy="3233173"/>
          </a:xfrm>
          <a:prstGeom prst="rect">
            <a:avLst/>
          </a:prstGeom>
        </p:spPr>
      </p:pic>
      <p:sp>
        <p:nvSpPr>
          <p:cNvPr id="4" name="Text 1"/>
          <p:cNvSpPr txBox="1"/>
          <p:nvPr/>
        </p:nvSpPr>
        <p:spPr>
          <a:xfrm>
            <a:off x="640080" y="4480560"/>
            <a:ext cx="10908792" cy="640080"/>
          </a:xfrm>
          <a:prstGeom prst="rect">
            <a:avLst/>
          </a:prstGeom>
          <a:noFill/>
          <a:ln/>
        </p:spPr>
        <p:txBody>
          <a:bodyPr wrap="square" lIns="0" tIns="0" rIns="0" bIns="0" rtlCol="0" anchor="ctr"/>
          <a:lstStyle/>
          <a:p>
            <a:pPr marL="0" indent="0">
              <a:buNone/>
            </a:pPr>
            <a:r>
              <a:rPr lang="en-US" sz="1450" i="1" dirty="0">
                <a:solidFill>
                  <a:srgbClr val="3A3A38"/>
                </a:solidFill>
                <a:latin typeface="Calibri" pitchFamily="34" charset="0"/>
                <a:ea typeface="Calibri" pitchFamily="34" charset="-122"/>
                <a:cs typeface="Calibri" pitchFamily="34" charset="-120"/>
              </a:rPr>
              <a:t>La ausencia de efecto es en sí misma un resultado: la experiencia previa del fundador, el cofundador técnico y las horas semanales no mueven la tasa de fracaso.</a:t>
            </a:r>
            <a:endParaRPr lang="en-US" sz="1450" dirty="0"/>
          </a:p>
        </p:txBody>
      </p:sp>
      <p:sp>
        <p:nvSpPr>
          <p:cNvPr id="5" name="Text 2"/>
          <p:cNvSpPr txBox="1"/>
          <p:nvPr/>
        </p:nvSpPr>
        <p:spPr>
          <a:xfrm>
            <a:off x="640080" y="6080760"/>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Las diferencias entre categorías no superan los pocos puntos porcentuales. Estas variables fueron excluidas del modelo.</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Tabla 5 · Importancia de las variables por permutación</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908792" cy="914400"/>
        </p:xfrm>
        <a:graphic>
          <a:graphicData uri="http://schemas.openxmlformats.org/drawingml/2006/table">
            <a:tbl>
              <a:tblPr/>
              <a:tblGrid>
                <a:gridCol w="38404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4507992">
                  <a:extLst>
                    <a:ext uri="{9D8B030D-6E8A-4147-A177-3AD203B41FA5}">
                      <a16:colId xmlns:a16="http://schemas.microsoft.com/office/drawing/2014/main" val="20002"/>
                    </a:ext>
                  </a:extLst>
                </a:gridCol>
              </a:tblGrid>
              <a:tr h="301752">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Variable</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Caída de AUC</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Grupo</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extLst>
                  <a:ext uri="{0D108BD9-81ED-4DB2-BD59-A6C34878D82A}">
                    <a16:rowId xmlns:a16="http://schemas.microsoft.com/office/drawing/2014/main" val="10000"/>
                  </a:ext>
                </a:extLst>
              </a:tr>
              <a:tr h="301752">
                <a:tc>
                  <a:txBody>
                    <a:bodyPr/>
                    <a:lstStyle/>
                    <a:p>
                      <a:pPr marL="0" indent="0" algn="l">
                        <a:buNone/>
                      </a:pPr>
                      <a:r>
                        <a:rPr lang="en-US" sz="1150" dirty="0">
                          <a:solidFill>
                            <a:srgbClr val="3A3A38"/>
                          </a:solidFill>
                          <a:latin typeface="Calibri" pitchFamily="34" charset="0"/>
                          <a:ea typeface="Calibri" pitchFamily="34" charset="-122"/>
                          <a:cs typeface="Calibri" pitchFamily="34" charset="-120"/>
                        </a:rPr>
                        <a:t>product_market_fit_score</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50" dirty="0">
                          <a:solidFill>
                            <a:srgbClr val="3A3A38"/>
                          </a:solidFill>
                          <a:latin typeface="Calibri" pitchFamily="34" charset="0"/>
                          <a:ea typeface="Calibri" pitchFamily="34" charset="-122"/>
                          <a:cs typeface="Calibri" pitchFamily="34" charset="-120"/>
                        </a:rPr>
                        <a:t>0.0574</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50" dirty="0">
                          <a:solidFill>
                            <a:srgbClr val="3A3A38"/>
                          </a:solidFill>
                          <a:latin typeface="Calibri" pitchFamily="34" charset="0"/>
                          <a:ea typeface="Calibri" pitchFamily="34" charset="-122"/>
                          <a:cs typeface="Calibri" pitchFamily="34" charset="-120"/>
                        </a:rPr>
                        <a:t>Ejecución</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301752">
                <a:tc>
                  <a:txBody>
                    <a:bodyPr/>
                    <a:lstStyle/>
                    <a:p>
                      <a:pPr marL="0" indent="0" algn="l">
                        <a:buNone/>
                      </a:pPr>
                      <a:r>
                        <a:rPr lang="en-US" sz="1150" dirty="0">
                          <a:solidFill>
                            <a:srgbClr val="3A3A38"/>
                          </a:solidFill>
                          <a:latin typeface="Calibri" pitchFamily="34" charset="0"/>
                          <a:ea typeface="Calibri" pitchFamily="34" charset="-122"/>
                          <a:cs typeface="Calibri" pitchFamily="34" charset="-120"/>
                        </a:rPr>
                        <a:t>runway_months</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150" dirty="0">
                          <a:solidFill>
                            <a:srgbClr val="3A3A38"/>
                          </a:solidFill>
                          <a:latin typeface="Calibri" pitchFamily="34" charset="0"/>
                          <a:ea typeface="Calibri" pitchFamily="34" charset="-122"/>
                          <a:cs typeface="Calibri" pitchFamily="34" charset="-120"/>
                        </a:rPr>
                        <a:t>0.0345</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150" dirty="0">
                          <a:solidFill>
                            <a:srgbClr val="3A3A38"/>
                          </a:solidFill>
                          <a:latin typeface="Calibri" pitchFamily="34" charset="0"/>
                          <a:ea typeface="Calibri" pitchFamily="34" charset="-122"/>
                          <a:cs typeface="Calibri" pitchFamily="34" charset="-120"/>
                        </a:rPr>
                        <a:t>Financiamiento y caja</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2"/>
                  </a:ext>
                </a:extLst>
              </a:tr>
              <a:tr h="301752">
                <a:tc>
                  <a:txBody>
                    <a:bodyPr/>
                    <a:lstStyle/>
                    <a:p>
                      <a:pPr marL="0" indent="0" algn="l">
                        <a:buNone/>
                      </a:pPr>
                      <a:r>
                        <a:rPr lang="en-US" sz="1150" dirty="0">
                          <a:solidFill>
                            <a:srgbClr val="3A3A38"/>
                          </a:solidFill>
                          <a:latin typeface="Calibri" pitchFamily="34" charset="0"/>
                          <a:ea typeface="Calibri" pitchFamily="34" charset="-122"/>
                          <a:cs typeface="Calibri" pitchFamily="34" charset="-120"/>
                        </a:rPr>
                        <a:t>monthly_burn_rate</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50" dirty="0">
                          <a:solidFill>
                            <a:srgbClr val="3A3A38"/>
                          </a:solidFill>
                          <a:latin typeface="Calibri" pitchFamily="34" charset="0"/>
                          <a:ea typeface="Calibri" pitchFamily="34" charset="-122"/>
                          <a:cs typeface="Calibri" pitchFamily="34" charset="-120"/>
                        </a:rPr>
                        <a:t>0.0214</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50" dirty="0">
                          <a:solidFill>
                            <a:srgbClr val="3A3A38"/>
                          </a:solidFill>
                          <a:latin typeface="Calibri" pitchFamily="34" charset="0"/>
                          <a:ea typeface="Calibri" pitchFamily="34" charset="-122"/>
                          <a:cs typeface="Calibri" pitchFamily="34" charset="-120"/>
                        </a:rPr>
                        <a:t>Financiamiento y caja</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301752">
                <a:tc>
                  <a:txBody>
                    <a:bodyPr/>
                    <a:lstStyle/>
                    <a:p>
                      <a:pPr marL="0" indent="0" algn="l">
                        <a:buNone/>
                      </a:pPr>
                      <a:r>
                        <a:rPr lang="en-US" sz="1150" dirty="0">
                          <a:solidFill>
                            <a:srgbClr val="3A3A38"/>
                          </a:solidFill>
                          <a:latin typeface="Calibri" pitchFamily="34" charset="0"/>
                          <a:ea typeface="Calibri" pitchFamily="34" charset="-122"/>
                          <a:cs typeface="Calibri" pitchFamily="34" charset="-120"/>
                        </a:rPr>
                        <a:t>macro_climate</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150" dirty="0">
                          <a:solidFill>
                            <a:srgbClr val="3A3A38"/>
                          </a:solidFill>
                          <a:latin typeface="Calibri" pitchFamily="34" charset="0"/>
                          <a:ea typeface="Calibri" pitchFamily="34" charset="-122"/>
                          <a:cs typeface="Calibri" pitchFamily="34" charset="-120"/>
                        </a:rPr>
                        <a:t>0.0171</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150" dirty="0">
                          <a:solidFill>
                            <a:srgbClr val="3A3A38"/>
                          </a:solidFill>
                          <a:latin typeface="Calibri" pitchFamily="34" charset="0"/>
                          <a:ea typeface="Calibri" pitchFamily="34" charset="-122"/>
                          <a:cs typeface="Calibri" pitchFamily="34" charset="-120"/>
                        </a:rPr>
                        <a:t>Circunstancia y azar</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4"/>
                  </a:ext>
                </a:extLst>
              </a:tr>
              <a:tr h="301752">
                <a:tc>
                  <a:txBody>
                    <a:bodyPr/>
                    <a:lstStyle/>
                    <a:p>
                      <a:pPr marL="0" indent="0" algn="l">
                        <a:buNone/>
                      </a:pPr>
                      <a:r>
                        <a:rPr lang="en-US" sz="1150" dirty="0">
                          <a:solidFill>
                            <a:srgbClr val="3A3A38"/>
                          </a:solidFill>
                          <a:latin typeface="Calibri" pitchFamily="34" charset="0"/>
                          <a:ea typeface="Calibri" pitchFamily="34" charset="-122"/>
                          <a:cs typeface="Calibri" pitchFamily="34" charset="-120"/>
                        </a:rPr>
                        <a:t>cofounder_conflict</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50" dirty="0">
                          <a:solidFill>
                            <a:srgbClr val="3A3A38"/>
                          </a:solidFill>
                          <a:latin typeface="Calibri" pitchFamily="34" charset="0"/>
                          <a:ea typeface="Calibri" pitchFamily="34" charset="-122"/>
                          <a:cs typeface="Calibri" pitchFamily="34" charset="-120"/>
                        </a:rPr>
                        <a:t>0.0166</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50" dirty="0">
                          <a:solidFill>
                            <a:srgbClr val="3A3A38"/>
                          </a:solidFill>
                          <a:latin typeface="Calibri" pitchFamily="34" charset="0"/>
                          <a:ea typeface="Calibri" pitchFamily="34" charset="-122"/>
                          <a:cs typeface="Calibri" pitchFamily="34" charset="-120"/>
                        </a:rPr>
                        <a:t>Equipo fundador</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r h="301752">
                <a:tc>
                  <a:txBody>
                    <a:bodyPr/>
                    <a:lstStyle/>
                    <a:p>
                      <a:pPr marL="0" indent="0" algn="l">
                        <a:buNone/>
                      </a:pPr>
                      <a:r>
                        <a:rPr lang="en-US" sz="1150" dirty="0">
                          <a:solidFill>
                            <a:srgbClr val="3A3A38"/>
                          </a:solidFill>
                          <a:latin typeface="Calibri" pitchFamily="34" charset="0"/>
                          <a:ea typeface="Calibri" pitchFamily="34" charset="-122"/>
                          <a:cs typeface="Calibri" pitchFamily="34" charset="-120"/>
                        </a:rPr>
                        <a:t>funding_path</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150" dirty="0">
                          <a:solidFill>
                            <a:srgbClr val="3A3A38"/>
                          </a:solidFill>
                          <a:latin typeface="Calibri" pitchFamily="34" charset="0"/>
                          <a:ea typeface="Calibri" pitchFamily="34" charset="-122"/>
                          <a:cs typeface="Calibri" pitchFamily="34" charset="-120"/>
                        </a:rPr>
                        <a:t>0.0134</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150" dirty="0">
                          <a:solidFill>
                            <a:srgbClr val="3A3A38"/>
                          </a:solidFill>
                          <a:latin typeface="Calibri" pitchFamily="34" charset="0"/>
                          <a:ea typeface="Calibri" pitchFamily="34" charset="-122"/>
                          <a:cs typeface="Calibri" pitchFamily="34" charset="-120"/>
                        </a:rPr>
                        <a:t>Financiamiento y caja</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6"/>
                  </a:ext>
                </a:extLst>
              </a:tr>
              <a:tr h="301752">
                <a:tc>
                  <a:txBody>
                    <a:bodyPr/>
                    <a:lstStyle/>
                    <a:p>
                      <a:pPr marL="0" indent="0" algn="l">
                        <a:buNone/>
                      </a:pPr>
                      <a:r>
                        <a:rPr lang="en-US" sz="1150" dirty="0">
                          <a:solidFill>
                            <a:srgbClr val="3A3A38"/>
                          </a:solidFill>
                          <a:latin typeface="Calibri" pitchFamily="34" charset="0"/>
                          <a:ea typeface="Calibri" pitchFamily="34" charset="-122"/>
                          <a:cs typeface="Calibri" pitchFamily="34" charset="-120"/>
                        </a:rPr>
                        <a:t>unit_economics_score</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50" dirty="0">
                          <a:solidFill>
                            <a:srgbClr val="3A3A38"/>
                          </a:solidFill>
                          <a:latin typeface="Calibri" pitchFamily="34" charset="0"/>
                          <a:ea typeface="Calibri" pitchFamily="34" charset="-122"/>
                          <a:cs typeface="Calibri" pitchFamily="34" charset="-120"/>
                        </a:rPr>
                        <a:t>0.0128</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50" dirty="0">
                          <a:solidFill>
                            <a:srgbClr val="3A3A38"/>
                          </a:solidFill>
                          <a:latin typeface="Calibri" pitchFamily="34" charset="0"/>
                          <a:ea typeface="Calibri" pitchFamily="34" charset="-122"/>
                          <a:cs typeface="Calibri" pitchFamily="34" charset="-120"/>
                        </a:rPr>
                        <a:t>Ejecución</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7"/>
                  </a:ext>
                </a:extLst>
              </a:tr>
              <a:tr h="301752">
                <a:tc>
                  <a:txBody>
                    <a:bodyPr/>
                    <a:lstStyle/>
                    <a:p>
                      <a:pPr marL="0" indent="0" algn="l">
                        <a:buNone/>
                      </a:pPr>
                      <a:r>
                        <a:rPr lang="en-US" sz="1150" dirty="0">
                          <a:solidFill>
                            <a:srgbClr val="3A3A38"/>
                          </a:solidFill>
                          <a:latin typeface="Calibri" pitchFamily="34" charset="0"/>
                          <a:ea typeface="Calibri" pitchFamily="34" charset="-122"/>
                          <a:cs typeface="Calibri" pitchFamily="34" charset="-120"/>
                        </a:rPr>
                        <a:t>competition_intensity</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150" dirty="0">
                          <a:solidFill>
                            <a:srgbClr val="3A3A38"/>
                          </a:solidFill>
                          <a:latin typeface="Calibri" pitchFamily="34" charset="0"/>
                          <a:ea typeface="Calibri" pitchFamily="34" charset="-122"/>
                          <a:cs typeface="Calibri" pitchFamily="34" charset="-120"/>
                        </a:rPr>
                        <a:t>0.0105</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150" dirty="0">
                          <a:solidFill>
                            <a:srgbClr val="3A3A38"/>
                          </a:solidFill>
                          <a:latin typeface="Calibri" pitchFamily="34" charset="0"/>
                          <a:ea typeface="Calibri" pitchFamily="34" charset="-122"/>
                          <a:cs typeface="Calibri" pitchFamily="34" charset="-120"/>
                        </a:rPr>
                        <a:t>Circunstancia y azar</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8"/>
                  </a:ext>
                </a:extLst>
              </a:tr>
              <a:tr h="301752">
                <a:tc>
                  <a:txBody>
                    <a:bodyPr/>
                    <a:lstStyle/>
                    <a:p>
                      <a:pPr marL="0" indent="0" algn="l">
                        <a:buNone/>
                      </a:pPr>
                      <a:r>
                        <a:rPr lang="en-US" sz="1150" dirty="0">
                          <a:solidFill>
                            <a:srgbClr val="3A3A38"/>
                          </a:solidFill>
                          <a:latin typeface="Calibri" pitchFamily="34" charset="0"/>
                          <a:ea typeface="Calibri" pitchFamily="34" charset="-122"/>
                          <a:cs typeface="Calibri" pitchFamily="34" charset="-120"/>
                        </a:rPr>
                        <a:t>domain_experience_years</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50" dirty="0">
                          <a:solidFill>
                            <a:srgbClr val="3A3A38"/>
                          </a:solidFill>
                          <a:latin typeface="Calibri" pitchFamily="34" charset="0"/>
                          <a:ea typeface="Calibri" pitchFamily="34" charset="-122"/>
                          <a:cs typeface="Calibri" pitchFamily="34" charset="-120"/>
                        </a:rPr>
                        <a:t>0.0089</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50" dirty="0">
                          <a:solidFill>
                            <a:srgbClr val="3A3A38"/>
                          </a:solidFill>
                          <a:latin typeface="Calibri" pitchFamily="34" charset="0"/>
                          <a:ea typeface="Calibri" pitchFamily="34" charset="-122"/>
                          <a:cs typeface="Calibri" pitchFamily="34" charset="-120"/>
                        </a:rPr>
                        <a:t>Perfil del fundador</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9"/>
                  </a:ext>
                </a:extLst>
              </a:tr>
              <a:tr h="301752">
                <a:tc>
                  <a:txBody>
                    <a:bodyPr/>
                    <a:lstStyle/>
                    <a:p>
                      <a:pPr marL="0" indent="0" algn="l">
                        <a:buNone/>
                      </a:pPr>
                      <a:r>
                        <a:rPr lang="en-US" sz="1150" dirty="0">
                          <a:solidFill>
                            <a:srgbClr val="3A3A38"/>
                          </a:solidFill>
                          <a:latin typeface="Calibri" pitchFamily="34" charset="0"/>
                          <a:ea typeface="Calibri" pitchFamily="34" charset="-122"/>
                          <a:cs typeface="Calibri" pitchFamily="34" charset="-120"/>
                        </a:rPr>
                        <a:t>team_completeness</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150" dirty="0">
                          <a:solidFill>
                            <a:srgbClr val="3A3A38"/>
                          </a:solidFill>
                          <a:latin typeface="Calibri" pitchFamily="34" charset="0"/>
                          <a:ea typeface="Calibri" pitchFamily="34" charset="-122"/>
                          <a:cs typeface="Calibri" pitchFamily="34" charset="-120"/>
                        </a:rPr>
                        <a:t>0.0087</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150" dirty="0">
                          <a:solidFill>
                            <a:srgbClr val="3A3A38"/>
                          </a:solidFill>
                          <a:latin typeface="Calibri" pitchFamily="34" charset="0"/>
                          <a:ea typeface="Calibri" pitchFamily="34" charset="-122"/>
                          <a:cs typeface="Calibri" pitchFamily="34" charset="-120"/>
                        </a:rPr>
                        <a:t>Equipo fundador</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10"/>
                  </a:ext>
                </a:extLst>
              </a:tr>
              <a:tr h="301752">
                <a:tc>
                  <a:txBody>
                    <a:bodyPr/>
                    <a:lstStyle/>
                    <a:p>
                      <a:pPr marL="0" indent="0" algn="l">
                        <a:buNone/>
                      </a:pPr>
                      <a:r>
                        <a:rPr lang="en-US" sz="1150" dirty="0">
                          <a:solidFill>
                            <a:srgbClr val="3A3A38"/>
                          </a:solidFill>
                          <a:latin typeface="Calibri" pitchFamily="34" charset="0"/>
                          <a:ea typeface="Calibri" pitchFamily="34" charset="-122"/>
                          <a:cs typeface="Calibri" pitchFamily="34" charset="-120"/>
                        </a:rPr>
                        <a:t>founder_prior_exits</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50" dirty="0">
                          <a:solidFill>
                            <a:srgbClr val="3A3A38"/>
                          </a:solidFill>
                          <a:latin typeface="Calibri" pitchFamily="34" charset="0"/>
                          <a:ea typeface="Calibri" pitchFamily="34" charset="-122"/>
                          <a:cs typeface="Calibri" pitchFamily="34" charset="-120"/>
                        </a:rPr>
                        <a:t>0.0015</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50" dirty="0">
                          <a:solidFill>
                            <a:srgbClr val="3A3A38"/>
                          </a:solidFill>
                          <a:latin typeface="Calibri" pitchFamily="34" charset="0"/>
                          <a:ea typeface="Calibri" pitchFamily="34" charset="-122"/>
                          <a:cs typeface="Calibri" pitchFamily="34" charset="-120"/>
                        </a:rPr>
                        <a:t>Perfil del fundador</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11"/>
                  </a:ext>
                </a:extLst>
              </a:tr>
              <a:tr h="301752">
                <a:tc>
                  <a:txBody>
                    <a:bodyPr/>
                    <a:lstStyle/>
                    <a:p>
                      <a:pPr marL="0" indent="0" algn="l">
                        <a:buNone/>
                      </a:pPr>
                      <a:r>
                        <a:rPr lang="en-US" sz="1150" dirty="0">
                          <a:solidFill>
                            <a:srgbClr val="3A3A38"/>
                          </a:solidFill>
                          <a:latin typeface="Calibri" pitchFamily="34" charset="0"/>
                          <a:ea typeface="Calibri" pitchFamily="34" charset="-122"/>
                          <a:cs typeface="Calibri" pitchFamily="34" charset="-120"/>
                        </a:rPr>
                        <a:t>total_raised_usd</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150" dirty="0">
                          <a:solidFill>
                            <a:srgbClr val="3A3A38"/>
                          </a:solidFill>
                          <a:latin typeface="Calibri" pitchFamily="34" charset="0"/>
                          <a:ea typeface="Calibri" pitchFamily="34" charset="-122"/>
                          <a:cs typeface="Calibri" pitchFamily="34" charset="-120"/>
                        </a:rPr>
                        <a:t>0.0005</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150" dirty="0">
                          <a:solidFill>
                            <a:srgbClr val="3A3A38"/>
                          </a:solidFill>
                          <a:latin typeface="Calibri" pitchFamily="34" charset="0"/>
                          <a:ea typeface="Calibri" pitchFamily="34" charset="-122"/>
                          <a:cs typeface="Calibri" pitchFamily="34" charset="-120"/>
                        </a:rPr>
                        <a:t>Financiamiento y caja</a:t>
                      </a:r>
                      <a:endParaRPr lang="en-US" sz="11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12"/>
                  </a:ext>
                </a:extLst>
              </a:tr>
            </a:tbl>
          </a:graphicData>
        </a:graphic>
      </p:graphicFrame>
      <p:sp>
        <p:nvSpPr>
          <p:cNvPr id="4" name="Text 1"/>
          <p:cNvSpPr txBox="1"/>
          <p:nvPr/>
        </p:nvSpPr>
        <p:spPr>
          <a:xfrm>
            <a:off x="640080" y="6080760"/>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Desordenar aleatoriamente los valores de una variable y medir cuánto se deteriora el AUC; cinco repeticiones por variable.</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Tabla 6 · Desempeño de los algoritmos</a:t>
            </a:r>
            <a:endParaRPr lang="en-US" sz="3000" dirty="0"/>
          </a:p>
        </p:txBody>
      </p:sp>
      <p:sp>
        <p:nvSpPr>
          <p:cNvPr id="3" name="Text 1"/>
          <p:cNvSpPr txBox="1"/>
          <p:nvPr/>
        </p:nvSpPr>
        <p:spPr>
          <a:xfrm>
            <a:off x="640080" y="1078992"/>
            <a:ext cx="10908792" cy="384048"/>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Sobre la partición de prueba</a:t>
            </a:r>
            <a:endParaRPr lang="en-US" sz="1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08792" cy="914400"/>
        </p:xfrm>
        <a:graphic>
          <a:graphicData uri="http://schemas.openxmlformats.org/drawingml/2006/table">
            <a:tbl>
              <a:tblPr/>
              <a:tblGrid>
                <a:gridCol w="32004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1170432">
                  <a:extLst>
                    <a:ext uri="{9D8B030D-6E8A-4147-A177-3AD203B41FA5}">
                      <a16:colId xmlns:a16="http://schemas.microsoft.com/office/drawing/2014/main" val="20006"/>
                    </a:ext>
                  </a:extLst>
                </a:gridCol>
              </a:tblGrid>
              <a:tr h="45720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Algoritmo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ROC-AUC</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Exact. bal.</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Precisión</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Sensib.</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Umbral</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Señalados</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extLst>
                  <a:ext uri="{0D108BD9-81ED-4DB2-BD59-A6C34878D82A}">
                    <a16:rowId xmlns:a16="http://schemas.microsoft.com/office/drawing/2014/main" val="10000"/>
                  </a:ext>
                </a:extLst>
              </a:tr>
              <a:tr h="457200">
                <a:tc>
                  <a:txBody>
                    <a:bodyPr/>
                    <a:lstStyle/>
                    <a:p>
                      <a:pPr marL="0" indent="0" algn="l">
                        <a:buNone/>
                      </a:pPr>
                      <a:r>
                        <a:rPr lang="en-US" sz="1300" b="1" dirty="0">
                          <a:solidFill>
                            <a:srgbClr val="B85042"/>
                          </a:solidFill>
                          <a:latin typeface="Calibri" pitchFamily="34" charset="0"/>
                          <a:ea typeface="Calibri" pitchFamily="34" charset="-122"/>
                          <a:cs typeface="Calibri" pitchFamily="34" charset="-120"/>
                        </a:rPr>
                        <a:t>Regresión logística (C = 0.1)</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b="1" dirty="0">
                          <a:solidFill>
                            <a:srgbClr val="B85042"/>
                          </a:solidFill>
                          <a:latin typeface="Calibri" pitchFamily="34" charset="0"/>
                          <a:ea typeface="Calibri" pitchFamily="34" charset="-122"/>
                          <a:cs typeface="Calibri" pitchFamily="34" charset="-120"/>
                        </a:rPr>
                        <a:t>0.7469</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b="1" dirty="0">
                          <a:solidFill>
                            <a:srgbClr val="B85042"/>
                          </a:solidFill>
                          <a:latin typeface="Calibri" pitchFamily="34" charset="0"/>
                          <a:ea typeface="Calibri" pitchFamily="34" charset="-122"/>
                          <a:cs typeface="Calibri" pitchFamily="34" charset="-120"/>
                        </a:rPr>
                        <a:t>0.6783</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b="1" dirty="0">
                          <a:solidFill>
                            <a:srgbClr val="B85042"/>
                          </a:solidFill>
                          <a:latin typeface="Calibri" pitchFamily="34" charset="0"/>
                          <a:ea typeface="Calibri" pitchFamily="34" charset="-122"/>
                          <a:cs typeface="Calibri" pitchFamily="34" charset="-120"/>
                        </a:rPr>
                        <a:t>0.7977</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b="1" dirty="0">
                          <a:solidFill>
                            <a:srgbClr val="B85042"/>
                          </a:solidFill>
                          <a:latin typeface="Calibri" pitchFamily="34" charset="0"/>
                          <a:ea typeface="Calibri" pitchFamily="34" charset="-122"/>
                          <a:cs typeface="Calibri" pitchFamily="34" charset="-120"/>
                        </a:rPr>
                        <a:t>0.6965</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b="1" dirty="0">
                          <a:solidFill>
                            <a:srgbClr val="B85042"/>
                          </a:solidFill>
                          <a:latin typeface="Calibri" pitchFamily="34" charset="0"/>
                          <a:ea typeface="Calibri" pitchFamily="34" charset="-122"/>
                          <a:cs typeface="Calibri" pitchFamily="34" charset="-120"/>
                        </a:rPr>
                        <a:t>0.64</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b="1" dirty="0">
                          <a:solidFill>
                            <a:srgbClr val="B85042"/>
                          </a:solidFill>
                          <a:latin typeface="Calibri" pitchFamily="34" charset="0"/>
                          <a:ea typeface="Calibri" pitchFamily="34" charset="-122"/>
                          <a:cs typeface="Calibri" pitchFamily="34" charset="-120"/>
                        </a:rPr>
                        <a:t>57.5 %</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Potenciación de gradiente</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0.7363</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0.6674</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0.7907</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0.6823</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0.64</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56.8 %</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2"/>
                  </a:ext>
                </a:extLst>
              </a:tr>
              <a:tr h="45720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Bosque aleatorio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0.7305</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0.6693</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0.7942</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0.6755</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0.64</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56.0 %</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Sin modelo (todos fracasan)</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0.5000</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0.5000</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0.6580</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100 %</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640080" y="4206240"/>
            <a:ext cx="10908792" cy="822960"/>
          </a:xfrm>
          <a:prstGeom prst="rect">
            <a:avLst/>
          </a:prstGeom>
          <a:noFill/>
          <a:ln/>
        </p:spPr>
        <p:txBody>
          <a:bodyPr wrap="square" lIns="0" tIns="0" rIns="0" bIns="0" rtlCol="0" anchor="ctr"/>
          <a:lstStyle/>
          <a:p>
            <a:pPr marL="0" indent="0">
              <a:buNone/>
            </a:pPr>
            <a:r>
              <a:rPr lang="en-US" sz="1400" dirty="0">
                <a:solidFill>
                  <a:srgbClr val="3A3A38"/>
                </a:solidFill>
                <a:latin typeface="Calibri" pitchFamily="34" charset="0"/>
                <a:ea typeface="Calibri" pitchFamily="34" charset="-122"/>
                <a:cs typeface="Calibri" pitchFamily="34" charset="-120"/>
              </a:rPr>
              <a:t>Ganó el modelo más simple. En datos tabulares los ensambles suelen ganar, así que este resultado indica que las relaciones son aditivas, sin interacciones que los árboles puedan aprovechar. Además entrenó en 3.0 segundos frente a 16.6 del bosque aleatorio.</a:t>
            </a:r>
            <a:endParaRPr lang="en-US" sz="1400" dirty="0"/>
          </a:p>
        </p:txBody>
      </p:sp>
      <p:sp>
        <p:nvSpPr>
          <p:cNvPr id="6" name="Text 3"/>
          <p:cNvSpPr txBox="1"/>
          <p:nvPr/>
        </p:nvSpPr>
        <p:spPr>
          <a:xfrm>
            <a:off x="640080" y="6080760"/>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N = 9 600. La última fila es un clasificador trivial e indica el piso contra el cual debe compararse cualquier modelo.</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Tabla 7 · Matriz de confusión del modelo seleccionado</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10908792" cy="914400"/>
        </p:xfrm>
        <a:graphic>
          <a:graphicData uri="http://schemas.openxmlformats.org/drawingml/2006/table">
            <a:tbl>
              <a:tblPr/>
              <a:tblGrid>
                <a:gridCol w="2724912">
                  <a:extLst>
                    <a:ext uri="{9D8B030D-6E8A-4147-A177-3AD203B41FA5}">
                      <a16:colId xmlns:a16="http://schemas.microsoft.com/office/drawing/2014/main" val="20000"/>
                    </a:ext>
                  </a:extLst>
                </a:gridCol>
                <a:gridCol w="2724912">
                  <a:extLst>
                    <a:ext uri="{9D8B030D-6E8A-4147-A177-3AD203B41FA5}">
                      <a16:colId xmlns:a16="http://schemas.microsoft.com/office/drawing/2014/main" val="20001"/>
                    </a:ext>
                  </a:extLst>
                </a:gridCol>
                <a:gridCol w="2724912">
                  <a:extLst>
                    <a:ext uri="{9D8B030D-6E8A-4147-A177-3AD203B41FA5}">
                      <a16:colId xmlns:a16="http://schemas.microsoft.com/office/drawing/2014/main" val="20002"/>
                    </a:ext>
                  </a:extLst>
                </a:gridCol>
                <a:gridCol w="2734056">
                  <a:extLst>
                    <a:ext uri="{9D8B030D-6E8A-4147-A177-3AD203B41FA5}">
                      <a16:colId xmlns:a16="http://schemas.microsoft.com/office/drawing/2014/main" val="20003"/>
                    </a:ext>
                  </a:extLst>
                </a:gridCol>
              </a:tblGrid>
              <a:tr h="566928">
                <a:tc>
                  <a:txBody>
                    <a:bodyPr/>
                    <a:lstStyle/>
                    <a:p>
                      <a:pPr marL="0" indent="0" algn="ctr">
                        <a:buNone/>
                      </a:pPr>
                      <a:endParaRPr lang="en-US" sz="14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Predicho sobrevive</a:t>
                      </a:r>
                      <a:endParaRPr lang="en-US" sz="14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Predicho fracasa</a:t>
                      </a:r>
                      <a:endParaRPr lang="en-US" sz="14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extLst>
                  <a:ext uri="{0D108BD9-81ED-4DB2-BD59-A6C34878D82A}">
                    <a16:rowId xmlns:a16="http://schemas.microsoft.com/office/drawing/2014/main" val="10000"/>
                  </a:ext>
                </a:extLst>
              </a:tr>
              <a:tr h="566928">
                <a:tc>
                  <a:txBody>
                    <a:bodyPr/>
                    <a:lstStyle/>
                    <a:p>
                      <a:pPr marL="0" indent="0" algn="l">
                        <a:buNone/>
                      </a:pPr>
                      <a:r>
                        <a:rPr lang="en-US" sz="1400" dirty="0">
                          <a:solidFill>
                            <a:srgbClr val="3A3A38"/>
                          </a:solidFill>
                          <a:latin typeface="Calibri" pitchFamily="34" charset="0"/>
                          <a:ea typeface="Calibri" pitchFamily="34" charset="-122"/>
                          <a:cs typeface="Calibri" pitchFamily="34" charset="-120"/>
                        </a:rPr>
                        <a:t>Sobrevivió</a:t>
                      </a:r>
                      <a:endParaRPr lang="en-US" sz="14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400" dirty="0">
                          <a:solidFill>
                            <a:srgbClr val="3A3A38"/>
                          </a:solidFill>
                          <a:latin typeface="Calibri" pitchFamily="34" charset="0"/>
                          <a:ea typeface="Calibri" pitchFamily="34" charset="-122"/>
                          <a:cs typeface="Calibri" pitchFamily="34" charset="-120"/>
                        </a:rPr>
                        <a:t>2 167</a:t>
                      </a:r>
                      <a:endParaRPr lang="en-US" sz="14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400" dirty="0">
                          <a:solidFill>
                            <a:srgbClr val="3A3A38"/>
                          </a:solidFill>
                          <a:latin typeface="Calibri" pitchFamily="34" charset="0"/>
                          <a:ea typeface="Calibri" pitchFamily="34" charset="-122"/>
                          <a:cs typeface="Calibri" pitchFamily="34" charset="-120"/>
                        </a:rPr>
                        <a:t>1 116</a:t>
                      </a:r>
                      <a:endParaRPr lang="en-US" sz="14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400" dirty="0">
                          <a:solidFill>
                            <a:srgbClr val="3A3A38"/>
                          </a:solidFill>
                          <a:latin typeface="Calibri" pitchFamily="34" charset="0"/>
                          <a:ea typeface="Calibri" pitchFamily="34" charset="-122"/>
                          <a:cs typeface="Calibri" pitchFamily="34" charset="-120"/>
                        </a:rPr>
                        <a:t>3 283</a:t>
                      </a:r>
                      <a:endParaRPr lang="en-US" sz="14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400" dirty="0">
                          <a:solidFill>
                            <a:srgbClr val="3A3A38"/>
                          </a:solidFill>
                          <a:latin typeface="Calibri" pitchFamily="34" charset="0"/>
                          <a:ea typeface="Calibri" pitchFamily="34" charset="-122"/>
                          <a:cs typeface="Calibri" pitchFamily="34" charset="-120"/>
                        </a:rPr>
                        <a:t>Fracasó</a:t>
                      </a:r>
                      <a:endParaRPr lang="en-US" sz="14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400" dirty="0">
                          <a:solidFill>
                            <a:srgbClr val="3A3A38"/>
                          </a:solidFill>
                          <a:latin typeface="Calibri" pitchFamily="34" charset="0"/>
                          <a:ea typeface="Calibri" pitchFamily="34" charset="-122"/>
                          <a:cs typeface="Calibri" pitchFamily="34" charset="-120"/>
                        </a:rPr>
                        <a:t>1 917</a:t>
                      </a:r>
                      <a:endParaRPr lang="en-US" sz="14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400" dirty="0">
                          <a:solidFill>
                            <a:srgbClr val="3A3A38"/>
                          </a:solidFill>
                          <a:latin typeface="Calibri" pitchFamily="34" charset="0"/>
                          <a:ea typeface="Calibri" pitchFamily="34" charset="-122"/>
                          <a:cs typeface="Calibri" pitchFamily="34" charset="-120"/>
                        </a:rPr>
                        <a:t>4 400</a:t>
                      </a:r>
                      <a:endParaRPr lang="en-US" sz="14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400" dirty="0">
                          <a:solidFill>
                            <a:srgbClr val="3A3A38"/>
                          </a:solidFill>
                          <a:latin typeface="Calibri" pitchFamily="34" charset="0"/>
                          <a:ea typeface="Calibri" pitchFamily="34" charset="-122"/>
                          <a:cs typeface="Calibri" pitchFamily="34" charset="-120"/>
                        </a:rPr>
                        <a:t>6 317</a:t>
                      </a:r>
                      <a:endParaRPr lang="en-US" sz="14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2"/>
                  </a:ext>
                </a:extLst>
              </a:tr>
              <a:tr h="566928">
                <a:tc>
                  <a:txBody>
                    <a:bodyPr/>
                    <a:lstStyle/>
                    <a:p>
                      <a:pPr marL="0" indent="0" algn="l">
                        <a:buNone/>
                      </a:pPr>
                      <a:r>
                        <a:rPr lang="en-US" sz="1400" dirty="0">
                          <a:solidFill>
                            <a:srgbClr val="3A3A38"/>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400" dirty="0">
                          <a:solidFill>
                            <a:srgbClr val="3A3A38"/>
                          </a:solidFill>
                          <a:latin typeface="Calibri" pitchFamily="34" charset="0"/>
                          <a:ea typeface="Calibri" pitchFamily="34" charset="-122"/>
                          <a:cs typeface="Calibri" pitchFamily="34" charset="-120"/>
                        </a:rPr>
                        <a:t>4 084</a:t>
                      </a:r>
                      <a:endParaRPr lang="en-US" sz="14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400" dirty="0">
                          <a:solidFill>
                            <a:srgbClr val="3A3A38"/>
                          </a:solidFill>
                          <a:latin typeface="Calibri" pitchFamily="34" charset="0"/>
                          <a:ea typeface="Calibri" pitchFamily="34" charset="-122"/>
                          <a:cs typeface="Calibri" pitchFamily="34" charset="-120"/>
                        </a:rPr>
                        <a:t>5 516</a:t>
                      </a:r>
                      <a:endParaRPr lang="en-US" sz="14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400" dirty="0">
                          <a:solidFill>
                            <a:srgbClr val="3A3A38"/>
                          </a:solidFill>
                          <a:latin typeface="Calibri" pitchFamily="34" charset="0"/>
                          <a:ea typeface="Calibri" pitchFamily="34" charset="-122"/>
                          <a:cs typeface="Calibri" pitchFamily="34" charset="-120"/>
                        </a:rPr>
                        <a:t>9 600</a:t>
                      </a:r>
                      <a:endParaRPr lang="en-US" sz="14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bl>
          </a:graphicData>
        </a:graphic>
      </p:graphicFrame>
      <p:sp>
        <p:nvSpPr>
          <p:cNvPr id="4" name="Text 1"/>
          <p:cNvSpPr txBox="1"/>
          <p:nvPr/>
        </p:nvSpPr>
        <p:spPr>
          <a:xfrm>
            <a:off x="640080" y="4206240"/>
            <a:ext cx="5454396" cy="822960"/>
          </a:xfrm>
          <a:prstGeom prst="rect">
            <a:avLst/>
          </a:prstGeom>
          <a:noFill/>
          <a:ln/>
        </p:spPr>
        <p:txBody>
          <a:bodyPr wrap="square" lIns="0" tIns="0" rIns="0" bIns="0" rtlCol="0" anchor="ctr"/>
          <a:lstStyle/>
          <a:p>
            <a:pPr marL="0" indent="0" algn="ctr">
              <a:buNone/>
            </a:pPr>
            <a:r>
              <a:rPr lang="en-US" sz="4400" b="1" dirty="0">
                <a:solidFill>
                  <a:srgbClr val="B85042"/>
                </a:solidFill>
                <a:latin typeface="Cambria" pitchFamily="34" charset="0"/>
                <a:ea typeface="Cambria" pitchFamily="34" charset="-122"/>
                <a:cs typeface="Cambria" pitchFamily="34" charset="-120"/>
              </a:rPr>
              <a:t>69.65 %</a:t>
            </a:r>
            <a:endParaRPr lang="en-US" sz="4400" dirty="0"/>
          </a:p>
        </p:txBody>
      </p:sp>
      <p:sp>
        <p:nvSpPr>
          <p:cNvPr id="5" name="Text 2"/>
          <p:cNvSpPr txBox="1"/>
          <p:nvPr/>
        </p:nvSpPr>
        <p:spPr>
          <a:xfrm>
            <a:off x="640080" y="5047488"/>
            <a:ext cx="5454396"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de los fracasos, detectados</a:t>
            </a:r>
            <a:endParaRPr lang="en-US" sz="1250" dirty="0"/>
          </a:p>
        </p:txBody>
      </p:sp>
      <p:sp>
        <p:nvSpPr>
          <p:cNvPr id="6" name="Text 3"/>
          <p:cNvSpPr txBox="1"/>
          <p:nvPr/>
        </p:nvSpPr>
        <p:spPr>
          <a:xfrm>
            <a:off x="6094476" y="4206240"/>
            <a:ext cx="5454396" cy="822960"/>
          </a:xfrm>
          <a:prstGeom prst="rect">
            <a:avLst/>
          </a:prstGeom>
          <a:noFill/>
          <a:ln/>
        </p:spPr>
        <p:txBody>
          <a:bodyPr wrap="square" lIns="0" tIns="0" rIns="0" bIns="0" rtlCol="0" anchor="ctr"/>
          <a:lstStyle/>
          <a:p>
            <a:pPr marL="0" indent="0" algn="ctr">
              <a:buNone/>
            </a:pPr>
            <a:r>
              <a:rPr lang="en-US" sz="4400" b="1" dirty="0">
                <a:solidFill>
                  <a:srgbClr val="5F7F6E"/>
                </a:solidFill>
                <a:latin typeface="Cambria" pitchFamily="34" charset="0"/>
                <a:ea typeface="Cambria" pitchFamily="34" charset="-122"/>
                <a:cs typeface="Cambria" pitchFamily="34" charset="-120"/>
              </a:rPr>
              <a:t>66.01 %</a:t>
            </a:r>
            <a:endParaRPr lang="en-US" sz="4400" dirty="0"/>
          </a:p>
        </p:txBody>
      </p:sp>
      <p:sp>
        <p:nvSpPr>
          <p:cNvPr id="7" name="Text 4"/>
          <p:cNvSpPr txBox="1"/>
          <p:nvPr/>
        </p:nvSpPr>
        <p:spPr>
          <a:xfrm>
            <a:off x="6094476" y="5047488"/>
            <a:ext cx="5454396"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de las supervivencias, reconocidas</a:t>
            </a:r>
            <a:endParaRPr lang="en-US" sz="1250" dirty="0"/>
          </a:p>
        </p:txBody>
      </p:sp>
      <p:sp>
        <p:nvSpPr>
          <p:cNvPr id="8" name="Text 5"/>
          <p:cNvSpPr txBox="1"/>
          <p:nvPr/>
        </p:nvSpPr>
        <p:spPr>
          <a:xfrm>
            <a:off x="640080" y="6080760"/>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Umbral de decisión de 0.64 sobre la partición de prueba. El equilibrio entre ambas tasas es consecuencia directa del criterio de Youden.</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Figura 5 · Matriz de confusión del modelo seleccionado</a:t>
            </a:r>
            <a:endParaRPr lang="en-US" sz="3000" dirty="0"/>
          </a:p>
        </p:txBody>
      </p:sp>
      <p:pic>
        <p:nvPicPr>
          <p:cNvPr id="3" name="Image 0" descr="docs/figuras/05_matriz_de_confusion.png"/>
          <p:cNvPicPr>
            <a:picLocks noChangeAspect="1"/>
          </p:cNvPicPr>
          <p:nvPr/>
        </p:nvPicPr>
        <p:blipFill>
          <a:blip r:embed="rId3"/>
          <a:stretch>
            <a:fillRect/>
          </a:stretch>
        </p:blipFill>
        <p:spPr>
          <a:xfrm>
            <a:off x="3534156" y="1508760"/>
            <a:ext cx="5120640" cy="3981835"/>
          </a:xfrm>
          <a:prstGeom prst="rect">
            <a:avLst/>
          </a:prstGeom>
        </p:spPr>
      </p:pic>
      <p:sp>
        <p:nvSpPr>
          <p:cNvPr id="4" name="Text 1"/>
          <p:cNvSpPr txBox="1"/>
          <p:nvPr/>
        </p:nvSpPr>
        <p:spPr>
          <a:xfrm>
            <a:off x="640080" y="6080760"/>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N = 9 600 observaciones de la partición de prueba, con umbral de 0.64.</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Figura 6 · Curva ROC del modelo seleccionado</a:t>
            </a:r>
            <a:endParaRPr lang="en-US" sz="3000" dirty="0"/>
          </a:p>
        </p:txBody>
      </p:sp>
      <p:pic>
        <p:nvPicPr>
          <p:cNvPr id="3" name="Image 0" descr="docs/figuras/06_curva_roc.png"/>
          <p:cNvPicPr>
            <a:picLocks noChangeAspect="1"/>
          </p:cNvPicPr>
          <p:nvPr/>
        </p:nvPicPr>
        <p:blipFill>
          <a:blip r:embed="rId3"/>
          <a:stretch>
            <a:fillRect/>
          </a:stretch>
        </p:blipFill>
        <p:spPr>
          <a:xfrm>
            <a:off x="3808476" y="1463040"/>
            <a:ext cx="4572000" cy="4096774"/>
          </a:xfrm>
          <a:prstGeom prst="rect">
            <a:avLst/>
          </a:prstGeom>
        </p:spPr>
      </p:pic>
      <p:sp>
        <p:nvSpPr>
          <p:cNvPr id="4" name="Text 1"/>
          <p:cNvSpPr txBox="1"/>
          <p:nvPr/>
        </p:nvSpPr>
        <p:spPr>
          <a:xfrm>
            <a:off x="640080" y="6080760"/>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La diagonal representa un clasificador sin capacidad discriminante. El área bajo la curva resume la capacidad del modelo con independencia del umbral escogido.</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Tabla 8 · Aporte predictivo por grupo</a:t>
            </a:r>
            <a:endParaRPr lang="en-US" sz="3000" dirty="0"/>
          </a:p>
        </p:txBody>
      </p:sp>
      <p:sp>
        <p:nvSpPr>
          <p:cNvPr id="3" name="Text 1"/>
          <p:cNvSpPr txBox="1"/>
          <p:nvPr/>
        </p:nvSpPr>
        <p:spPr>
          <a:xfrm>
            <a:off x="640080" y="1078992"/>
            <a:ext cx="10908792" cy="384048"/>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La respuesta a la pregunta del trabajo</a:t>
            </a:r>
            <a:endParaRPr lang="en-US" sz="1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908792" cy="914400"/>
        </p:xfrm>
        <a:graphic>
          <a:graphicData uri="http://schemas.openxmlformats.org/drawingml/2006/table">
            <a:tbl>
              <a:tblPr/>
              <a:tblGrid>
                <a:gridCol w="32004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2862072">
                  <a:extLst>
                    <a:ext uri="{9D8B030D-6E8A-4147-A177-3AD203B41FA5}">
                      <a16:colId xmlns:a16="http://schemas.microsoft.com/office/drawing/2014/main" val="20003"/>
                    </a:ext>
                  </a:extLst>
                </a:gridCol>
              </a:tblGrid>
              <a:tr h="438912">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Grupo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Variables</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AUC del grupo solo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Pérdida al excluirlo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extLst>
                  <a:ext uri="{0D108BD9-81ED-4DB2-BD59-A6C34878D82A}">
                    <a16:rowId xmlns:a16="http://schemas.microsoft.com/office/drawing/2014/main" val="10000"/>
                  </a:ext>
                </a:extLst>
              </a:tr>
              <a:tr h="438912">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Ejecución</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0.6465</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0.0449</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Financiamiento y caja</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0.6420</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0.0470</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2"/>
                  </a:ext>
                </a:extLst>
              </a:tr>
              <a:tr h="438912">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Circunstancia y azar</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0.5974</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0.0187</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438912">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Equipo fundador</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0.5702</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0.0112</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4"/>
                  </a:ext>
                </a:extLst>
              </a:tr>
              <a:tr h="438912">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Perfil del fundador</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0.5430</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0.0039</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r h="438912">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Contexto sectorial</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0.5347</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0.0030</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6"/>
                  </a:ext>
                </a:extLst>
              </a:tr>
            </a:tbl>
          </a:graphicData>
        </a:graphic>
      </p:graphicFrame>
      <p:sp>
        <p:nvSpPr>
          <p:cNvPr id="5" name="Text 2"/>
          <p:cNvSpPr txBox="1"/>
          <p:nvPr/>
        </p:nvSpPr>
        <p:spPr>
          <a:xfrm>
            <a:off x="640080" y="6080760"/>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El modelo con las 17 variables alcanza un AUC de 0.7422. Un valor de 0.50 en la tercera columna equivale a ausencia de capacidad predictiva.</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Figura 7 · Aporte predictivo por grupo de variables</a:t>
            </a:r>
            <a:endParaRPr lang="en-US" sz="3000" dirty="0"/>
          </a:p>
        </p:txBody>
      </p:sp>
      <p:pic>
        <p:nvPicPr>
          <p:cNvPr id="3" name="Image 0" descr="docs/figuras/07_aporte_por_grupo.png"/>
          <p:cNvPicPr>
            <a:picLocks noChangeAspect="1"/>
          </p:cNvPicPr>
          <p:nvPr/>
        </p:nvPicPr>
        <p:blipFill>
          <a:blip r:embed="rId3"/>
          <a:stretch>
            <a:fillRect/>
          </a:stretch>
        </p:blipFill>
        <p:spPr>
          <a:xfrm>
            <a:off x="2253996" y="1554480"/>
            <a:ext cx="7680960" cy="4334628"/>
          </a:xfrm>
          <a:prstGeom prst="rect">
            <a:avLst/>
          </a:prstGeom>
        </p:spPr>
      </p:pic>
      <p:sp>
        <p:nvSpPr>
          <p:cNvPr id="4" name="Text 1"/>
          <p:cNvSpPr txBox="1"/>
          <p:nvPr/>
        </p:nvSpPr>
        <p:spPr>
          <a:xfrm>
            <a:off x="640080" y="6080760"/>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Área bajo la curva de un modelo entrenado únicamente con las variables de cada grupo. La línea discontinua en 0.50 indica ausencia de capacidad predictiva.</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33302B"/>
        </a:solidFill>
        <a:effectLst/>
      </p:bgPr>
    </p:bg>
    <p:spTree>
      <p:nvGrpSpPr>
        <p:cNvPr id="1" name=""/>
        <p:cNvGrpSpPr/>
        <p:nvPr/>
      </p:nvGrpSpPr>
      <p:grpSpPr>
        <a:xfrm>
          <a:off x="0" y="0"/>
          <a:ext cx="0" cy="0"/>
          <a:chOff x="0" y="0"/>
          <a:chExt cx="0" cy="0"/>
        </a:xfrm>
      </p:grpSpPr>
      <p:sp>
        <p:nvSpPr>
          <p:cNvPr id="2" name="Shape 0"/>
          <p:cNvSpPr/>
          <p:nvPr/>
        </p:nvSpPr>
        <p:spPr>
          <a:xfrm>
            <a:off x="-1097280" y="4937760"/>
            <a:ext cx="3108960" cy="3108960"/>
          </a:xfrm>
          <a:prstGeom prst="ellipse">
            <a:avLst/>
          </a:prstGeom>
          <a:solidFill>
            <a:srgbClr val="B85042"/>
          </a:solidFill>
          <a:ln w="12700">
            <a:solidFill>
              <a:srgbClr val="B85042"/>
            </a:solidFill>
            <a:prstDash val="solid"/>
          </a:ln>
        </p:spPr>
      </p:sp>
      <p:sp>
        <p:nvSpPr>
          <p:cNvPr id="3" name="Text 1"/>
          <p:cNvSpPr txBox="1"/>
          <p:nvPr/>
        </p:nvSpPr>
        <p:spPr>
          <a:xfrm>
            <a:off x="640080" y="731520"/>
            <a:ext cx="10908792" cy="548640"/>
          </a:xfrm>
          <a:prstGeom prst="rect">
            <a:avLst/>
          </a:prstGeom>
          <a:noFill/>
          <a:ln/>
        </p:spPr>
        <p:txBody>
          <a:bodyPr wrap="square" lIns="0" tIns="0" rIns="0" bIns="0" rtlCol="0" anchor="ctr"/>
          <a:lstStyle/>
          <a:p>
            <a:pPr marL="0" indent="0">
              <a:buNone/>
            </a:pPr>
            <a:r>
              <a:rPr lang="en-US" sz="1500" kern="0" spc="100" dirty="0">
                <a:solidFill>
                  <a:srgbClr val="E7E8D1"/>
                </a:solidFill>
                <a:latin typeface="Calibri" pitchFamily="34" charset="0"/>
                <a:ea typeface="Calibri" pitchFamily="34" charset="-122"/>
                <a:cs typeface="Calibri" pitchFamily="34" charset="-120"/>
              </a:rPr>
              <a:t>Qué características anticipan la supervivencia</a:t>
            </a:r>
            <a:endParaRPr lang="en-US" sz="1500" dirty="0"/>
          </a:p>
        </p:txBody>
      </p:sp>
      <p:sp>
        <p:nvSpPr>
          <p:cNvPr id="4" name="Text 2"/>
          <p:cNvSpPr txBox="1"/>
          <p:nvPr/>
        </p:nvSpPr>
        <p:spPr>
          <a:xfrm>
            <a:off x="640080" y="1371600"/>
            <a:ext cx="10058400" cy="1371600"/>
          </a:xfrm>
          <a:prstGeom prst="rect">
            <a:avLst/>
          </a:prstGeom>
          <a:noFill/>
          <a:ln/>
        </p:spPr>
        <p:txBody>
          <a:bodyPr wrap="square" lIns="0" tIns="0" rIns="0" bIns="0" rtlCol="0" anchor="ctr"/>
          <a:lstStyle/>
          <a:p>
            <a:pPr marL="0" indent="0">
              <a:lnSpc>
                <a:spcPts val="4200"/>
              </a:lnSpc>
              <a:buNone/>
            </a:pPr>
            <a:r>
              <a:rPr lang="en-US" sz="3400" b="1" dirty="0">
                <a:solidFill>
                  <a:srgbClr val="FFFFFF"/>
                </a:solidFill>
                <a:latin typeface="Cambria" pitchFamily="34" charset="0"/>
                <a:ea typeface="Cambria" pitchFamily="34" charset="-122"/>
                <a:cs typeface="Cambria" pitchFamily="34" charset="-120"/>
              </a:rPr>
              <a:t>Lo que el emprendimiento hace pesa más que quién lo dirige</a:t>
            </a:r>
            <a:endParaRPr lang="en-US" sz="3400" dirty="0"/>
          </a:p>
        </p:txBody>
      </p:sp>
      <p:sp>
        <p:nvSpPr>
          <p:cNvPr id="5" name="Shape 3"/>
          <p:cNvSpPr/>
          <p:nvPr/>
        </p:nvSpPr>
        <p:spPr>
          <a:xfrm>
            <a:off x="2834640" y="3063240"/>
            <a:ext cx="201168" cy="201168"/>
          </a:xfrm>
          <a:prstGeom prst="ellipse">
            <a:avLst/>
          </a:prstGeom>
          <a:solidFill>
            <a:srgbClr val="B85042"/>
          </a:solidFill>
          <a:ln w="12700">
            <a:solidFill>
              <a:srgbClr val="B85042"/>
            </a:solidFill>
            <a:prstDash val="solid"/>
          </a:ln>
        </p:spPr>
      </p:sp>
      <p:sp>
        <p:nvSpPr>
          <p:cNvPr id="6" name="Text 4"/>
          <p:cNvSpPr txBox="1"/>
          <p:nvPr/>
        </p:nvSpPr>
        <p:spPr>
          <a:xfrm>
            <a:off x="3200400" y="3017520"/>
            <a:ext cx="822960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Ejecución y capital mandan</a:t>
            </a:r>
            <a:endParaRPr lang="en-US" sz="1600" dirty="0"/>
          </a:p>
        </p:txBody>
      </p:sp>
      <p:sp>
        <p:nvSpPr>
          <p:cNvPr id="7" name="Text 5"/>
          <p:cNvSpPr txBox="1"/>
          <p:nvPr/>
        </p:nvSpPr>
        <p:spPr>
          <a:xfrm>
            <a:off x="3200400" y="3364992"/>
            <a:ext cx="8229600" cy="685800"/>
          </a:xfrm>
          <a:prstGeom prst="rect">
            <a:avLst/>
          </a:prstGeom>
          <a:noFill/>
          <a:ln/>
        </p:spPr>
        <p:txBody>
          <a:bodyPr wrap="square" lIns="0" tIns="0" rIns="0" bIns="0" rtlCol="0" anchor="ctr"/>
          <a:lstStyle/>
          <a:p>
            <a:pPr marL="0" indent="0">
              <a:lnSpc>
                <a:spcPts val="1600"/>
              </a:lnSpc>
              <a:buNone/>
            </a:pPr>
            <a:r>
              <a:rPr lang="en-US" sz="1250" dirty="0">
                <a:solidFill>
                  <a:srgbClr val="E7E8D1"/>
                </a:solidFill>
                <a:latin typeface="Calibri" pitchFamily="34" charset="0"/>
                <a:ea typeface="Calibri" pitchFamily="34" charset="-122"/>
                <a:cs typeface="Calibri" pitchFamily="34" charset="-120"/>
              </a:rPr>
              <a:t>Son los grupos de mayor aporte, tanto en capacidad predictiva propia como en informacion no redundante.</a:t>
            </a:r>
            <a:endParaRPr lang="en-US" sz="1250" dirty="0"/>
          </a:p>
        </p:txBody>
      </p:sp>
      <p:sp>
        <p:nvSpPr>
          <p:cNvPr id="8" name="Shape 6"/>
          <p:cNvSpPr/>
          <p:nvPr/>
        </p:nvSpPr>
        <p:spPr>
          <a:xfrm>
            <a:off x="2834640" y="4206240"/>
            <a:ext cx="201168" cy="201168"/>
          </a:xfrm>
          <a:prstGeom prst="ellipse">
            <a:avLst/>
          </a:prstGeom>
          <a:solidFill>
            <a:srgbClr val="B85042"/>
          </a:solidFill>
          <a:ln w="12700">
            <a:solidFill>
              <a:srgbClr val="B85042"/>
            </a:solidFill>
            <a:prstDash val="solid"/>
          </a:ln>
        </p:spPr>
      </p:sp>
      <p:sp>
        <p:nvSpPr>
          <p:cNvPr id="9" name="Text 7"/>
          <p:cNvSpPr txBox="1"/>
          <p:nvPr/>
        </p:nvSpPr>
        <p:spPr>
          <a:xfrm>
            <a:off x="3200400" y="4160520"/>
            <a:ext cx="822960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El perfil del fundador es prescindible</a:t>
            </a:r>
            <a:endParaRPr lang="en-US" sz="1600" dirty="0"/>
          </a:p>
        </p:txBody>
      </p:sp>
      <p:sp>
        <p:nvSpPr>
          <p:cNvPr id="10" name="Text 8"/>
          <p:cNvSpPr txBox="1"/>
          <p:nvPr/>
        </p:nvSpPr>
        <p:spPr>
          <a:xfrm>
            <a:off x="3200400" y="4507992"/>
            <a:ext cx="8229600" cy="685800"/>
          </a:xfrm>
          <a:prstGeom prst="rect">
            <a:avLst/>
          </a:prstGeom>
          <a:noFill/>
          <a:ln/>
        </p:spPr>
        <p:txBody>
          <a:bodyPr wrap="square" lIns="0" tIns="0" rIns="0" bIns="0" rtlCol="0" anchor="ctr"/>
          <a:lstStyle/>
          <a:p>
            <a:pPr marL="0" indent="0">
              <a:lnSpc>
                <a:spcPts val="1600"/>
              </a:lnSpc>
              <a:buNone/>
            </a:pPr>
            <a:r>
              <a:rPr lang="en-US" sz="1250" dirty="0">
                <a:solidFill>
                  <a:srgbClr val="E7E8D1"/>
                </a:solidFill>
                <a:latin typeface="Calibri" pitchFamily="34" charset="0"/>
                <a:ea typeface="Calibri" pitchFamily="34" charset="-122"/>
                <a:cs typeface="Calibri" pitchFamily="34" charset="-120"/>
              </a:rPr>
              <a:t>Sacarlo por completo baja el AUC en 0.0039. El azar del clima macroeconomico (0.5974) predice mejor por si solo que la trayectoria del fundador (0.5430).</a:t>
            </a:r>
            <a:endParaRPr lang="en-US" sz="1250" dirty="0"/>
          </a:p>
        </p:txBody>
      </p:sp>
      <p:sp>
        <p:nvSpPr>
          <p:cNvPr id="11" name="Shape 9"/>
          <p:cNvSpPr/>
          <p:nvPr/>
        </p:nvSpPr>
        <p:spPr>
          <a:xfrm>
            <a:off x="2834640" y="5349240"/>
            <a:ext cx="201168" cy="201168"/>
          </a:xfrm>
          <a:prstGeom prst="ellipse">
            <a:avLst/>
          </a:prstGeom>
          <a:solidFill>
            <a:srgbClr val="B85042"/>
          </a:solidFill>
          <a:ln w="12700">
            <a:solidFill>
              <a:srgbClr val="B85042"/>
            </a:solidFill>
            <a:prstDash val="solid"/>
          </a:ln>
        </p:spPr>
      </p:sp>
      <p:sp>
        <p:nvSpPr>
          <p:cNvPr id="12" name="Text 10"/>
          <p:cNvSpPr txBox="1"/>
          <p:nvPr/>
        </p:nvSpPr>
        <p:spPr>
          <a:xfrm>
            <a:off x="3200400" y="5303520"/>
            <a:ext cx="822960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El sector casi no importa</a:t>
            </a:r>
            <a:endParaRPr lang="en-US" sz="1600" dirty="0"/>
          </a:p>
        </p:txBody>
      </p:sp>
      <p:sp>
        <p:nvSpPr>
          <p:cNvPr id="13" name="Text 11"/>
          <p:cNvSpPr txBox="1"/>
          <p:nvPr/>
        </p:nvSpPr>
        <p:spPr>
          <a:xfrm>
            <a:off x="3200400" y="5650992"/>
            <a:ext cx="8229600" cy="685800"/>
          </a:xfrm>
          <a:prstGeom prst="rect">
            <a:avLst/>
          </a:prstGeom>
          <a:noFill/>
          <a:ln/>
        </p:spPr>
        <p:txBody>
          <a:bodyPr wrap="square" lIns="0" tIns="0" rIns="0" bIns="0" rtlCol="0" anchor="ctr"/>
          <a:lstStyle/>
          <a:p>
            <a:pPr marL="0" indent="0">
              <a:lnSpc>
                <a:spcPts val="1600"/>
              </a:lnSpc>
              <a:buNone/>
            </a:pPr>
            <a:r>
              <a:rPr lang="en-US" sz="1250" dirty="0">
                <a:solidFill>
                  <a:srgbClr val="E7E8D1"/>
                </a:solidFill>
                <a:latin typeface="Calibri" pitchFamily="34" charset="0"/>
                <a:ea typeface="Calibri" pitchFamily="34" charset="-122"/>
                <a:cs typeface="Calibri" pitchFamily="34" charset="-120"/>
              </a:rPr>
              <a:t>Aporta 0.0030. Las causas de fracaso operan de forma transversal a las industrias.</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Construcción de la aplicación · Arquitectura</a:t>
            </a:r>
            <a:endParaRPr lang="en-US" sz="3000" dirty="0"/>
          </a:p>
        </p:txBody>
      </p:sp>
      <p:sp>
        <p:nvSpPr>
          <p:cNvPr id="3" name="Text 1"/>
          <p:cNvSpPr txBox="1"/>
          <p:nvPr/>
        </p:nvSpPr>
        <p:spPr>
          <a:xfrm>
            <a:off x="640080" y="1078992"/>
            <a:ext cx="10908792" cy="384048"/>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Tres capas independientes</a:t>
            </a:r>
            <a:endParaRPr lang="en-US" sz="1400" dirty="0"/>
          </a:p>
        </p:txBody>
      </p:sp>
      <p:sp>
        <p:nvSpPr>
          <p:cNvPr id="4" name="Shape 2"/>
          <p:cNvSpPr/>
          <p:nvPr/>
        </p:nvSpPr>
        <p:spPr>
          <a:xfrm>
            <a:off x="640080" y="1783080"/>
            <a:ext cx="3544824" cy="2103120"/>
          </a:xfrm>
          <a:prstGeom prst="roundRect">
            <a:avLst>
              <a:gd name="adj" fmla="val 3478"/>
            </a:avLst>
          </a:prstGeom>
          <a:solidFill>
            <a:srgbClr val="E7E8D1"/>
          </a:solidFill>
          <a:ln w="12700">
            <a:solidFill>
              <a:srgbClr val="E7E8D1"/>
            </a:solidFill>
            <a:prstDash val="solid"/>
          </a:ln>
        </p:spPr>
      </p:sp>
      <p:sp>
        <p:nvSpPr>
          <p:cNvPr id="5" name="Text 3"/>
          <p:cNvSpPr txBox="1"/>
          <p:nvPr/>
        </p:nvSpPr>
        <p:spPr>
          <a:xfrm>
            <a:off x="868680" y="1947672"/>
            <a:ext cx="3087624" cy="310896"/>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Capa de machine learning</a:t>
            </a:r>
            <a:endParaRPr lang="en-US" sz="1400" dirty="0"/>
          </a:p>
        </p:txBody>
      </p:sp>
      <p:sp>
        <p:nvSpPr>
          <p:cNvPr id="6" name="Text 4"/>
          <p:cNvSpPr txBox="1"/>
          <p:nvPr/>
        </p:nvSpPr>
        <p:spPr>
          <a:xfrm>
            <a:off x="868680" y="2295144"/>
            <a:ext cx="3087624" cy="1426464"/>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config.py, datos.py y train.py. Concentra la configuracion, la carga de datos y el entrenamiento, y produce un artefacto serializado.</a:t>
            </a:r>
            <a:endParaRPr lang="en-US" sz="1250" dirty="0"/>
          </a:p>
        </p:txBody>
      </p:sp>
      <p:sp>
        <p:nvSpPr>
          <p:cNvPr id="7" name="Shape 5"/>
          <p:cNvSpPr/>
          <p:nvPr/>
        </p:nvSpPr>
        <p:spPr>
          <a:xfrm>
            <a:off x="4322064" y="1783080"/>
            <a:ext cx="3544824" cy="2103120"/>
          </a:xfrm>
          <a:prstGeom prst="roundRect">
            <a:avLst>
              <a:gd name="adj" fmla="val 3478"/>
            </a:avLst>
          </a:prstGeom>
          <a:solidFill>
            <a:srgbClr val="E7E8D1"/>
          </a:solidFill>
          <a:ln w="12700">
            <a:solidFill>
              <a:srgbClr val="E7E8D1"/>
            </a:solidFill>
            <a:prstDash val="solid"/>
          </a:ln>
        </p:spPr>
      </p:sp>
      <p:sp>
        <p:nvSpPr>
          <p:cNvPr id="8" name="Text 6"/>
          <p:cNvSpPr txBox="1"/>
          <p:nvPr/>
        </p:nvSpPr>
        <p:spPr>
          <a:xfrm>
            <a:off x="4550664" y="1947672"/>
            <a:ext cx="3087624" cy="310896"/>
          </a:xfrm>
          <a:prstGeom prst="rect">
            <a:avLst/>
          </a:prstGeom>
          <a:noFill/>
          <a:ln/>
        </p:spPr>
        <p:txBody>
          <a:bodyPr wrap="square" lIns="0" tIns="0" rIns="0" bIns="0" rtlCol="0" anchor="ctr"/>
          <a:lstStyle/>
          <a:p>
            <a:pPr marL="0" indent="0">
              <a:buNone/>
            </a:pPr>
            <a:r>
              <a:rPr lang="en-US" sz="1400" b="1" dirty="0">
                <a:solidFill>
                  <a:srgbClr val="5F7F6E"/>
                </a:solidFill>
                <a:latin typeface="Calibri" pitchFamily="34" charset="0"/>
                <a:ea typeface="Calibri" pitchFamily="34" charset="-122"/>
                <a:cs typeface="Calibri" pitchFamily="34" charset="-120"/>
              </a:rPr>
              <a:t>Capa de aplicación</a:t>
            </a:r>
            <a:endParaRPr lang="en-US" sz="1400" dirty="0"/>
          </a:p>
        </p:txBody>
      </p:sp>
      <p:sp>
        <p:nvSpPr>
          <p:cNvPr id="9" name="Text 7"/>
          <p:cNvSpPr txBox="1"/>
          <p:nvPr/>
        </p:nvSpPr>
        <p:spPr>
          <a:xfrm>
            <a:off x="4550664" y="2295144"/>
            <a:ext cx="3087624" cy="1426464"/>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FastAPI carga ese artefacto en memoria al iniciar el servicio y expone la API. Pydantic valida cada peticion.</a:t>
            </a:r>
            <a:endParaRPr lang="en-US" sz="1250" dirty="0"/>
          </a:p>
        </p:txBody>
      </p:sp>
      <p:sp>
        <p:nvSpPr>
          <p:cNvPr id="10" name="Shape 8"/>
          <p:cNvSpPr/>
          <p:nvPr/>
        </p:nvSpPr>
        <p:spPr>
          <a:xfrm>
            <a:off x="8004048" y="1783080"/>
            <a:ext cx="3544824" cy="2103120"/>
          </a:xfrm>
          <a:prstGeom prst="roundRect">
            <a:avLst>
              <a:gd name="adj" fmla="val 3478"/>
            </a:avLst>
          </a:prstGeom>
          <a:solidFill>
            <a:srgbClr val="E7E8D1"/>
          </a:solidFill>
          <a:ln w="12700">
            <a:solidFill>
              <a:srgbClr val="E7E8D1"/>
            </a:solidFill>
            <a:prstDash val="solid"/>
          </a:ln>
        </p:spPr>
      </p:sp>
      <p:sp>
        <p:nvSpPr>
          <p:cNvPr id="11" name="Text 9"/>
          <p:cNvSpPr txBox="1"/>
          <p:nvPr/>
        </p:nvSpPr>
        <p:spPr>
          <a:xfrm>
            <a:off x="8232648" y="1947672"/>
            <a:ext cx="3087624" cy="310896"/>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Capa de presentación</a:t>
            </a:r>
            <a:endParaRPr lang="en-US" sz="1400" dirty="0"/>
          </a:p>
        </p:txBody>
      </p:sp>
      <p:sp>
        <p:nvSpPr>
          <p:cNvPr id="12" name="Text 10"/>
          <p:cNvSpPr txBox="1"/>
          <p:nvPr/>
        </p:nvSpPr>
        <p:spPr>
          <a:xfrm>
            <a:off x="8232648" y="2295144"/>
            <a:ext cx="3087624" cy="1426464"/>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Dos paginas web con Jinja2 que consumen la misma API. Se construyen solas a partir de los metadatos del artefacto.</a:t>
            </a:r>
            <a:endParaRPr lang="en-US" sz="1250" dirty="0"/>
          </a:p>
        </p:txBody>
      </p:sp>
      <p:sp>
        <p:nvSpPr>
          <p:cNvPr id="13" name="Text 11"/>
          <p:cNvSpPr txBox="1"/>
          <p:nvPr/>
        </p:nvSpPr>
        <p:spPr>
          <a:xfrm>
            <a:off x="640080" y="4160520"/>
            <a:ext cx="10908792" cy="1737360"/>
          </a:xfrm>
          <a:prstGeom prst="rect">
            <a:avLst/>
          </a:prstGeom>
          <a:noFill/>
          <a:ln/>
        </p:spPr>
        <p:txBody>
          <a:bodyPr wrap="square" lIns="0" tIns="0" rIns="0" bIns="0" rtlCol="0" anchor="ctr"/>
          <a:lstStyle/>
          <a:p>
            <a:pPr marL="342900" indent="-342900">
              <a:lnSpc>
                <a:spcPts val="2200"/>
              </a:lnSpc>
              <a:spcAft>
                <a:spcPts val="1000"/>
              </a:spcAft>
              <a:buSzPct val="100000"/>
              <a:buChar char="•"/>
            </a:pPr>
            <a:r>
              <a:rPr lang="en-US" sz="1500" dirty="0">
                <a:solidFill>
                  <a:srgbClr val="3A3A38"/>
                </a:solidFill>
                <a:latin typeface="Calibri" pitchFamily="34" charset="0"/>
                <a:ea typeface="Calibri" pitchFamily="34" charset="-122"/>
                <a:cs typeface="Calibri" pitchFamily="34" charset="-120"/>
              </a:rPr>
              <a:t>La separación responde a mantenibilidad: reentrenar el modelo no exige modificar la aplicación, y sustituir el artefacto no requiere reescribir código.</a:t>
            </a:r>
            <a:endParaRPr lang="en-US" sz="1500" dirty="0"/>
          </a:p>
          <a:p>
            <a:pPr marL="342900" indent="-342900">
              <a:lnSpc>
                <a:spcPts val="2200"/>
              </a:lnSpc>
              <a:spcAft>
                <a:spcPts val="1000"/>
              </a:spcAft>
              <a:buSzPct val="100000"/>
              <a:buChar char="•"/>
            </a:pPr>
            <a:r>
              <a:rPr lang="en-US" sz="1500" dirty="0">
                <a:solidFill>
                  <a:srgbClr val="3A3A38"/>
                </a:solidFill>
                <a:latin typeface="Calibri" pitchFamily="34" charset="0"/>
                <a:ea typeface="Calibri" pitchFamily="34" charset="-122"/>
                <a:cs typeface="Calibri" pitchFamily="34" charset="-120"/>
              </a:rPr>
              <a:t>El artefacto guarda, junto al modelo, los metadatos que permiten que las interfaces se construyan solas: valores admisibles de cada campo, rangos numéricos, umbral de decisión, versión y métricas.</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Dos interfaces para dos usuarios</a:t>
            </a:r>
            <a:endParaRPr lang="en-US" sz="3000" dirty="0"/>
          </a:p>
        </p:txBody>
      </p:sp>
      <p:sp>
        <p:nvSpPr>
          <p:cNvPr id="3" name="Text 1"/>
          <p:cNvSpPr txBox="1"/>
          <p:nvPr/>
        </p:nvSpPr>
        <p:spPr>
          <a:xfrm>
            <a:off x="640080" y="1078992"/>
            <a:ext cx="10908792" cy="384048"/>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Un emprendedor no sabe su puntaje de encaje producto-mercado de 0 a 10</a:t>
            </a:r>
            <a:endParaRPr lang="en-US" sz="1400" dirty="0"/>
          </a:p>
        </p:txBody>
      </p:sp>
      <p:sp>
        <p:nvSpPr>
          <p:cNvPr id="4" name="Shape 2"/>
          <p:cNvSpPr/>
          <p:nvPr/>
        </p:nvSpPr>
        <p:spPr>
          <a:xfrm>
            <a:off x="640080" y="1828800"/>
            <a:ext cx="5317236" cy="2194560"/>
          </a:xfrm>
          <a:prstGeom prst="roundRect">
            <a:avLst>
              <a:gd name="adj" fmla="val 3333"/>
            </a:avLst>
          </a:prstGeom>
          <a:solidFill>
            <a:srgbClr val="E7E8D1"/>
          </a:solidFill>
          <a:ln w="12700">
            <a:solidFill>
              <a:srgbClr val="E7E8D1"/>
            </a:solidFill>
            <a:prstDash val="solid"/>
          </a:ln>
        </p:spPr>
      </p:sp>
      <p:sp>
        <p:nvSpPr>
          <p:cNvPr id="5" name="Text 3"/>
          <p:cNvSpPr txBox="1"/>
          <p:nvPr/>
        </p:nvSpPr>
        <p:spPr>
          <a:xfrm>
            <a:off x="868680" y="1993392"/>
            <a:ext cx="4860036" cy="310896"/>
          </a:xfrm>
          <a:prstGeom prst="rect">
            <a:avLst/>
          </a:prstGeom>
          <a:noFill/>
          <a:ln/>
        </p:spPr>
        <p:txBody>
          <a:bodyPr wrap="square" lIns="0" tIns="0" rIns="0" bIns="0" rtlCol="0" anchor="ctr"/>
          <a:lstStyle/>
          <a:p>
            <a:pPr marL="0" indent="0">
              <a:buNone/>
            </a:pPr>
            <a:r>
              <a:rPr lang="en-US" sz="1400" b="1" dirty="0">
                <a:solidFill>
                  <a:srgbClr val="5F7F6E"/>
                </a:solidFill>
                <a:latin typeface="Calibri" pitchFamily="34" charset="0"/>
                <a:ea typeface="Calibri" pitchFamily="34" charset="-122"/>
                <a:cs typeface="Calibri" pitchFamily="34" charset="-120"/>
              </a:rPr>
              <a:t>Cuestionario  ·  ruta /</a:t>
            </a:r>
            <a:endParaRPr lang="en-US" sz="1400" dirty="0"/>
          </a:p>
        </p:txBody>
      </p:sp>
      <p:sp>
        <p:nvSpPr>
          <p:cNvPr id="6" name="Text 4"/>
          <p:cNvSpPr txBox="1"/>
          <p:nvPr/>
        </p:nvSpPr>
        <p:spPr>
          <a:xfrm>
            <a:off x="868680" y="2340864"/>
            <a:ext cx="4860036" cy="1517904"/>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Catorce preguntas en lenguaje llano: si tiene clientes que pagan, con que frecuencia hay desacuerdos entre socios, cuanto dinero dispone y cuanto gasta al mes. La capa de traduccion las convierte en las 17 variables del modelo.</a:t>
            </a:r>
            <a:endParaRPr lang="en-US" sz="1250" dirty="0"/>
          </a:p>
        </p:txBody>
      </p:sp>
      <p:sp>
        <p:nvSpPr>
          <p:cNvPr id="7" name="Shape 5"/>
          <p:cNvSpPr/>
          <p:nvPr/>
        </p:nvSpPr>
        <p:spPr>
          <a:xfrm>
            <a:off x="6231636" y="1828800"/>
            <a:ext cx="5317236" cy="2194560"/>
          </a:xfrm>
          <a:prstGeom prst="roundRect">
            <a:avLst>
              <a:gd name="adj" fmla="val 3333"/>
            </a:avLst>
          </a:prstGeom>
          <a:solidFill>
            <a:srgbClr val="E7E8D1"/>
          </a:solidFill>
          <a:ln w="12700">
            <a:solidFill>
              <a:srgbClr val="E7E8D1"/>
            </a:solidFill>
            <a:prstDash val="solid"/>
          </a:ln>
        </p:spPr>
      </p:sp>
      <p:sp>
        <p:nvSpPr>
          <p:cNvPr id="8" name="Text 6"/>
          <p:cNvSpPr txBox="1"/>
          <p:nvPr/>
        </p:nvSpPr>
        <p:spPr>
          <a:xfrm>
            <a:off x="6460236" y="1993392"/>
            <a:ext cx="4860036" cy="310896"/>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Vista experta  ·  ruta /expert</a:t>
            </a:r>
            <a:endParaRPr lang="en-US" sz="1400" dirty="0"/>
          </a:p>
        </p:txBody>
      </p:sp>
      <p:sp>
        <p:nvSpPr>
          <p:cNvPr id="9" name="Text 7"/>
          <p:cNvSpPr txBox="1"/>
          <p:nvPr/>
        </p:nvSpPr>
        <p:spPr>
          <a:xfrm>
            <a:off x="6460236" y="2340864"/>
            <a:ext cx="4860036" cy="1517904"/>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Ingreso directo de los 17 valores numericos, para analistas que ya los tienen. Es la misma API por debajo, asi que las dos vias dan exactamente el mismo resultado.</a:t>
            </a:r>
            <a:endParaRPr lang="en-US" sz="1250" dirty="0"/>
          </a:p>
        </p:txBody>
      </p:sp>
      <p:sp>
        <p:nvSpPr>
          <p:cNvPr id="10" name="Text 8"/>
          <p:cNvSpPr txBox="1"/>
          <p:nvPr/>
        </p:nvSpPr>
        <p:spPr>
          <a:xfrm>
            <a:off x="640080" y="4251960"/>
            <a:ext cx="10908792" cy="2011680"/>
          </a:xfrm>
          <a:prstGeom prst="rect">
            <a:avLst/>
          </a:prstGeom>
          <a:noFill/>
          <a:ln/>
        </p:spPr>
        <p:txBody>
          <a:bodyPr wrap="square" lIns="0" tIns="0" rIns="0" bIns="0" rtlCol="0" anchor="ctr"/>
          <a:lstStyle/>
          <a:p>
            <a:pPr marL="342900" indent="-342900">
              <a:lnSpc>
                <a:spcPts val="2200"/>
              </a:lnSpc>
              <a:spcAft>
                <a:spcPts val="1000"/>
              </a:spcAft>
              <a:buSzPct val="100000"/>
              <a:buChar char="•"/>
            </a:pPr>
            <a:r>
              <a:rPr lang="en-US" sz="1300" dirty="0">
                <a:solidFill>
                  <a:srgbClr val="3A3A38"/>
                </a:solidFill>
                <a:latin typeface="Calibri" pitchFamily="34" charset="0"/>
                <a:ea typeface="Calibri" pitchFamily="34" charset="-122"/>
                <a:cs typeface="Calibri" pitchFamily="34" charset="-120"/>
              </a:rPr>
              <a:t>Los valores no son arbitrarios: cada pregunta de cuatro alternativas ubica al emprendimiento en un cuartil de la distribución observada, y se asigna el punto medio de ese cuartil. En encaje producto-mercado el cuartil inferior es 1.9 y el superior 7.3.</a:t>
            </a:r>
            <a:endParaRPr lang="en-US" sz="1300" dirty="0"/>
          </a:p>
          <a:p>
            <a:pPr marL="342900" indent="-342900">
              <a:lnSpc>
                <a:spcPts val="2200"/>
              </a:lnSpc>
              <a:spcAft>
                <a:spcPts val="1000"/>
              </a:spcAft>
              <a:buSzPct val="100000"/>
              <a:buChar char="•"/>
            </a:pPr>
            <a:r>
              <a:rPr lang="en-US" sz="1300" dirty="0">
                <a:solidFill>
                  <a:srgbClr val="3A3A38"/>
                </a:solidFill>
                <a:latin typeface="Calibri" pitchFamily="34" charset="0"/>
                <a:ea typeface="Calibri" pitchFamily="34" charset="-122"/>
                <a:cs typeface="Calibri" pitchFamily="34" charset="-120"/>
              </a:rPr>
              <a:t>Los meses de caja no se preguntan, se calculan dividiendo el efectivo disponible entre el gasto mensual, dos cifras que el emprendedor sí conoce.</a:t>
            </a:r>
            <a:endParaRPr lang="en-US" sz="1300" dirty="0"/>
          </a:p>
          <a:p>
            <a:pPr marL="342900" indent="-342900">
              <a:lnSpc>
                <a:spcPts val="2200"/>
              </a:lnSpc>
              <a:spcAft>
                <a:spcPts val="1000"/>
              </a:spcAft>
              <a:buSzPct val="100000"/>
              <a:buChar char="•"/>
            </a:pPr>
            <a:r>
              <a:rPr lang="en-US" sz="1300" dirty="0">
                <a:solidFill>
                  <a:srgbClr val="3A3A38"/>
                </a:solidFill>
                <a:latin typeface="Calibri" pitchFamily="34" charset="0"/>
                <a:ea typeface="Calibri" pitchFamily="34" charset="-122"/>
                <a:cs typeface="Calibri" pitchFamily="34" charset="-120"/>
              </a:rPr>
              <a:t>La traducción es una regla de negocio documentada, no algo aprendido por el modelo. La respuesta devuelve las 17 variables derivadas para que el usuario pueda auditarlas.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2600" b="1" dirty="0">
                <a:solidFill>
                  <a:srgbClr val="33302B"/>
                </a:solidFill>
                <a:latin typeface="Cambria" pitchFamily="34" charset="0"/>
                <a:ea typeface="Cambria" pitchFamily="34" charset="-122"/>
                <a:cs typeface="Cambria" pitchFamily="34" charset="-120"/>
              </a:rPr>
              <a:t>Tabla 9 · Puntos de acceso de la interfaz de programación</a:t>
            </a:r>
            <a:endParaRPr lang="en-US" sz="2600" dirty="0"/>
          </a:p>
        </p:txBody>
      </p:sp>
      <p:sp>
        <p:nvSpPr>
          <p:cNvPr id="3" name="Text 1"/>
          <p:cNvSpPr txBox="1"/>
          <p:nvPr/>
        </p:nvSpPr>
        <p:spPr>
          <a:xfrm>
            <a:off x="640080" y="1078992"/>
            <a:ext cx="10908792" cy="384048"/>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Documentados según la especificación OpenAPI</a:t>
            </a:r>
            <a:endParaRPr lang="en-US" sz="14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914400"/>
        </p:xfrm>
        <a:graphic>
          <a:graphicData uri="http://schemas.openxmlformats.org/drawingml/2006/table">
            <a:tbl>
              <a:tblPr/>
              <a:tblGrid>
                <a:gridCol w="3200400">
                  <a:extLst>
                    <a:ext uri="{9D8B030D-6E8A-4147-A177-3AD203B41FA5}">
                      <a16:colId xmlns:a16="http://schemas.microsoft.com/office/drawing/2014/main" val="20000"/>
                    </a:ext>
                  </a:extLst>
                </a:gridCol>
                <a:gridCol w="7708392">
                  <a:extLst>
                    <a:ext uri="{9D8B030D-6E8A-4147-A177-3AD203B41FA5}">
                      <a16:colId xmlns:a16="http://schemas.microsoft.com/office/drawing/2014/main" val="20001"/>
                    </a:ext>
                  </a:extLst>
                </a:gridCol>
              </a:tblGrid>
              <a:tr h="384048">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Método y ruta</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Función</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extLst>
                  <a:ext uri="{0D108BD9-81ED-4DB2-BD59-A6C34878D82A}">
                    <a16:rowId xmlns:a16="http://schemas.microsoft.com/office/drawing/2014/main" val="10000"/>
                  </a:ext>
                </a:extLst>
              </a:tr>
              <a:tr h="384048">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GET /</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Cuestionario en lenguaje llano para emprendedores</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GET /expert</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Interfaz técnica con las 17 variables numéricas</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2"/>
                  </a:ext>
                </a:extLst>
              </a:tr>
              <a:tr h="384048">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POST /assess</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Evalúa a partir de las respuestas del cuestionario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POST /predict</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Evalúa a partir de los valores numéricos directos</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4"/>
                  </a:ext>
                </a:extLst>
              </a:tr>
              <a:tr h="384048">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GET /questionnaire</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Definición de las preguntas y sus opciones</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GET /health</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Estado del servicio y del modelo cargado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6"/>
                  </a:ext>
                </a:extLst>
              </a:tr>
              <a:tr h="384048">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GET /model-info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Versión, hiperparámetros y métricas del modelo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7"/>
                  </a:ext>
                </a:extLst>
              </a:tr>
              <a:tr h="384048">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GET /feature-groups</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Resultado del estudio de aporte por grupo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8"/>
                  </a:ext>
                </a:extLst>
              </a:tr>
            </a:tbl>
          </a:graphicData>
        </a:graphic>
      </p:graphicFrame>
      <p:sp>
        <p:nvSpPr>
          <p:cNvPr id="5" name="Text 2"/>
          <p:cNvSpPr txBox="1"/>
          <p:nvPr/>
        </p:nvSpPr>
        <p:spPr>
          <a:xfrm>
            <a:off x="640080" y="6080760"/>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El punto de acceso /health es el que consulta el verificador de estado del contenedor. Toda la interfaz visible está en inglés, conforme a la rúbrica.</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Despliegue en producción</a:t>
            </a:r>
            <a:endParaRPr lang="en-US" sz="3000" dirty="0"/>
          </a:p>
        </p:txBody>
      </p:sp>
      <p:sp>
        <p:nvSpPr>
          <p:cNvPr id="3" name="Text 1"/>
          <p:cNvSpPr txBox="1"/>
          <p:nvPr/>
        </p:nvSpPr>
        <p:spPr>
          <a:xfrm>
            <a:off x="640080" y="1078992"/>
            <a:ext cx="10908792" cy="384048"/>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Imagen Docker sobre python:3.11-slim (Merkel, 2014)</a:t>
            </a:r>
            <a:endParaRPr lang="en-US" sz="1400" dirty="0"/>
          </a:p>
        </p:txBody>
      </p:sp>
      <p:sp>
        <p:nvSpPr>
          <p:cNvPr id="4" name="Shape 2"/>
          <p:cNvSpPr/>
          <p:nvPr/>
        </p:nvSpPr>
        <p:spPr>
          <a:xfrm>
            <a:off x="640080" y="1783080"/>
            <a:ext cx="3544824" cy="1828800"/>
          </a:xfrm>
          <a:prstGeom prst="roundRect">
            <a:avLst>
              <a:gd name="adj" fmla="val 4000"/>
            </a:avLst>
          </a:prstGeom>
          <a:solidFill>
            <a:srgbClr val="E7E8D1"/>
          </a:solidFill>
          <a:ln w="12700">
            <a:solidFill>
              <a:srgbClr val="E7E8D1"/>
            </a:solidFill>
            <a:prstDash val="solid"/>
          </a:ln>
        </p:spPr>
      </p:sp>
      <p:sp>
        <p:nvSpPr>
          <p:cNvPr id="5" name="Text 3"/>
          <p:cNvSpPr txBox="1"/>
          <p:nvPr/>
        </p:nvSpPr>
        <p:spPr>
          <a:xfrm>
            <a:off x="868680" y="1947672"/>
            <a:ext cx="3087624" cy="310896"/>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Dependencias primero</a:t>
            </a:r>
            <a:endParaRPr lang="en-US" sz="1400" dirty="0"/>
          </a:p>
        </p:txBody>
      </p:sp>
      <p:sp>
        <p:nvSpPr>
          <p:cNvPr id="6" name="Text 4"/>
          <p:cNvSpPr txBox="1"/>
          <p:nvPr/>
        </p:nvSpPr>
        <p:spPr>
          <a:xfrm>
            <a:off x="868680" y="2295144"/>
            <a:ext cx="3087624" cy="1152144"/>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Se instalan antes de copiar el codigo, asi un cambio de codigo no invalida la capa de dependencias en la memoria intermedia de construccion.</a:t>
            </a:r>
            <a:endParaRPr lang="en-US" sz="1250" dirty="0"/>
          </a:p>
        </p:txBody>
      </p:sp>
      <p:sp>
        <p:nvSpPr>
          <p:cNvPr id="7" name="Shape 5"/>
          <p:cNvSpPr/>
          <p:nvPr/>
        </p:nvSpPr>
        <p:spPr>
          <a:xfrm>
            <a:off x="4322064" y="1783080"/>
            <a:ext cx="3544824" cy="1828800"/>
          </a:xfrm>
          <a:prstGeom prst="roundRect">
            <a:avLst>
              <a:gd name="adj" fmla="val 4000"/>
            </a:avLst>
          </a:prstGeom>
          <a:solidFill>
            <a:srgbClr val="E7E8D1"/>
          </a:solidFill>
          <a:ln w="12700">
            <a:solidFill>
              <a:srgbClr val="E7E8D1"/>
            </a:solidFill>
            <a:prstDash val="solid"/>
          </a:ln>
        </p:spPr>
      </p:sp>
      <p:sp>
        <p:nvSpPr>
          <p:cNvPr id="8" name="Text 6"/>
          <p:cNvSpPr txBox="1"/>
          <p:nvPr/>
        </p:nvSpPr>
        <p:spPr>
          <a:xfrm>
            <a:off x="4550664" y="1947672"/>
            <a:ext cx="3087624" cy="310896"/>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Usuario sin privilegios</a:t>
            </a:r>
            <a:endParaRPr lang="en-US" sz="1400" dirty="0"/>
          </a:p>
        </p:txBody>
      </p:sp>
      <p:sp>
        <p:nvSpPr>
          <p:cNvPr id="9" name="Text 7"/>
          <p:cNvSpPr txBox="1"/>
          <p:nvPr/>
        </p:nvSpPr>
        <p:spPr>
          <a:xfrm>
            <a:off x="4550664" y="2295144"/>
            <a:ext cx="3087624" cy="1152144"/>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El proceso no corre como root dentro del contenedor.</a:t>
            </a:r>
            <a:endParaRPr lang="en-US" sz="1250" dirty="0"/>
          </a:p>
        </p:txBody>
      </p:sp>
      <p:sp>
        <p:nvSpPr>
          <p:cNvPr id="10" name="Shape 8"/>
          <p:cNvSpPr/>
          <p:nvPr/>
        </p:nvSpPr>
        <p:spPr>
          <a:xfrm>
            <a:off x="8004048" y="1783080"/>
            <a:ext cx="3544824" cy="1828800"/>
          </a:xfrm>
          <a:prstGeom prst="roundRect">
            <a:avLst>
              <a:gd name="adj" fmla="val 4000"/>
            </a:avLst>
          </a:prstGeom>
          <a:solidFill>
            <a:srgbClr val="E7E8D1"/>
          </a:solidFill>
          <a:ln w="12700">
            <a:solidFill>
              <a:srgbClr val="E7E8D1"/>
            </a:solidFill>
            <a:prstDash val="solid"/>
          </a:ln>
        </p:spPr>
      </p:sp>
      <p:sp>
        <p:nvSpPr>
          <p:cNvPr id="11" name="Text 9"/>
          <p:cNvSpPr txBox="1"/>
          <p:nvPr/>
        </p:nvSpPr>
        <p:spPr>
          <a:xfrm>
            <a:off x="8232648" y="1947672"/>
            <a:ext cx="3087624" cy="310896"/>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Verificador de estado</a:t>
            </a:r>
            <a:endParaRPr lang="en-US" sz="1400" dirty="0"/>
          </a:p>
        </p:txBody>
      </p:sp>
      <p:sp>
        <p:nvSpPr>
          <p:cNvPr id="12" name="Text 10"/>
          <p:cNvSpPr txBox="1"/>
          <p:nvPr/>
        </p:nvSpPr>
        <p:spPr>
          <a:xfrm>
            <a:off x="8232648" y="2295144"/>
            <a:ext cx="3087624" cy="1152144"/>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Consulta /health cada 30 segundos, lo que permite al orquestador reiniciar el contenedor ante una falla.</a:t>
            </a:r>
            <a:endParaRPr lang="en-US" sz="1250" dirty="0"/>
          </a:p>
        </p:txBody>
      </p:sp>
      <p:sp>
        <p:nvSpPr>
          <p:cNvPr id="13" name="Text 11"/>
          <p:cNvSpPr txBox="1"/>
          <p:nvPr/>
        </p:nvSpPr>
        <p:spPr>
          <a:xfrm>
            <a:off x="640080" y="3931920"/>
            <a:ext cx="3636264" cy="822960"/>
          </a:xfrm>
          <a:prstGeom prst="rect">
            <a:avLst/>
          </a:prstGeom>
          <a:noFill/>
          <a:ln/>
        </p:spPr>
        <p:txBody>
          <a:bodyPr wrap="square" lIns="0" tIns="0" rIns="0" bIns="0" rtlCol="0" anchor="ctr"/>
          <a:lstStyle/>
          <a:p>
            <a:pPr marL="0" indent="0" algn="ctr">
              <a:buNone/>
            </a:pPr>
            <a:r>
              <a:rPr lang="en-US" sz="4400" b="1" dirty="0">
                <a:solidFill>
                  <a:srgbClr val="B85042"/>
                </a:solidFill>
                <a:latin typeface="Cambria" pitchFamily="34" charset="0"/>
                <a:ea typeface="Cambria" pitchFamily="34" charset="-122"/>
                <a:cs typeface="Cambria" pitchFamily="34" charset="-120"/>
              </a:rPr>
              <a:t>765 MB</a:t>
            </a:r>
            <a:endParaRPr lang="en-US" sz="4400" dirty="0"/>
          </a:p>
        </p:txBody>
      </p:sp>
      <p:sp>
        <p:nvSpPr>
          <p:cNvPr id="14" name="Text 12"/>
          <p:cNvSpPr txBox="1"/>
          <p:nvPr/>
        </p:nvSpPr>
        <p:spPr>
          <a:xfrm>
            <a:off x="640080" y="4773168"/>
            <a:ext cx="3636264"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tamaño de la imagen</a:t>
            </a:r>
            <a:endParaRPr lang="en-US" sz="1250" dirty="0"/>
          </a:p>
        </p:txBody>
      </p:sp>
      <p:sp>
        <p:nvSpPr>
          <p:cNvPr id="15" name="Text 13"/>
          <p:cNvSpPr txBox="1"/>
          <p:nvPr/>
        </p:nvSpPr>
        <p:spPr>
          <a:xfrm>
            <a:off x="4276344" y="3931920"/>
            <a:ext cx="3636264" cy="822960"/>
          </a:xfrm>
          <a:prstGeom prst="rect">
            <a:avLst/>
          </a:prstGeom>
          <a:noFill/>
          <a:ln/>
        </p:spPr>
        <p:txBody>
          <a:bodyPr wrap="square" lIns="0" tIns="0" rIns="0" bIns="0" rtlCol="0" anchor="ctr"/>
          <a:lstStyle/>
          <a:p>
            <a:pPr marL="0" indent="0" algn="ctr">
              <a:buNone/>
            </a:pPr>
            <a:r>
              <a:rPr lang="en-US" sz="4400" b="1" dirty="0">
                <a:solidFill>
                  <a:srgbClr val="5F7F6E"/>
                </a:solidFill>
                <a:latin typeface="Cambria" pitchFamily="34" charset="0"/>
                <a:ea typeface="Cambria" pitchFamily="34" charset="-122"/>
                <a:cs typeface="Cambria" pitchFamily="34" charset="-120"/>
              </a:rPr>
              <a:t>122 MB</a:t>
            </a:r>
            <a:endParaRPr lang="en-US" sz="4400" dirty="0"/>
          </a:p>
        </p:txBody>
      </p:sp>
      <p:sp>
        <p:nvSpPr>
          <p:cNvPr id="16" name="Text 14"/>
          <p:cNvSpPr txBox="1"/>
          <p:nvPr/>
        </p:nvSpPr>
        <p:spPr>
          <a:xfrm>
            <a:off x="4276344" y="4773168"/>
            <a:ext cx="3636264"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memoria en operación</a:t>
            </a:r>
            <a:endParaRPr lang="en-US" sz="1250" dirty="0"/>
          </a:p>
        </p:txBody>
      </p:sp>
      <p:sp>
        <p:nvSpPr>
          <p:cNvPr id="17" name="Text 15"/>
          <p:cNvSpPr txBox="1"/>
          <p:nvPr/>
        </p:nvSpPr>
        <p:spPr>
          <a:xfrm>
            <a:off x="7912608" y="3931920"/>
            <a:ext cx="3636264" cy="822960"/>
          </a:xfrm>
          <a:prstGeom prst="rect">
            <a:avLst/>
          </a:prstGeom>
          <a:noFill/>
          <a:ln/>
        </p:spPr>
        <p:txBody>
          <a:bodyPr wrap="square" lIns="0" tIns="0" rIns="0" bIns="0" rtlCol="0" anchor="ctr"/>
          <a:lstStyle/>
          <a:p>
            <a:pPr marL="0" indent="0" algn="ctr">
              <a:buNone/>
            </a:pPr>
            <a:r>
              <a:rPr lang="en-US" sz="4400" b="1" dirty="0">
                <a:solidFill>
                  <a:srgbClr val="5F7F6E"/>
                </a:solidFill>
                <a:latin typeface="Cambria" pitchFamily="34" charset="0"/>
                <a:ea typeface="Cambria" pitchFamily="34" charset="-122"/>
                <a:cs typeface="Cambria" pitchFamily="34" charset="-120"/>
              </a:rPr>
              <a:t>~10 s</a:t>
            </a:r>
            <a:endParaRPr lang="en-US" sz="4400" dirty="0"/>
          </a:p>
        </p:txBody>
      </p:sp>
      <p:sp>
        <p:nvSpPr>
          <p:cNvPr id="18" name="Text 16"/>
          <p:cNvSpPr txBox="1"/>
          <p:nvPr/>
        </p:nvSpPr>
        <p:spPr>
          <a:xfrm>
            <a:off x="7912608" y="4773168"/>
            <a:ext cx="3636264"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hasta el estado saludable</a:t>
            </a:r>
            <a:endParaRPr lang="en-US" sz="1250" dirty="0"/>
          </a:p>
        </p:txBody>
      </p:sp>
      <p:sp>
        <p:nvSpPr>
          <p:cNvPr id="19" name="Text 17"/>
          <p:cNvSpPr txBox="1"/>
          <p:nvPr/>
        </p:nvSpPr>
        <p:spPr>
          <a:xfrm>
            <a:off x="640080" y="6080760"/>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Todas las versiones de las dependencias están fijadas. Durante el desarrollo una discrepancia de versión de scikit-learn impedía cargar el artefacto, falla que solo aparece en tiempo de ejecución.</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Tabla 10 · Casos de prueba representativos</a:t>
            </a:r>
            <a:endParaRPr lang="en-US" sz="3000" dirty="0"/>
          </a:p>
        </p:txBody>
      </p:sp>
      <p:sp>
        <p:nvSpPr>
          <p:cNvPr id="3" name="Text 1"/>
          <p:cNvSpPr txBox="1"/>
          <p:nvPr/>
        </p:nvSpPr>
        <p:spPr>
          <a:xfrm>
            <a:off x="640080" y="1078992"/>
            <a:ext cx="10908792" cy="384048"/>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29 pruebas con pytest, la suite completa corre en menos de un segundo</a:t>
            </a:r>
            <a:endParaRPr lang="en-US" sz="14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914400"/>
        </p:xfrm>
        <a:graphic>
          <a:graphicData uri="http://schemas.openxmlformats.org/drawingml/2006/table">
            <a:tbl>
              <a:tblPr/>
              <a:tblGrid>
                <a:gridCol w="3200400">
                  <a:extLst>
                    <a:ext uri="{9D8B030D-6E8A-4147-A177-3AD203B41FA5}">
                      <a16:colId xmlns:a16="http://schemas.microsoft.com/office/drawing/2014/main" val="20000"/>
                    </a:ext>
                  </a:extLst>
                </a:gridCol>
                <a:gridCol w="6062472">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6576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Caso</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Condición verificada</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Resultado</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extLst>
                  <a:ext uri="{0D108BD9-81ED-4DB2-BD59-A6C34878D82A}">
                    <a16:rowId xmlns:a16="http://schemas.microsoft.com/office/drawing/2014/main" val="10000"/>
                  </a:ext>
                </a:extLst>
              </a:tr>
              <a:tr h="365760">
                <a:tc>
                  <a:txBody>
                    <a:bodyPr/>
                    <a:lstStyle/>
                    <a:p>
                      <a:pPr marL="0" indent="0" algn="l">
                        <a:buNone/>
                      </a:pPr>
                      <a:r>
                        <a:rPr lang="en-US" sz="1200" dirty="0">
                          <a:solidFill>
                            <a:srgbClr val="3A3A38"/>
                          </a:solidFill>
                          <a:latin typeface="Calibri" pitchFamily="34" charset="0"/>
                          <a:ea typeface="Calibri" pitchFamily="34" charset="-122"/>
                          <a:cs typeface="Calibri" pitchFamily="34" charset="-120"/>
                        </a:rPr>
                        <a:t>Ausencia de fuga</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Ninguna columna posterior al desenlace es variable del modelo</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Aprobado</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00" dirty="0">
                          <a:solidFill>
                            <a:srgbClr val="3A3A38"/>
                          </a:solidFill>
                          <a:latin typeface="Calibri" pitchFamily="34" charset="0"/>
                          <a:ea typeface="Calibri" pitchFamily="34" charset="-122"/>
                          <a:cs typeface="Calibri" pitchFamily="34" charset="-120"/>
                        </a:rPr>
                        <a:t>Superioridad sobre lo trivial</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Exactitud balanceada superior a 0.55 y menos del 80 % señalado</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Aprobado</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2"/>
                  </a:ext>
                </a:extLst>
              </a:tr>
              <a:tr h="365760">
                <a:tc>
                  <a:txBody>
                    <a:bodyPr/>
                    <a:lstStyle/>
                    <a:p>
                      <a:pPr marL="0" indent="0" algn="l">
                        <a:buNone/>
                      </a:pPr>
                      <a:r>
                        <a:rPr lang="en-US" sz="1200" dirty="0">
                          <a:solidFill>
                            <a:srgbClr val="3A3A38"/>
                          </a:solidFill>
                          <a:latin typeface="Calibri" pitchFamily="34" charset="0"/>
                          <a:ea typeface="Calibri" pitchFamily="34" charset="-122"/>
                          <a:cs typeface="Calibri" pitchFamily="34" charset="-120"/>
                        </a:rPr>
                        <a:t>Puerta de calidad</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ROC-AUC no inferior a 0.70 y exactitud balanceada no inferior a 0.65</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Aprobado</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200" dirty="0">
                          <a:solidFill>
                            <a:srgbClr val="3A3A38"/>
                          </a:solidFill>
                          <a:latin typeface="Calibri" pitchFamily="34" charset="0"/>
                          <a:ea typeface="Calibri" pitchFamily="34" charset="-122"/>
                          <a:cs typeface="Calibri" pitchFamily="34" charset="-120"/>
                        </a:rPr>
                        <a:t>Categoría no vista</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Un sector inexistente no interrumpe el servicio</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Aprobado</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4"/>
                  </a:ext>
                </a:extLst>
              </a:tr>
              <a:tr h="365760">
                <a:tc>
                  <a:txBody>
                    <a:bodyPr/>
                    <a:lstStyle/>
                    <a:p>
                      <a:pPr marL="0" indent="0" algn="l">
                        <a:buNone/>
                      </a:pPr>
                      <a:r>
                        <a:rPr lang="en-US" sz="1200" dirty="0">
                          <a:solidFill>
                            <a:srgbClr val="3A3A38"/>
                          </a:solidFill>
                          <a:latin typeface="Calibri" pitchFamily="34" charset="0"/>
                          <a:ea typeface="Calibri" pitchFamily="34" charset="-122"/>
                          <a:cs typeface="Calibri" pitchFamily="34" charset="-120"/>
                        </a:rPr>
                        <a:t>Equivalencia de interfaces</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El cuestionario y la vía numérica dan el mismo resultado</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Aprobado</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200" dirty="0">
                          <a:solidFill>
                            <a:srgbClr val="3A3A38"/>
                          </a:solidFill>
                          <a:latin typeface="Calibri" pitchFamily="34" charset="0"/>
                          <a:ea typeface="Calibri" pitchFamily="34" charset="-122"/>
                          <a:cs typeface="Calibri" pitchFamily="34" charset="-120"/>
                        </a:rPr>
                        <a:t>Coherencia del encaje</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Mayor encaje producto-mercado eleva la supervivencia</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Aprobado</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6"/>
                  </a:ext>
                </a:extLst>
              </a:tr>
              <a:tr h="365760">
                <a:tc>
                  <a:txBody>
                    <a:bodyPr/>
                    <a:lstStyle/>
                    <a:p>
                      <a:pPr marL="0" indent="0" algn="l">
                        <a:buNone/>
                      </a:pPr>
                      <a:r>
                        <a:rPr lang="en-US" sz="1200" dirty="0">
                          <a:solidFill>
                            <a:srgbClr val="3A3A38"/>
                          </a:solidFill>
                          <a:latin typeface="Calibri" pitchFamily="34" charset="0"/>
                          <a:ea typeface="Calibri" pitchFamily="34" charset="-122"/>
                          <a:cs typeface="Calibri" pitchFamily="34" charset="-120"/>
                        </a:rPr>
                        <a:t>Coherencia del conflicto</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Mayor conflicto entre socios reduce la supervivencia</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Aprobado</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7"/>
                  </a:ext>
                </a:extLst>
              </a:tr>
              <a:tr h="365760">
                <a:tc>
                  <a:txBody>
                    <a:bodyPr/>
                    <a:lstStyle/>
                    <a:p>
                      <a:pPr marL="0" indent="0" algn="l">
                        <a:buNone/>
                      </a:pPr>
                      <a:r>
                        <a:rPr lang="en-US" sz="1200" dirty="0">
                          <a:solidFill>
                            <a:srgbClr val="3A3A38"/>
                          </a:solidFill>
                          <a:latin typeface="Calibri" pitchFamily="34" charset="0"/>
                          <a:ea typeface="Calibri" pitchFamily="34" charset="-122"/>
                          <a:cs typeface="Calibri" pitchFamily="34" charset="-120"/>
                        </a:rPr>
                        <a:t>Cálculo del runway</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Los meses de caja se derivan del efectivo y el gasto</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Aprobado</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8"/>
                  </a:ext>
                </a:extLst>
              </a:tr>
              <a:tr h="365760">
                <a:tc>
                  <a:txBody>
                    <a:bodyPr/>
                    <a:lstStyle/>
                    <a:p>
                      <a:pPr marL="0" indent="0" algn="l">
                        <a:buNone/>
                      </a:pPr>
                      <a:r>
                        <a:rPr lang="en-US" sz="1200" dirty="0">
                          <a:solidFill>
                            <a:srgbClr val="3A3A38"/>
                          </a:solidFill>
                          <a:latin typeface="Calibri" pitchFamily="34" charset="0"/>
                          <a:ea typeface="Calibri" pitchFamily="34" charset="-122"/>
                          <a:cs typeface="Calibri" pitchFamily="34" charset="-120"/>
                        </a:rPr>
                        <a:t>Validación de entrada</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Valores fuera de escala reciben código 422</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A3A38"/>
                          </a:solidFill>
                          <a:latin typeface="Calibri" pitchFamily="34" charset="0"/>
                          <a:ea typeface="Calibri" pitchFamily="34" charset="-122"/>
                          <a:cs typeface="Calibri" pitchFamily="34" charset="-120"/>
                        </a:rPr>
                        <a:t>Aprobado</a:t>
                      </a:r>
                      <a:endParaRPr lang="en-US" sz="12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9"/>
                  </a:ext>
                </a:extLst>
              </a:tr>
            </a:tbl>
          </a:graphicData>
        </a:graphic>
      </p:graphicFrame>
      <p:sp>
        <p:nvSpPr>
          <p:cNvPr id="5" name="Text 2"/>
          <p:cNvSpPr txBox="1"/>
          <p:nvPr/>
        </p:nvSpPr>
        <p:spPr>
          <a:xfrm>
            <a:off x="640080" y="6080760"/>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Las pruebas de coherencia son preventivas: si un reentrenamiento invirtiera el signo de una relación conocida, indicaría datos corruptos que las métricas agregadas podrían no revelar.</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Limitaciones</a:t>
            </a:r>
            <a:endParaRPr lang="en-US" sz="3000" dirty="0"/>
          </a:p>
        </p:txBody>
      </p:sp>
      <p:sp>
        <p:nvSpPr>
          <p:cNvPr id="3" name="Text 1"/>
          <p:cNvSpPr txBox="1"/>
          <p:nvPr/>
        </p:nvSpPr>
        <p:spPr>
          <a:xfrm>
            <a:off x="640080" y="1078992"/>
            <a:ext cx="10908792" cy="384048"/>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Lo que este trabajo no permite afirmar</a:t>
            </a:r>
            <a:endParaRPr lang="en-US" sz="1400" dirty="0"/>
          </a:p>
        </p:txBody>
      </p:sp>
      <p:sp>
        <p:nvSpPr>
          <p:cNvPr id="4" name="Shape 2"/>
          <p:cNvSpPr/>
          <p:nvPr/>
        </p:nvSpPr>
        <p:spPr>
          <a:xfrm>
            <a:off x="640080" y="1828800"/>
            <a:ext cx="10908792" cy="1234440"/>
          </a:xfrm>
          <a:prstGeom prst="roundRect">
            <a:avLst>
              <a:gd name="adj" fmla="val 5926"/>
            </a:avLst>
          </a:prstGeom>
          <a:solidFill>
            <a:srgbClr val="E7E8D1"/>
          </a:solidFill>
          <a:ln w="12700">
            <a:solidFill>
              <a:srgbClr val="E7E8D1"/>
            </a:solidFill>
            <a:prstDash val="solid"/>
          </a:ln>
        </p:spPr>
      </p:sp>
      <p:sp>
        <p:nvSpPr>
          <p:cNvPr id="5" name="Text 3"/>
          <p:cNvSpPr txBox="1"/>
          <p:nvPr/>
        </p:nvSpPr>
        <p:spPr>
          <a:xfrm>
            <a:off x="914400" y="1975104"/>
            <a:ext cx="10360152" cy="310896"/>
          </a:xfrm>
          <a:prstGeom prst="rect">
            <a:avLst/>
          </a:prstGeom>
          <a:noFill/>
          <a:ln/>
        </p:spPr>
        <p:txBody>
          <a:bodyPr wrap="square" lIns="0" tIns="0" rIns="0" bIns="0" rtlCol="0" anchor="ctr"/>
          <a:lstStyle/>
          <a:p>
            <a:pPr marL="0" indent="0">
              <a:buNone/>
            </a:pPr>
            <a:r>
              <a:rPr lang="en-US" sz="1500" b="1" dirty="0">
                <a:solidFill>
                  <a:srgbClr val="B85042"/>
                </a:solidFill>
                <a:latin typeface="Calibri" pitchFamily="34" charset="0"/>
                <a:ea typeface="Calibri" pitchFamily="34" charset="-122"/>
                <a:cs typeface="Calibri" pitchFamily="34" charset="-120"/>
              </a:rPr>
              <a:t>El conjunto es una simulación</a:t>
            </a:r>
            <a:endParaRPr lang="en-US" sz="1500" dirty="0"/>
          </a:p>
        </p:txBody>
      </p:sp>
      <p:sp>
        <p:nvSpPr>
          <p:cNvPr id="6" name="Text 4"/>
          <p:cNvSpPr txBox="1"/>
          <p:nvPr/>
        </p:nvSpPr>
        <p:spPr>
          <a:xfrm>
            <a:off x="914400" y="2331720"/>
            <a:ext cx="10360152" cy="640080"/>
          </a:xfrm>
          <a:prstGeom prst="rect">
            <a:avLst/>
          </a:prstGeom>
          <a:noFill/>
          <a:ln/>
        </p:spPr>
        <p:txBody>
          <a:bodyPr wrap="square" lIns="0" tIns="0" rIns="0" bIns="0" rtlCol="0" anchor="ctr"/>
          <a:lstStyle/>
          <a:p>
            <a:pPr marL="0" indent="0">
              <a:lnSpc>
                <a:spcPts val="1600"/>
              </a:lnSpc>
              <a:buNone/>
            </a:pPr>
            <a:r>
              <a:rPr lang="en-US" sz="1250" dirty="0">
                <a:solidFill>
                  <a:srgbClr val="3A3A38"/>
                </a:solidFill>
                <a:latin typeface="Calibri" pitchFamily="34" charset="0"/>
                <a:ea typeface="Calibri" pitchFamily="34" charset="-122"/>
                <a:cs typeface="Calibri" pitchFamily="34" charset="-120"/>
              </a:rPr>
              <a:t>Los hallazgos describen su estructura interna. Que coincidan con la literatura refuerza la verosimilitud de la simulacion, pero no la reemplaza por evidencia empirica.</a:t>
            </a:r>
            <a:endParaRPr lang="en-US" sz="1250" dirty="0"/>
          </a:p>
        </p:txBody>
      </p:sp>
      <p:sp>
        <p:nvSpPr>
          <p:cNvPr id="7" name="Shape 5"/>
          <p:cNvSpPr/>
          <p:nvPr/>
        </p:nvSpPr>
        <p:spPr>
          <a:xfrm>
            <a:off x="640080" y="3246120"/>
            <a:ext cx="10908792" cy="1234440"/>
          </a:xfrm>
          <a:prstGeom prst="roundRect">
            <a:avLst>
              <a:gd name="adj" fmla="val 5926"/>
            </a:avLst>
          </a:prstGeom>
          <a:solidFill>
            <a:srgbClr val="E7E8D1"/>
          </a:solidFill>
          <a:ln w="12700">
            <a:solidFill>
              <a:srgbClr val="E7E8D1"/>
            </a:solidFill>
            <a:prstDash val="solid"/>
          </a:ln>
        </p:spPr>
      </p:sp>
      <p:sp>
        <p:nvSpPr>
          <p:cNvPr id="8" name="Text 6"/>
          <p:cNvSpPr txBox="1"/>
          <p:nvPr/>
        </p:nvSpPr>
        <p:spPr>
          <a:xfrm>
            <a:off x="914400" y="3392424"/>
            <a:ext cx="10360152" cy="310896"/>
          </a:xfrm>
          <a:prstGeom prst="rect">
            <a:avLst/>
          </a:prstGeom>
          <a:noFill/>
          <a:ln/>
        </p:spPr>
        <p:txBody>
          <a:bodyPr wrap="square" lIns="0" tIns="0" rIns="0" bIns="0" rtlCol="0" anchor="ctr"/>
          <a:lstStyle/>
          <a:p>
            <a:pPr marL="0" indent="0">
              <a:buNone/>
            </a:pPr>
            <a:r>
              <a:rPr lang="en-US" sz="1500" b="1" dirty="0">
                <a:solidFill>
                  <a:srgbClr val="B85042"/>
                </a:solidFill>
                <a:latin typeface="Calibri" pitchFamily="34" charset="0"/>
                <a:ea typeface="Calibri" pitchFamily="34" charset="-122"/>
                <a:cs typeface="Calibri" pitchFamily="34" charset="-120"/>
              </a:rPr>
              <a:t>El AUC de 0.7469 es un límite de la información, no del algoritmo</a:t>
            </a:r>
            <a:endParaRPr lang="en-US" sz="1500" dirty="0"/>
          </a:p>
        </p:txBody>
      </p:sp>
      <p:sp>
        <p:nvSpPr>
          <p:cNvPr id="9" name="Text 7"/>
          <p:cNvSpPr txBox="1"/>
          <p:nvPr/>
        </p:nvSpPr>
        <p:spPr>
          <a:xfrm>
            <a:off x="914400" y="3749040"/>
            <a:ext cx="10360152" cy="640080"/>
          </a:xfrm>
          <a:prstGeom prst="rect">
            <a:avLst/>
          </a:prstGeom>
          <a:noFill/>
          <a:ln/>
        </p:spPr>
        <p:txBody>
          <a:bodyPr wrap="square" lIns="0" tIns="0" rIns="0" bIns="0" rtlCol="0" anchor="ctr"/>
          <a:lstStyle/>
          <a:p>
            <a:pPr marL="0" indent="0">
              <a:lnSpc>
                <a:spcPts val="1600"/>
              </a:lnSpc>
              <a:buNone/>
            </a:pPr>
            <a:r>
              <a:rPr lang="en-US" sz="1250" dirty="0">
                <a:solidFill>
                  <a:srgbClr val="3A3A38"/>
                </a:solidFill>
                <a:latin typeface="Calibri" pitchFamily="34" charset="0"/>
                <a:ea typeface="Calibri" pitchFamily="34" charset="-122"/>
                <a:cs typeface="Calibri" pitchFamily="34" charset="-120"/>
              </a:rPr>
              <a:t>Las variables describen el punto de partida y no la trayectoria posterior. Datos de evolucion de ingresos, rotacion del equipo o retencion subirian bastante la capacidad predictiva.</a:t>
            </a:r>
            <a:endParaRPr lang="en-US" sz="1250" dirty="0"/>
          </a:p>
        </p:txBody>
      </p:sp>
      <p:sp>
        <p:nvSpPr>
          <p:cNvPr id="10" name="Shape 8"/>
          <p:cNvSpPr/>
          <p:nvPr/>
        </p:nvSpPr>
        <p:spPr>
          <a:xfrm>
            <a:off x="640080" y="4663440"/>
            <a:ext cx="10908792" cy="1234440"/>
          </a:xfrm>
          <a:prstGeom prst="roundRect">
            <a:avLst>
              <a:gd name="adj" fmla="val 5926"/>
            </a:avLst>
          </a:prstGeom>
          <a:solidFill>
            <a:srgbClr val="E7E8D1"/>
          </a:solidFill>
          <a:ln w="12700">
            <a:solidFill>
              <a:srgbClr val="E7E8D1"/>
            </a:solidFill>
            <a:prstDash val="solid"/>
          </a:ln>
        </p:spPr>
      </p:sp>
      <p:sp>
        <p:nvSpPr>
          <p:cNvPr id="11" name="Text 9"/>
          <p:cNvSpPr txBox="1"/>
          <p:nvPr/>
        </p:nvSpPr>
        <p:spPr>
          <a:xfrm>
            <a:off x="914400" y="4809744"/>
            <a:ext cx="10360152" cy="310896"/>
          </a:xfrm>
          <a:prstGeom prst="rect">
            <a:avLst/>
          </a:prstGeom>
          <a:noFill/>
          <a:ln/>
        </p:spPr>
        <p:txBody>
          <a:bodyPr wrap="square" lIns="0" tIns="0" rIns="0" bIns="0" rtlCol="0" anchor="ctr"/>
          <a:lstStyle/>
          <a:p>
            <a:pPr marL="0" indent="0">
              <a:buNone/>
            </a:pPr>
            <a:r>
              <a:rPr lang="en-US" sz="1500" b="1" dirty="0">
                <a:solidFill>
                  <a:srgbClr val="B85042"/>
                </a:solidFill>
                <a:latin typeface="Calibri" pitchFamily="34" charset="0"/>
                <a:ea typeface="Calibri" pitchFamily="34" charset="-122"/>
                <a:cs typeface="Calibri" pitchFamily="34" charset="-120"/>
              </a:rPr>
              <a:t>Asociación, no causalidad</a:t>
            </a:r>
            <a:endParaRPr lang="en-US" sz="1500" dirty="0"/>
          </a:p>
        </p:txBody>
      </p:sp>
      <p:sp>
        <p:nvSpPr>
          <p:cNvPr id="12" name="Text 10"/>
          <p:cNvSpPr txBox="1"/>
          <p:nvPr/>
        </p:nvSpPr>
        <p:spPr>
          <a:xfrm>
            <a:off x="914400" y="5166360"/>
            <a:ext cx="10360152" cy="640080"/>
          </a:xfrm>
          <a:prstGeom prst="rect">
            <a:avLst/>
          </a:prstGeom>
          <a:noFill/>
          <a:ln/>
        </p:spPr>
        <p:txBody>
          <a:bodyPr wrap="square" lIns="0" tIns="0" rIns="0" bIns="0" rtlCol="0" anchor="ctr"/>
          <a:lstStyle/>
          <a:p>
            <a:pPr marL="0" indent="0">
              <a:lnSpc>
                <a:spcPts val="1600"/>
              </a:lnSpc>
              <a:buNone/>
            </a:pPr>
            <a:r>
              <a:rPr lang="en-US" sz="1250" dirty="0">
                <a:solidFill>
                  <a:srgbClr val="3A3A38"/>
                </a:solidFill>
                <a:latin typeface="Calibri" pitchFamily="34" charset="0"/>
                <a:ea typeface="Calibri" pitchFamily="34" charset="-122"/>
                <a:cs typeface="Calibri" pitchFamily="34" charset="-120"/>
              </a:rPr>
              <a:t>Que el conflicto entre cofundadores se asocie a mas fracaso no autoriza a concluir que reducirlo aumente la supervivencia: ambos podrian responder a una causa comun no observada.</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33302B"/>
        </a:solidFill>
        <a:effectLst/>
      </p:bgPr>
    </p:bg>
    <p:spTree>
      <p:nvGrpSpPr>
        <p:cNvPr id="1" name=""/>
        <p:cNvGrpSpPr/>
        <p:nvPr/>
      </p:nvGrpSpPr>
      <p:grpSpPr>
        <a:xfrm>
          <a:off x="0" y="0"/>
          <a:ext cx="0" cy="0"/>
          <a:chOff x="0" y="0"/>
          <a:chExt cx="0" cy="0"/>
        </a:xfrm>
      </p:grpSpPr>
      <p:sp>
        <p:nvSpPr>
          <p:cNvPr id="2" name="Shape 0"/>
          <p:cNvSpPr/>
          <p:nvPr/>
        </p:nvSpPr>
        <p:spPr>
          <a:xfrm>
            <a:off x="10424160" y="-914400"/>
            <a:ext cx="3291840" cy="3291840"/>
          </a:xfrm>
          <a:prstGeom prst="ellipse">
            <a:avLst/>
          </a:prstGeom>
          <a:solidFill>
            <a:srgbClr val="5F7F6E"/>
          </a:solidFill>
          <a:ln w="12700">
            <a:solidFill>
              <a:srgbClr val="5F7F6E"/>
            </a:solidFill>
            <a:prstDash val="solid"/>
          </a:ln>
        </p:spPr>
      </p:sp>
      <p:sp>
        <p:nvSpPr>
          <p:cNvPr id="3" name="Text 1"/>
          <p:cNvSpPr txBox="1"/>
          <p:nvPr/>
        </p:nvSpPr>
        <p:spPr>
          <a:xfrm>
            <a:off x="640080" y="685800"/>
            <a:ext cx="10908792"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Conclusiones</a:t>
            </a:r>
            <a:endParaRPr lang="en-US" sz="3400" dirty="0"/>
          </a:p>
        </p:txBody>
      </p:sp>
      <p:sp>
        <p:nvSpPr>
          <p:cNvPr id="4" name="Text 2"/>
          <p:cNvSpPr txBox="1"/>
          <p:nvPr/>
        </p:nvSpPr>
        <p:spPr>
          <a:xfrm>
            <a:off x="640080" y="1691640"/>
            <a:ext cx="9994392" cy="329184"/>
          </a:xfrm>
          <a:prstGeom prst="rect">
            <a:avLst/>
          </a:prstGeom>
          <a:noFill/>
          <a:ln/>
        </p:spPr>
        <p:txBody>
          <a:bodyPr wrap="square" lIns="0" tIns="0" rIns="0" bIns="0" rtlCol="0" anchor="ctr"/>
          <a:lstStyle/>
          <a:p>
            <a:pPr marL="0" indent="0">
              <a:buNone/>
            </a:pPr>
            <a:r>
              <a:rPr lang="en-US" sz="1600" b="1" dirty="0">
                <a:solidFill>
                  <a:srgbClr val="5F7F6E"/>
                </a:solidFill>
                <a:latin typeface="Calibri" pitchFamily="34" charset="0"/>
                <a:ea typeface="Calibri" pitchFamily="34" charset="-122"/>
                <a:cs typeface="Calibri" pitchFamily="34" charset="-120"/>
              </a:rPr>
              <a:t>Se entregó una aplicación completa</a:t>
            </a:r>
            <a:endParaRPr lang="en-US" sz="1600" dirty="0"/>
          </a:p>
        </p:txBody>
      </p:sp>
      <p:sp>
        <p:nvSpPr>
          <p:cNvPr id="5" name="Text 3"/>
          <p:cNvSpPr txBox="1"/>
          <p:nvPr/>
        </p:nvSpPr>
        <p:spPr>
          <a:xfrm>
            <a:off x="640080" y="2039112"/>
            <a:ext cx="9994392" cy="731520"/>
          </a:xfrm>
          <a:prstGeom prst="rect">
            <a:avLst/>
          </a:prstGeom>
          <a:noFill/>
          <a:ln/>
        </p:spPr>
        <p:txBody>
          <a:bodyPr wrap="square" lIns="0" tIns="0" rIns="0" bIns="0" rtlCol="0" anchor="ctr"/>
          <a:lstStyle/>
          <a:p>
            <a:pPr marL="0" indent="0">
              <a:lnSpc>
                <a:spcPts val="1600"/>
              </a:lnSpc>
              <a:buNone/>
            </a:pPr>
            <a:r>
              <a:rPr lang="en-US" sz="1250" dirty="0">
                <a:solidFill>
                  <a:srgbClr val="E7E8D1"/>
                </a:solidFill>
                <a:latin typeface="Calibri" pitchFamily="34" charset="0"/>
                <a:ea typeface="Calibri" pitchFamily="34" charset="-122"/>
                <a:cs typeface="Calibri" pitchFamily="34" charset="-120"/>
              </a:rPr>
              <a:t>ROC-AUC de 0.7469 y exactitud balanceada de 0.6783 sobre datos no vistos, dos interfaces, API documentada, 29 pruebas y una imagen de contenedor lista para desplegar.</a:t>
            </a:r>
            <a:endParaRPr lang="en-US" sz="1250" dirty="0"/>
          </a:p>
        </p:txBody>
      </p:sp>
      <p:sp>
        <p:nvSpPr>
          <p:cNvPr id="6" name="Text 4"/>
          <p:cNvSpPr txBox="1"/>
          <p:nvPr/>
        </p:nvSpPr>
        <p:spPr>
          <a:xfrm>
            <a:off x="640080" y="2898648"/>
            <a:ext cx="9994392" cy="329184"/>
          </a:xfrm>
          <a:prstGeom prst="rect">
            <a:avLst/>
          </a:prstGeom>
          <a:noFill/>
          <a:ln/>
        </p:spPr>
        <p:txBody>
          <a:bodyPr wrap="square" lIns="0" tIns="0" rIns="0" bIns="0" rtlCol="0" anchor="ctr"/>
          <a:lstStyle/>
          <a:p>
            <a:pPr marL="0" indent="0">
              <a:buNone/>
            </a:pPr>
            <a:r>
              <a:rPr lang="en-US" sz="1600" b="1" dirty="0">
                <a:solidFill>
                  <a:srgbClr val="5F7F6E"/>
                </a:solidFill>
                <a:latin typeface="Calibri" pitchFamily="34" charset="0"/>
                <a:ea typeface="Calibri" pitchFamily="34" charset="-122"/>
                <a:cs typeface="Calibri" pitchFamily="34" charset="-120"/>
              </a:rPr>
              <a:t>La ejecución y el capital concentran la capacidad predictiva</a:t>
            </a:r>
            <a:endParaRPr lang="en-US" sz="1600" dirty="0"/>
          </a:p>
        </p:txBody>
      </p:sp>
      <p:sp>
        <p:nvSpPr>
          <p:cNvPr id="7" name="Text 5"/>
          <p:cNvSpPr txBox="1"/>
          <p:nvPr/>
        </p:nvSpPr>
        <p:spPr>
          <a:xfrm>
            <a:off x="640080" y="3246120"/>
            <a:ext cx="9994392" cy="731520"/>
          </a:xfrm>
          <a:prstGeom prst="rect">
            <a:avLst/>
          </a:prstGeom>
          <a:noFill/>
          <a:ln/>
        </p:spPr>
        <p:txBody>
          <a:bodyPr wrap="square" lIns="0" tIns="0" rIns="0" bIns="0" rtlCol="0" anchor="ctr"/>
          <a:lstStyle/>
          <a:p>
            <a:pPr marL="0" indent="0">
              <a:lnSpc>
                <a:spcPts val="1600"/>
              </a:lnSpc>
              <a:buNone/>
            </a:pPr>
            <a:r>
              <a:rPr lang="en-US" sz="1250" dirty="0">
                <a:solidFill>
                  <a:srgbClr val="E7E8D1"/>
                </a:solidFill>
                <a:latin typeface="Calibri" pitchFamily="34" charset="0"/>
                <a:ea typeface="Calibri" pitchFamily="34" charset="-122"/>
                <a:cs typeface="Calibri" pitchFamily="34" charset="-120"/>
              </a:rPr>
              <a:t>El perfil del fundador resulta practicamente prescindible, al punto de que el clima macroeconomico anticipa mejor el desenlace que la trayectoria de quien emprende.</a:t>
            </a:r>
            <a:endParaRPr lang="en-US" sz="1250" dirty="0"/>
          </a:p>
        </p:txBody>
      </p:sp>
      <p:sp>
        <p:nvSpPr>
          <p:cNvPr id="8" name="Text 6"/>
          <p:cNvSpPr txBox="1"/>
          <p:nvPr/>
        </p:nvSpPr>
        <p:spPr>
          <a:xfrm>
            <a:off x="640080" y="4105656"/>
            <a:ext cx="9994392" cy="329184"/>
          </a:xfrm>
          <a:prstGeom prst="rect">
            <a:avLst/>
          </a:prstGeom>
          <a:noFill/>
          <a:ln/>
        </p:spPr>
        <p:txBody>
          <a:bodyPr wrap="square" lIns="0" tIns="0" rIns="0" bIns="0" rtlCol="0" anchor="ctr"/>
          <a:lstStyle/>
          <a:p>
            <a:pPr marL="0" indent="0">
              <a:buNone/>
            </a:pPr>
            <a:r>
              <a:rPr lang="en-US" sz="1600" b="1" dirty="0">
                <a:solidFill>
                  <a:srgbClr val="5F7F6E"/>
                </a:solidFill>
                <a:latin typeface="Calibri" pitchFamily="34" charset="0"/>
                <a:ea typeface="Calibri" pitchFamily="34" charset="-122"/>
                <a:cs typeface="Calibri" pitchFamily="34" charset="-120"/>
              </a:rPr>
              <a:t>Desempeño estadístico y utilidad operativa son cosas distintas</a:t>
            </a:r>
            <a:endParaRPr lang="en-US" sz="1600" dirty="0"/>
          </a:p>
        </p:txBody>
      </p:sp>
      <p:sp>
        <p:nvSpPr>
          <p:cNvPr id="9" name="Text 7"/>
          <p:cNvSpPr txBox="1"/>
          <p:nvPr/>
        </p:nvSpPr>
        <p:spPr>
          <a:xfrm>
            <a:off x="640080" y="4453128"/>
            <a:ext cx="9994392" cy="731520"/>
          </a:xfrm>
          <a:prstGeom prst="rect">
            <a:avLst/>
          </a:prstGeom>
          <a:noFill/>
          <a:ln/>
        </p:spPr>
        <p:txBody>
          <a:bodyPr wrap="square" lIns="0" tIns="0" rIns="0" bIns="0" rtlCol="0" anchor="ctr"/>
          <a:lstStyle/>
          <a:p>
            <a:pPr marL="0" indent="0">
              <a:lnSpc>
                <a:spcPts val="1600"/>
              </a:lnSpc>
              <a:buNone/>
            </a:pPr>
            <a:r>
              <a:rPr lang="en-US" sz="1250" dirty="0">
                <a:solidFill>
                  <a:srgbClr val="E7E8D1"/>
                </a:solidFill>
                <a:latin typeface="Calibri" pitchFamily="34" charset="0"/>
                <a:ea typeface="Calibri" pitchFamily="34" charset="-122"/>
                <a:cs typeface="Calibri" pitchFamily="34" charset="-120"/>
              </a:rPr>
              <a:t>Una F1 de 0.8084 era indistinguible de la de un clasificador trivial. Solo cambiar el criterio del umbral convirtio al modelo en una herramienta util.</a:t>
            </a:r>
            <a:endParaRPr lang="en-US" sz="1250" dirty="0"/>
          </a:p>
        </p:txBody>
      </p:sp>
      <p:sp>
        <p:nvSpPr>
          <p:cNvPr id="10" name="Text 8"/>
          <p:cNvSpPr txBox="1"/>
          <p:nvPr/>
        </p:nvSpPr>
        <p:spPr>
          <a:xfrm>
            <a:off x="640080" y="5312664"/>
            <a:ext cx="9994392" cy="329184"/>
          </a:xfrm>
          <a:prstGeom prst="rect">
            <a:avLst/>
          </a:prstGeom>
          <a:noFill/>
          <a:ln/>
        </p:spPr>
        <p:txBody>
          <a:bodyPr wrap="square" lIns="0" tIns="0" rIns="0" bIns="0" rtlCol="0" anchor="ctr"/>
          <a:lstStyle/>
          <a:p>
            <a:pPr marL="0" indent="0">
              <a:buNone/>
            </a:pPr>
            <a:r>
              <a:rPr lang="en-US" sz="1600" b="1" dirty="0">
                <a:solidFill>
                  <a:srgbClr val="5F7F6E"/>
                </a:solidFill>
                <a:latin typeface="Calibri" pitchFamily="34" charset="0"/>
                <a:ea typeface="Calibri" pitchFamily="34" charset="-122"/>
                <a:cs typeface="Calibri" pitchFamily="34" charset="-120"/>
              </a:rPr>
              <a:t>Un modelo con buenas métricas puede ser inutilizable</a:t>
            </a:r>
            <a:endParaRPr lang="en-US" sz="1600" dirty="0"/>
          </a:p>
        </p:txBody>
      </p:sp>
      <p:sp>
        <p:nvSpPr>
          <p:cNvPr id="11" name="Text 9"/>
          <p:cNvSpPr txBox="1"/>
          <p:nvPr/>
        </p:nvSpPr>
        <p:spPr>
          <a:xfrm>
            <a:off x="640080" y="5660136"/>
            <a:ext cx="9994392" cy="731520"/>
          </a:xfrm>
          <a:prstGeom prst="rect">
            <a:avLst/>
          </a:prstGeom>
          <a:noFill/>
          <a:ln/>
        </p:spPr>
        <p:txBody>
          <a:bodyPr wrap="square" lIns="0" tIns="0" rIns="0" bIns="0" rtlCol="0" anchor="ctr"/>
          <a:lstStyle/>
          <a:p>
            <a:pPr marL="0" indent="0">
              <a:lnSpc>
                <a:spcPts val="1600"/>
              </a:lnSpc>
              <a:buNone/>
            </a:pPr>
            <a:r>
              <a:rPr lang="en-US" sz="1250" dirty="0">
                <a:solidFill>
                  <a:srgbClr val="E7E8D1"/>
                </a:solidFill>
                <a:latin typeface="Calibri" pitchFamily="34" charset="0"/>
                <a:ea typeface="Calibri" pitchFamily="34" charset="-122"/>
                <a:cs typeface="Calibri" pitchFamily="34" charset="-120"/>
              </a:rPr>
              <a:t>Ningun emprendedor puede responder su puntaje de encaje producto-mercado en escala de 0 a 10. De ahi salio la capa de traduccion.</a:t>
            </a:r>
            <a:endParaRPr lang="en-US" sz="1250" dirty="0"/>
          </a:p>
        </p:txBody>
      </p:sp>
      <p:sp>
        <p:nvSpPr>
          <p:cNvPr id="12" name="Text 10"/>
          <p:cNvSpPr txBox="1"/>
          <p:nvPr/>
        </p:nvSpPr>
        <p:spPr>
          <a:xfrm>
            <a:off x="640080" y="6400800"/>
            <a:ext cx="10908792" cy="365760"/>
          </a:xfrm>
          <a:prstGeom prst="rect">
            <a:avLst/>
          </a:prstGeom>
          <a:noFill/>
          <a:ln/>
        </p:spPr>
        <p:txBody>
          <a:bodyPr wrap="square" lIns="0" tIns="0" rIns="0" bIns="0" rtlCol="0" anchor="ctr"/>
          <a:lstStyle/>
          <a:p>
            <a:pPr marL="0" indent="0">
              <a:buNone/>
            </a:pPr>
            <a:r>
              <a:rPr lang="en-US" sz="1150" i="1" dirty="0">
                <a:solidFill>
                  <a:srgbClr val="7A756E"/>
                </a:solidFill>
                <a:latin typeface="Calibri" pitchFamily="34" charset="0"/>
                <a:ea typeface="Calibri" pitchFamily="34" charset="-122"/>
                <a:cs typeface="Calibri" pitchFamily="34" charset="-120"/>
              </a:rPr>
              <a:t>Unidad II: integración continua, reentrenamiento programado, registro de versiones del modelo y detección de degradación del desempeño.</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685800"/>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Referencias</a:t>
            </a:r>
            <a:endParaRPr lang="en-US" sz="3000" dirty="0"/>
          </a:p>
        </p:txBody>
      </p:sp>
      <p:sp>
        <p:nvSpPr>
          <p:cNvPr id="3" name="Text 1"/>
          <p:cNvSpPr txBox="1"/>
          <p:nvPr/>
        </p:nvSpPr>
        <p:spPr>
          <a:xfrm>
            <a:off x="640080" y="1078992"/>
            <a:ext cx="10908792" cy="384048"/>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Formato APA 7</a:t>
            </a:r>
            <a:endParaRPr lang="en-US" sz="1400" dirty="0"/>
          </a:p>
        </p:txBody>
      </p:sp>
      <p:sp>
        <p:nvSpPr>
          <p:cNvPr id="4" name="Text 2"/>
          <p:cNvSpPr txBox="1"/>
          <p:nvPr/>
        </p:nvSpPr>
        <p:spPr>
          <a:xfrm>
            <a:off x="640080" y="1691640"/>
            <a:ext cx="10908792" cy="4480560"/>
          </a:xfrm>
          <a:prstGeom prst="rect">
            <a:avLst/>
          </a:prstGeom>
          <a:noFill/>
          <a:ln/>
        </p:spPr>
        <p:txBody>
          <a:bodyPr wrap="square" lIns="0" tIns="0" rIns="0" bIns="0" rtlCol="0" anchor="ctr"/>
          <a:lstStyle/>
          <a:p>
            <a:pPr marL="0" indent="0">
              <a:lnSpc>
                <a:spcPts val="1500"/>
              </a:lnSpc>
              <a:spcAft>
                <a:spcPts val="800"/>
              </a:spcAft>
              <a:buNone/>
            </a:pPr>
            <a:r>
              <a:rPr lang="en-US" sz="1150" dirty="0">
                <a:solidFill>
                  <a:srgbClr val="3A3A38"/>
                </a:solidFill>
                <a:latin typeface="Calibri" pitchFamily="34" charset="0"/>
                <a:ea typeface="Calibri" pitchFamily="34" charset="-122"/>
                <a:cs typeface="Calibri" pitchFamily="34" charset="-120"/>
              </a:rPr>
              <a:t>Bergstra, J., &amp; Bengio, Y. (2012). Random search for hyper-parameter optimization. Journal of Machine Learning Research, 13, 281-305.</a:t>
            </a:r>
            <a:endParaRPr lang="en-US" sz="1150" dirty="0"/>
          </a:p>
          <a:p>
            <a:pPr marL="0" indent="0">
              <a:lnSpc>
                <a:spcPts val="1500"/>
              </a:lnSpc>
              <a:spcAft>
                <a:spcPts val="800"/>
              </a:spcAft>
              <a:buNone/>
            </a:pPr>
            <a:r>
              <a:rPr lang="en-US" sz="1150" dirty="0">
                <a:solidFill>
                  <a:srgbClr val="3A3A38"/>
                </a:solidFill>
                <a:latin typeface="Calibri" pitchFamily="34" charset="0"/>
                <a:ea typeface="Calibri" pitchFamily="34" charset="-122"/>
                <a:cs typeface="Calibri" pitchFamily="34" charset="-120"/>
              </a:rPr>
              <a:t>Ke, G., Meng, Q., Finley, T., Wang, T., Chen, W., Ma, W., Ye, Q., &amp; Liu, T.-Y. (2017). LightGBM: A highly efficient gradient boosting decision tree. En Advances in Neural Information Processing Systems (Vol. 30, pp. 3146-3154).</a:t>
            </a:r>
            <a:endParaRPr lang="en-US" sz="1150" dirty="0"/>
          </a:p>
          <a:p>
            <a:pPr marL="0" indent="0">
              <a:lnSpc>
                <a:spcPts val="1500"/>
              </a:lnSpc>
              <a:spcAft>
                <a:spcPts val="800"/>
              </a:spcAft>
              <a:buNone/>
            </a:pPr>
            <a:r>
              <a:rPr lang="en-US" sz="1150" dirty="0">
                <a:solidFill>
                  <a:srgbClr val="3A3A38"/>
                </a:solidFill>
                <a:latin typeface="Calibri" pitchFamily="34" charset="0"/>
                <a:ea typeface="Calibri" pitchFamily="34" charset="-122"/>
                <a:cs typeface="Calibri" pitchFamily="34" charset="-120"/>
              </a:rPr>
              <a:t>Merkel, D. (2014). Docker: Lightweight Linux containers for consistent development and deployment. Linux Journal, 2014(239), 2.</a:t>
            </a:r>
            <a:endParaRPr lang="en-US" sz="1150" dirty="0"/>
          </a:p>
          <a:p>
            <a:pPr marL="0" indent="0">
              <a:lnSpc>
                <a:spcPts val="1500"/>
              </a:lnSpc>
              <a:spcAft>
                <a:spcPts val="800"/>
              </a:spcAft>
              <a:buNone/>
            </a:pPr>
            <a:r>
              <a:rPr lang="en-US" sz="1150" dirty="0">
                <a:solidFill>
                  <a:srgbClr val="3A3A38"/>
                </a:solidFill>
                <a:latin typeface="Calibri" pitchFamily="34" charset="0"/>
                <a:ea typeface="Calibri" pitchFamily="34" charset="-122"/>
                <a:cs typeface="Calibri" pitchFamily="34" charset="-120"/>
              </a:rPr>
              <a:t>Pedregosa, F., Varoquaux, G., Gramfort, A., Michel, V., Thirion, B., Grisel, O., Blondel, M., Prettenhofer, P., Weiss, R., Dubourg, V., Vanderplas, J., Passos, A., Cournapeau, D., Brucher, M., Perrot, M., &amp; Duchesnay, É. (2011). Scikit-learn: Machine learning in Python. Journal of Machine Learning Research, 12, 2825-2830.</a:t>
            </a:r>
            <a:endParaRPr lang="en-US" sz="1150" dirty="0"/>
          </a:p>
          <a:p>
            <a:pPr marL="0" indent="0">
              <a:lnSpc>
                <a:spcPts val="1500"/>
              </a:lnSpc>
              <a:spcAft>
                <a:spcPts val="800"/>
              </a:spcAft>
              <a:buNone/>
            </a:pPr>
            <a:r>
              <a:rPr lang="en-US" sz="1150" dirty="0">
                <a:solidFill>
                  <a:srgbClr val="3A3A38"/>
                </a:solidFill>
                <a:latin typeface="Calibri" pitchFamily="34" charset="0"/>
                <a:ea typeface="Calibri" pitchFamily="34" charset="-122"/>
                <a:cs typeface="Calibri" pitchFamily="34" charset="-120"/>
              </a:rPr>
              <a:t>Saito, T., &amp; Rehmsmeier, M. (2015). The precision-recall plot is more informative than the ROC plot when evaluating binary classifiers on imbalanced datasets. PLoS ONE, 10(3), e0118432.</a:t>
            </a:r>
            <a:endParaRPr lang="en-US" sz="1150" dirty="0"/>
          </a:p>
          <a:p>
            <a:pPr marL="0" indent="0">
              <a:lnSpc>
                <a:spcPts val="1500"/>
              </a:lnSpc>
              <a:spcAft>
                <a:spcPts val="800"/>
              </a:spcAft>
              <a:buNone/>
            </a:pPr>
            <a:r>
              <a:rPr lang="en-US" sz="1150" dirty="0">
                <a:solidFill>
                  <a:srgbClr val="3A3A38"/>
                </a:solidFill>
                <a:latin typeface="Calibri" pitchFamily="34" charset="0"/>
                <a:ea typeface="Calibri" pitchFamily="34" charset="-122"/>
                <a:cs typeface="Calibri" pitchFamily="34" charset="-120"/>
              </a:rPr>
              <a:t>Sculley, D., Holt, G., Golovin, D., Davydov, E., Phillips, T., Ebner, D., Chaudhary, V., Young, M., Crespo, J.-F., &amp; Dennison, D. (2015). Hidden technical debt in machine learning systems. En Advances in Neural Information Processing Systems (Vol. 28, pp. 2503-2511).</a:t>
            </a:r>
            <a:endParaRPr lang="en-US" sz="1150" dirty="0"/>
          </a:p>
          <a:p>
            <a:pPr marL="0" indent="0">
              <a:lnSpc>
                <a:spcPts val="1500"/>
              </a:lnSpc>
              <a:spcAft>
                <a:spcPts val="800"/>
              </a:spcAft>
              <a:buNone/>
            </a:pPr>
            <a:r>
              <a:rPr lang="en-US" sz="1150" dirty="0">
                <a:solidFill>
                  <a:srgbClr val="3A3A38"/>
                </a:solidFill>
                <a:latin typeface="Calibri" pitchFamily="34" charset="0"/>
                <a:ea typeface="Calibri" pitchFamily="34" charset="-122"/>
                <a:cs typeface="Calibri" pitchFamily="34" charset="-120"/>
              </a:rPr>
              <a:t>Youden, W. J. (1950). Index for rating diagnostic tests. Cancer, 3(1), 32-35.</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4199</Words>
  <Application>Microsoft Macintosh PowerPoint</Application>
  <PresentationFormat>Panorámica</PresentationFormat>
  <Paragraphs>607</Paragraphs>
  <Slides>37</Slides>
  <Notes>37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37</vt:i4>
      </vt:variant>
    </vt:vector>
  </HeadingPairs>
  <TitlesOfParts>
    <vt:vector size="41"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Prediccion de la Supervivencia de Emprendimientos</dc:title>
  <dc:subject>Proyecto Final - Machine Learning</dc:subject>
  <dc:creator>Taco Aviles Milton Hiroshi</dc:creator>
  <cp:lastModifiedBy>Hiroshi Taco</cp:lastModifiedBy>
  <cp:revision>2</cp:revision>
  <dcterms:created xsi:type="dcterms:W3CDTF">2026-09-13T12:45:03Z</dcterms:created>
  <dcterms:modified xsi:type="dcterms:W3CDTF">2026-09-13T12:56:56Z</dcterms:modified>
</cp:coreProperties>
</file>